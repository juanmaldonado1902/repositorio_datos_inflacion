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91" r:id="rId7"/>
    <p:sldId id="261" r:id="rId8"/>
    <p:sldId id="290" r:id="rId9"/>
    <p:sldId id="262" r:id="rId10"/>
    <p:sldId id="263" r:id="rId11"/>
    <p:sldId id="264" r:id="rId12"/>
    <p:sldId id="265" r:id="rId13"/>
    <p:sldId id="266" r:id="rId14"/>
    <p:sldId id="267" r:id="rId15"/>
    <p:sldId id="268" r:id="rId16"/>
    <p:sldId id="270" r:id="rId17"/>
    <p:sldId id="269" r:id="rId18"/>
    <p:sldId id="271" r:id="rId19"/>
    <p:sldId id="272" r:id="rId20"/>
    <p:sldId id="273" r:id="rId21"/>
    <p:sldId id="274" r:id="rId22"/>
    <p:sldId id="275" r:id="rId23"/>
    <p:sldId id="276" r:id="rId24"/>
    <p:sldId id="278" r:id="rId26"/>
    <p:sldId id="279" r:id="rId27"/>
    <p:sldId id="280" r:id="rId28"/>
    <p:sldId id="281" r:id="rId29"/>
    <p:sldId id="282" r:id="rId30"/>
    <p:sldId id="283" r:id="rId31"/>
    <p:sldId id="284" r:id="rId32"/>
    <p:sldId id="285" r:id="rId33"/>
    <p:sldId id="286" r:id="rId34"/>
    <p:sldId id="288" r:id="rId35"/>
    <p:sldId id="289"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2"/>
    <p:restoredTop sz="94610"/>
  </p:normalViewPr>
  <p:slideViewPr>
    <p:cSldViewPr snapToGrid="0" snapToObjects="1">
      <p:cViewPr varScale="1">
        <p:scale>
          <a:sx n="137" d="100"/>
          <a:sy n="137" d="100"/>
        </p:scale>
        <p:origin x="184" y="47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204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conceptos base. El índice de precios es genérico aquí — el índice específico (INPC) se introduce en slides posteriores.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Énfasis en el impacto regresivo y el impuesto inflacionario. Preguntar a los estudiantes: ¿quién gana y quién pierde con la inflación?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678268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F5A"/>
        </a:solidFill>
        <a:effectLst/>
      </p:bgPr>
    </p:bg>
    <p:spTree>
      <p:nvGrpSpPr>
        <p:cNvPr id="1" name=""/>
        <p:cNvGrpSpPr/>
        <p:nvPr/>
      </p:nvGrpSpPr>
      <p:grpSpPr>
        <a:xfrm>
          <a:off x="0" y="0"/>
          <a:ext cx="0" cy="0"/>
          <a:chOff x="0" y="0"/>
          <a:chExt cx="0" cy="0"/>
        </a:xfrm>
      </p:grpSpPr>
      <p:sp>
        <p:nvSpPr>
          <p:cNvPr id="2" name="Shape 0"/>
          <p:cNvSpPr/>
          <p:nvPr/>
        </p:nvSpPr>
        <p:spPr>
          <a:xfrm>
            <a:off x="5577840" y="365760"/>
            <a:ext cx="3291840" cy="4480560"/>
          </a:xfrm>
          <a:prstGeom prst="roundRect">
            <a:avLst>
              <a:gd name="adj" fmla="val 4167"/>
            </a:avLst>
          </a:prstGeom>
          <a:solidFill>
            <a:srgbClr val="0B7A75">
              <a:alpha val="80000"/>
            </a:srgbClr>
          </a:solidFill>
          <a:ln/>
        </p:spPr>
      </p:sp>
      <p:pic>
        <p:nvPicPr>
          <p:cNvPr id="3" name="Image 0" descr="preencoded.png"/>
          <p:cNvPicPr>
            <a:picLocks noChangeAspect="1"/>
          </p:cNvPicPr>
          <p:nvPr/>
        </p:nvPicPr>
        <p:blipFill>
          <a:blip r:embed="rId3"/>
          <a:stretch>
            <a:fillRect/>
          </a:stretch>
        </p:blipFill>
        <p:spPr>
          <a:xfrm>
            <a:off x="6172200" y="777240"/>
            <a:ext cx="2011680" cy="2011680"/>
          </a:xfrm>
          <a:prstGeom prst="rect">
            <a:avLst/>
          </a:prstGeom>
        </p:spPr>
      </p:pic>
      <p:sp>
        <p:nvSpPr>
          <p:cNvPr id="4" name="Text 1"/>
          <p:cNvSpPr/>
          <p:nvPr/>
        </p:nvSpPr>
        <p:spPr>
          <a:xfrm>
            <a:off x="457200" y="1005840"/>
            <a:ext cx="4937760" cy="132588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Inflación en México</a:t>
            </a:r>
            <a:endParaRPr lang="en-US" sz="4200" dirty="0"/>
          </a:p>
        </p:txBody>
      </p:sp>
      <p:sp>
        <p:nvSpPr>
          <p:cNvPr id="5" name="Text 2"/>
          <p:cNvSpPr/>
          <p:nvPr/>
        </p:nvSpPr>
        <p:spPr>
          <a:xfrm>
            <a:off x="457200" y="2395728"/>
            <a:ext cx="4937760" cy="914400"/>
          </a:xfrm>
          <a:prstGeom prst="rect">
            <a:avLst/>
          </a:prstGeom>
          <a:noFill/>
          <a:ln/>
        </p:spPr>
        <p:txBody>
          <a:bodyPr wrap="square" rtlCol="0" anchor="ctr"/>
          <a:lstStyle/>
          <a:p>
            <a:pPr marL="0" indent="0">
              <a:buNone/>
            </a:pPr>
            <a:r>
              <a:rPr lang="en-US" sz="1500" dirty="0">
                <a:solidFill>
                  <a:srgbClr val="A8BFDB"/>
                </a:solidFill>
                <a:latin typeface="Calibri" pitchFamily="34" charset="0"/>
                <a:ea typeface="Calibri" pitchFamily="34" charset="-122"/>
                <a:cs typeface="Calibri" pitchFamily="34" charset="-120"/>
              </a:rPr>
              <a:t>Metodología del INPC, medición,</a:t>
            </a:r>
            <a:endParaRPr lang="en-US" sz="1500" dirty="0"/>
          </a:p>
          <a:p>
            <a:pPr marL="0" indent="0">
              <a:buNone/>
            </a:pPr>
            <a:r>
              <a:rPr lang="en-US" sz="1500" dirty="0">
                <a:solidFill>
                  <a:srgbClr val="A8BFDB"/>
                </a:solidFill>
                <a:latin typeface="Calibri" pitchFamily="34" charset="0"/>
                <a:ea typeface="Calibri" pitchFamily="34" charset="-122"/>
                <a:cs typeface="Calibri" pitchFamily="34" charset="-120"/>
              </a:rPr>
              <a:t>componentes y variantes</a:t>
            </a:r>
            <a:endParaRPr lang="en-US" sz="1500" dirty="0"/>
          </a:p>
        </p:txBody>
      </p:sp>
      <p:sp>
        <p:nvSpPr>
          <p:cNvPr id="6" name="Text 3"/>
          <p:cNvSpPr/>
          <p:nvPr/>
        </p:nvSpPr>
        <p:spPr>
          <a:xfrm>
            <a:off x="457200" y="4736592"/>
            <a:ext cx="8229600" cy="256032"/>
          </a:xfrm>
          <a:prstGeom prst="rect">
            <a:avLst/>
          </a:prstGeom>
          <a:noFill/>
          <a:ln/>
        </p:spPr>
        <p:txBody>
          <a:bodyPr wrap="square" rtlCol="0" anchor="ctr"/>
          <a:lstStyle/>
          <a:p>
            <a:pPr marL="0" indent="0">
              <a:buNone/>
            </a:pPr>
            <a:r>
              <a:rPr lang="en-US" sz="900" i="1" dirty="0">
                <a:solidFill>
                  <a:srgbClr val="7A9ABD"/>
                </a:solidFill>
              </a:rPr>
              <a:t>Fuentes: INEGI · Banxico · Mateos &amp; Gaytán (1998) · Manual ILO/IMF/OCDE 2020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¿Qué es la Inflación?</a:t>
            </a:r>
            <a:endParaRPr lang="en-US" sz="2200" dirty="0"/>
          </a:p>
        </p:txBody>
      </p:sp>
      <p:sp>
        <p:nvSpPr>
          <p:cNvPr id="4" name="Shape 2"/>
          <p:cNvSpPr/>
          <p:nvPr/>
        </p:nvSpPr>
        <p:spPr>
          <a:xfrm>
            <a:off x="320040" y="960120"/>
            <a:ext cx="8503920" cy="1170432"/>
          </a:xfrm>
          <a:prstGeom prst="roundRect">
            <a:avLst>
              <a:gd name="adj" fmla="val 9375"/>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5" name="Text 3"/>
          <p:cNvSpPr/>
          <p:nvPr/>
        </p:nvSpPr>
        <p:spPr>
          <a:xfrm>
            <a:off x="475488" y="1005840"/>
            <a:ext cx="8229600" cy="594360"/>
          </a:xfrm>
          <a:prstGeom prst="rect">
            <a:avLst/>
          </a:prstGeom>
          <a:noFill/>
          <a:ln/>
        </p:spPr>
        <p:txBody>
          <a:bodyPr wrap="square" rtlCol="0" anchor="t"/>
          <a:lstStyle/>
          <a:p>
            <a:pPr marL="0" indent="0">
              <a:buNone/>
            </a:pPr>
            <a:r>
              <a:rPr lang="en-US" sz="1200" b="1" dirty="0">
                <a:solidFill>
                  <a:srgbClr val="1A2F5A"/>
                </a:solidFill>
                <a:latin typeface="Calibri" pitchFamily="34" charset="0"/>
                <a:ea typeface="Calibri" pitchFamily="34" charset="-122"/>
                <a:cs typeface="Calibri" pitchFamily="34" charset="-120"/>
              </a:rPr>
              <a:t>Definición </a:t>
            </a:r>
            <a:r>
              <a:rPr lang="en-US" sz="1200" i="1" dirty="0">
                <a:solidFill>
                  <a:srgbClr val="0B7A75"/>
                </a:solidFill>
                <a:latin typeface="Calibri" pitchFamily="34" charset="0"/>
                <a:ea typeface="Calibri" pitchFamily="34" charset="-122"/>
                <a:cs typeface="Calibri" pitchFamily="34" charset="-120"/>
              </a:rPr>
              <a:t>(Banxico Educa): </a:t>
            </a:r>
            <a:r>
              <a:rPr lang="en-US" sz="1200" dirty="0">
                <a:solidFill>
                  <a:srgbClr val="1E293B"/>
                </a:solidFill>
                <a:latin typeface="Calibri" pitchFamily="34" charset="0"/>
                <a:ea typeface="Calibri" pitchFamily="34" charset="-122"/>
                <a:cs typeface="Calibri" pitchFamily="34" charset="-120"/>
              </a:rPr>
              <a:t>La inflación es el aumento sostenido y generalizado en el nivel de precios de bienes y servicios de una economía a lo largo del tiempo, que reduce el poder de compra de la moneda.</a:t>
            </a:r>
            <a:endParaRPr lang="en-US" sz="1200" dirty="0"/>
          </a:p>
        </p:txBody>
      </p:sp>
      <p:sp>
        <p:nvSpPr>
          <p:cNvPr id="6" name="Text 4"/>
          <p:cNvSpPr/>
          <p:nvPr/>
        </p:nvSpPr>
        <p:spPr>
          <a:xfrm>
            <a:off x="475488" y="1572768"/>
            <a:ext cx="8229600" cy="475488"/>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La inflación solo se produce cuando los precios suben de manera generalizada, no cuando sube el precio de un bien específico.</a:t>
            </a:r>
            <a:endParaRPr lang="en-US" sz="1100" dirty="0"/>
          </a:p>
        </p:txBody>
      </p:sp>
      <p:sp>
        <p:nvSpPr>
          <p:cNvPr id="7" name="Shape 5"/>
          <p:cNvSpPr/>
          <p:nvPr/>
        </p:nvSpPr>
        <p:spPr>
          <a:xfrm>
            <a:off x="320040" y="2240280"/>
            <a:ext cx="5074920" cy="1536192"/>
          </a:xfrm>
          <a:prstGeom prst="roundRect">
            <a:avLst>
              <a:gd name="adj" fmla="val 7143"/>
            </a:avLst>
          </a:prstGeom>
          <a:solidFill>
            <a:srgbClr val="F1F5F9"/>
          </a:solidFill>
          <a:ln/>
          <a:effectLst>
            <a:outerShdw blurRad="50800" dist="25400" dir="2700000" algn="bl" rotWithShape="0">
              <a:srgbClr val="000000">
                <a:alpha val="10000"/>
              </a:srgbClr>
            </a:outerShdw>
          </a:effectLst>
        </p:spPr>
        <p:txBody>
          <a:bodyPr/>
          <a:lstStyle/>
          <a:p>
            <a:endParaRPr/>
          </a:p>
        </p:txBody>
      </p:sp>
      <p:sp>
        <p:nvSpPr>
          <p:cNvPr id="8" name="Text 6"/>
          <p:cNvSpPr/>
          <p:nvPr/>
        </p:nvSpPr>
        <p:spPr>
          <a:xfrm>
            <a:off x="475488" y="2304288"/>
            <a:ext cx="4828032" cy="320040"/>
          </a:xfrm>
          <a:prstGeom prst="rect">
            <a:avLst/>
          </a:prstGeom>
          <a:noFill/>
          <a:ln/>
        </p:spPr>
        <p:txBody>
          <a:bodyPr wrap="square" rtlCol="0" anchor="ctr"/>
          <a:lstStyle/>
          <a:p>
            <a:pPr marL="0" indent="0">
              <a:buNone/>
            </a:pPr>
            <a:r>
              <a:rPr lang="en-US" sz="1300" b="1" dirty="0">
                <a:solidFill>
                  <a:srgbClr val="1A2F5A"/>
                </a:solidFill>
                <a:latin typeface="Cambria" pitchFamily="34" charset="0"/>
                <a:ea typeface="Cambria" pitchFamily="34" charset="-122"/>
                <a:cs typeface="Cambria" pitchFamily="34" charset="-120"/>
              </a:rPr>
              <a:t>¿Qué es un Índice de Precios?</a:t>
            </a:r>
            <a:endParaRPr lang="en-US" sz="1300" dirty="0"/>
          </a:p>
        </p:txBody>
      </p:sp>
      <p:sp>
        <p:nvSpPr>
          <p:cNvPr id="9" name="Text 7"/>
          <p:cNvSpPr/>
          <p:nvPr/>
        </p:nvSpPr>
        <p:spPr>
          <a:xfrm>
            <a:off x="475488" y="2651760"/>
            <a:ext cx="4828032" cy="91440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Medida estadística que expresa el cambio relativo en el nivel de precios de una canasta de bienes y servicios entre dos periodos. Su valor en el periodo base es 100; los valores posteriores reflejan la variación porcentual respecto a esa referencia.</a:t>
            </a:r>
            <a:endParaRPr lang="en-US" sz="1050" dirty="0"/>
          </a:p>
        </p:txBody>
      </p:sp>
      <p:sp>
        <p:nvSpPr>
          <p:cNvPr id="10" name="Shape 8"/>
          <p:cNvSpPr/>
          <p:nvPr/>
        </p:nvSpPr>
        <p:spPr>
          <a:xfrm>
            <a:off x="5577840" y="3145536"/>
            <a:ext cx="3291840" cy="630936"/>
          </a:xfrm>
          <a:prstGeom prst="roundRect">
            <a:avLst>
              <a:gd name="adj" fmla="val 7143"/>
            </a:avLst>
          </a:prstGeom>
          <a:solidFill>
            <a:srgbClr val="1A2F5A"/>
          </a:solidFill>
          <a:ln/>
          <a:effectLst>
            <a:outerShdw blurRad="50800" dist="25400" dir="2700000" algn="bl" rotWithShape="0">
              <a:srgbClr val="000000">
                <a:alpha val="10000"/>
              </a:srgbClr>
            </a:outerShdw>
          </a:effectLst>
        </p:spPr>
        <p:txBody>
          <a:bodyPr/>
          <a:lstStyle/>
          <a:p>
            <a:endParaRPr/>
          </a:p>
        </p:txBody>
      </p:sp>
      <p:sp>
        <p:nvSpPr>
          <p:cNvPr id="11" name="Text 9"/>
          <p:cNvSpPr/>
          <p:nvPr/>
        </p:nvSpPr>
        <p:spPr>
          <a:xfrm>
            <a:off x="5687568" y="2304288"/>
            <a:ext cx="3090672" cy="274320"/>
          </a:xfrm>
          <a:prstGeom prst="rect">
            <a:avLst/>
          </a:prstGeom>
          <a:noFill/>
          <a:ln/>
        </p:spPr>
        <p:txBody>
          <a:bodyPr wrap="square" rtlCol="0" anchor="ctr"/>
          <a:lstStyle/>
          <a:p>
            <a:pPr marL="0" indent="0">
              <a:buNone/>
            </a:pPr>
            <a:r>
              <a:rPr lang="en-US" sz="1100" b="1" dirty="0">
                <a:solidFill>
                  <a:srgbClr val="12B5AF"/>
                </a:solidFill>
              </a:rPr>
              <a:t>Fórmula general:</a:t>
            </a:r>
            <a:endParaRPr lang="en-US" sz="1100" dirty="0"/>
          </a:p>
        </p:txBody>
      </p:sp>
      <p:sp>
        <p:nvSpPr>
          <p:cNvPr id="13" name="Text 11"/>
          <p:cNvSpPr/>
          <p:nvPr/>
        </p:nvSpPr>
        <p:spPr>
          <a:xfrm>
            <a:off x="5687568" y="2633472"/>
            <a:ext cx="3090672" cy="457200"/>
          </a:xfrm>
          <a:prstGeom prst="rect">
            <a:avLst/>
          </a:prstGeom>
          <a:noFill/>
          <a:ln/>
        </p:spPr>
        <p:txBody>
          <a:bodyPr wrap="square" rtlCol="0" anchor="ctr"/>
          <a:lstStyle/>
          <a:p>
            <a:pPr marL="0" indent="0" algn="ctr">
              <a:buNone/>
            </a:pPr>
            <a:endParaRPr lang="en-US" sz="1200" dirty="0"/>
          </a:p>
        </p:txBody>
      </p:sp>
      <p:sp>
        <p:nvSpPr>
          <p:cNvPr id="14" name="Text 12"/>
          <p:cNvSpPr/>
          <p:nvPr/>
        </p:nvSpPr>
        <p:spPr>
          <a:xfrm>
            <a:off x="5687568" y="3200400"/>
            <a:ext cx="3090672" cy="475488"/>
          </a:xfrm>
          <a:prstGeom prst="rect">
            <a:avLst/>
          </a:prstGeom>
          <a:noFill/>
          <a:ln/>
        </p:spPr>
        <p:txBody>
          <a:bodyPr wrap="square" rtlCol="0" anchor="t"/>
          <a:lstStyle/>
          <a:p>
            <a:pPr marL="0" indent="0">
              <a:buNone/>
            </a:pPr>
            <a:r>
              <a:rPr lang="en-US" sz="900" b="1" dirty="0">
                <a:solidFill>
                  <a:srgbClr val="F59E0B"/>
                </a:solidFill>
              </a:rPr>
              <a:t>π</a:t>
            </a:r>
            <a:r>
              <a:rPr lang="en-US" sz="900" dirty="0">
                <a:solidFill>
                  <a:srgbClr val="A8BFDB"/>
                </a:solidFill>
              </a:rPr>
              <a:t> = tasa de inflación    </a:t>
            </a:r>
            <a:r>
              <a:rPr lang="en-US" sz="900" b="1" dirty="0">
                <a:solidFill>
                  <a:srgbClr val="F59E0B"/>
                </a:solidFill>
              </a:rPr>
              <a:t>IP_t</a:t>
            </a:r>
            <a:r>
              <a:rPr lang="en-US" sz="900" dirty="0">
                <a:solidFill>
                  <a:srgbClr val="A8BFDB"/>
                </a:solidFill>
              </a:rPr>
              <a:t> = índice en t    </a:t>
            </a:r>
            <a:r>
              <a:rPr lang="en-US" sz="900" b="1" dirty="0">
                <a:solidFill>
                  <a:srgbClr val="F59E0B"/>
                </a:solidFill>
              </a:rPr>
              <a:t>IP_{t-1}</a:t>
            </a:r>
            <a:r>
              <a:rPr lang="en-US" sz="900" dirty="0">
                <a:solidFill>
                  <a:srgbClr val="A8BFDB"/>
                </a:solidFill>
              </a:rPr>
              <a:t> = índice anterior</a:t>
            </a:r>
            <a:endParaRPr lang="en-US" sz="900" dirty="0"/>
          </a:p>
        </p:txBody>
      </p:sp>
      <p:sp>
        <p:nvSpPr>
          <p:cNvPr id="15" name="Shape 13"/>
          <p:cNvSpPr/>
          <p:nvPr/>
        </p:nvSpPr>
        <p:spPr>
          <a:xfrm>
            <a:off x="320040" y="3858768"/>
            <a:ext cx="8503920" cy="978408"/>
          </a:xfrm>
          <a:prstGeom prst="roundRect">
            <a:avLst>
              <a:gd name="adj" fmla="val 11215"/>
            </a:avLst>
          </a:prstGeom>
          <a:solidFill>
            <a:srgbClr val="E0F7F5"/>
          </a:solidFill>
          <a:ln/>
          <a:effectLst>
            <a:outerShdw blurRad="50800" dist="25400" dir="2700000" algn="bl" rotWithShape="0">
              <a:srgbClr val="000000">
                <a:alpha val="10000"/>
              </a:srgbClr>
            </a:outerShdw>
          </a:effectLst>
        </p:spPr>
      </p:sp>
      <p:sp>
        <p:nvSpPr>
          <p:cNvPr id="16" name="Text 14"/>
          <p:cNvSpPr/>
          <p:nvPr/>
        </p:nvSpPr>
        <p:spPr>
          <a:xfrm>
            <a:off x="475488" y="3913632"/>
            <a:ext cx="8229600" cy="274320"/>
          </a:xfrm>
          <a:prstGeom prst="rect">
            <a:avLst/>
          </a:prstGeom>
          <a:noFill/>
          <a:ln/>
        </p:spPr>
        <p:txBody>
          <a:bodyPr wrap="square" rtlCol="0" anchor="ctr"/>
          <a:lstStyle/>
          <a:p>
            <a:pPr marL="0" indent="0">
              <a:buNone/>
            </a:pPr>
            <a:r>
              <a:rPr lang="en-US" sz="1200" b="1" dirty="0">
                <a:solidFill>
                  <a:srgbClr val="0B7A75"/>
                </a:solidFill>
              </a:rPr>
              <a:t>¿Qué mide exactamente un índice de precios?</a:t>
            </a:r>
            <a:endParaRPr lang="en-US" sz="1200" dirty="0"/>
          </a:p>
        </p:txBody>
      </p:sp>
      <p:sp>
        <p:nvSpPr>
          <p:cNvPr id="17" name="Text 15"/>
          <p:cNvSpPr/>
          <p:nvPr/>
        </p:nvSpPr>
        <p:spPr>
          <a:xfrm>
            <a:off x="475488" y="4206240"/>
            <a:ext cx="8229600" cy="54864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Compara el costo de una canasta representativa de bienes y servicios en el periodo actual frente al periodo de referencia (base = 100). No mide el nivel de precios en términos absolutos, sino su variación relativa.</a:t>
            </a:r>
            <a:endParaRPr lang="en-US" sz="1050" dirty="0"/>
          </a:p>
        </p:txBody>
      </p:sp>
      <p:pic>
        <p:nvPicPr>
          <p:cNvPr id="18" name="Picture 17" descr="v2_general.png"/>
          <p:cNvPicPr>
            <a:picLocks noChangeAspect="1"/>
          </p:cNvPicPr>
          <p:nvPr/>
        </p:nvPicPr>
        <p:blipFill>
          <a:blip r:embed="rId3"/>
          <a:stretch>
            <a:fillRect/>
          </a:stretch>
        </p:blipFill>
        <p:spPr>
          <a:xfrm>
            <a:off x="5951404" y="2606040"/>
            <a:ext cx="2563001" cy="5120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¿Por qué importa la Inflación?</a:t>
            </a:r>
            <a:endParaRPr lang="en-US" sz="2200" dirty="0"/>
          </a:p>
        </p:txBody>
      </p:sp>
      <p:sp>
        <p:nvSpPr>
          <p:cNvPr id="4" name="Shape 2"/>
          <p:cNvSpPr/>
          <p:nvPr/>
        </p:nvSpPr>
        <p:spPr>
          <a:xfrm>
            <a:off x="274320" y="914400"/>
            <a:ext cx="4261104" cy="1298448"/>
          </a:xfrm>
          <a:prstGeom prst="roundRect">
            <a:avLst>
              <a:gd name="adj" fmla="val 8451"/>
            </a:avLst>
          </a:prstGeom>
          <a:solidFill>
            <a:srgbClr val="EEF2FF"/>
          </a:solidFill>
          <a:ln/>
          <a:effectLst>
            <a:outerShdw blurRad="50800" dist="25400" dir="2700000" algn="bl" rotWithShape="0">
              <a:srgbClr val="000000">
                <a:alpha val="10000"/>
              </a:srgbClr>
            </a:outerShdw>
          </a:effectLst>
        </p:spPr>
      </p:sp>
      <p:sp>
        <p:nvSpPr>
          <p:cNvPr id="5" name="Text 3"/>
          <p:cNvSpPr/>
          <p:nvPr/>
        </p:nvSpPr>
        <p:spPr>
          <a:xfrm>
            <a:off x="411480" y="978408"/>
            <a:ext cx="4005072" cy="274320"/>
          </a:xfrm>
          <a:prstGeom prst="rect">
            <a:avLst/>
          </a:prstGeom>
          <a:noFill/>
          <a:ln/>
        </p:spPr>
        <p:txBody>
          <a:bodyPr wrap="square" rtlCol="0" anchor="ctr"/>
          <a:lstStyle/>
          <a:p>
            <a:pPr marL="0" indent="0">
              <a:buNone/>
            </a:pPr>
            <a:r>
              <a:rPr lang="en-US" sz="1200" b="1" dirty="0">
                <a:solidFill>
                  <a:srgbClr val="1A2F5A"/>
                </a:solidFill>
                <a:latin typeface="Cambria" pitchFamily="34" charset="0"/>
                <a:ea typeface="Cambria" pitchFamily="34" charset="-122"/>
                <a:cs typeface="Cambria" pitchFamily="34" charset="-120"/>
              </a:rPr>
              <a:t>Impuesto inflacionario</a:t>
            </a:r>
            <a:endParaRPr lang="en-US" sz="1200" dirty="0"/>
          </a:p>
        </p:txBody>
      </p:sp>
      <p:sp>
        <p:nvSpPr>
          <p:cNvPr id="6" name="Text 4"/>
          <p:cNvSpPr/>
          <p:nvPr/>
        </p:nvSpPr>
        <p:spPr>
          <a:xfrm>
            <a:off x="411480" y="1280160"/>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Al erosionar el valor del dinero, la inflación actúa como un impuesto implícito sobre el efectivo y los ahorros. A diferencia de los impuestos formales, nadie lo vota ni legisla: simplemente reduce silenciosamente el poder de compra de quien guarda dinero.</a:t>
            </a:r>
            <a:endParaRPr lang="en-US" sz="950" dirty="0"/>
          </a:p>
        </p:txBody>
      </p:sp>
      <p:sp>
        <p:nvSpPr>
          <p:cNvPr id="7" name="Shape 5"/>
          <p:cNvSpPr/>
          <p:nvPr/>
        </p:nvSpPr>
        <p:spPr>
          <a:xfrm>
            <a:off x="4736592" y="914400"/>
            <a:ext cx="4261104" cy="1298448"/>
          </a:xfrm>
          <a:prstGeom prst="roundRect">
            <a:avLst>
              <a:gd name="adj" fmla="val 8451"/>
            </a:avLst>
          </a:prstGeom>
          <a:solidFill>
            <a:srgbClr val="E0F7F5"/>
          </a:solidFill>
          <a:ln/>
          <a:effectLst>
            <a:outerShdw blurRad="50800" dist="25400" dir="2700000" algn="bl" rotWithShape="0">
              <a:srgbClr val="000000">
                <a:alpha val="10000"/>
              </a:srgbClr>
            </a:outerShdw>
          </a:effectLst>
        </p:spPr>
      </p:sp>
      <p:sp>
        <p:nvSpPr>
          <p:cNvPr id="8" name="Text 6"/>
          <p:cNvSpPr/>
          <p:nvPr/>
        </p:nvSpPr>
        <p:spPr>
          <a:xfrm>
            <a:off x="4873752" y="978408"/>
            <a:ext cx="4005072" cy="274320"/>
          </a:xfrm>
          <a:prstGeom prst="rect">
            <a:avLst/>
          </a:prstGeom>
          <a:noFill/>
          <a:ln/>
        </p:spPr>
        <p:txBody>
          <a:bodyPr wrap="square" rtlCol="0" anchor="ctr"/>
          <a:lstStyle/>
          <a:p>
            <a:pPr marL="0" indent="0">
              <a:buNone/>
            </a:pPr>
            <a:r>
              <a:rPr lang="en-US" sz="1200" b="1" dirty="0">
                <a:solidFill>
                  <a:srgbClr val="0B7A75"/>
                </a:solidFill>
                <a:latin typeface="Cambria" pitchFamily="34" charset="0"/>
                <a:ea typeface="Cambria" pitchFamily="34" charset="-122"/>
                <a:cs typeface="Cambria" pitchFamily="34" charset="-120"/>
              </a:rPr>
              <a:t>Poder adquisitivo</a:t>
            </a:r>
            <a:endParaRPr lang="en-US" sz="1200" dirty="0"/>
          </a:p>
        </p:txBody>
      </p:sp>
      <p:sp>
        <p:nvSpPr>
          <p:cNvPr id="9" name="Text 7"/>
          <p:cNvSpPr/>
          <p:nvPr/>
        </p:nvSpPr>
        <p:spPr>
          <a:xfrm>
            <a:off x="4873752" y="1280160"/>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Con el mismo salario nominal, el hogar puede comprar menos bienes y servicios. La inflación recorta el salario real sin modificar su cifra nominal. Esto es especialmente grave cuando los salarios no se ajustan al ritmo de la inflación.</a:t>
            </a:r>
            <a:endParaRPr lang="en-US" sz="950" dirty="0"/>
          </a:p>
        </p:txBody>
      </p:sp>
      <p:sp>
        <p:nvSpPr>
          <p:cNvPr id="10" name="Shape 8"/>
          <p:cNvSpPr/>
          <p:nvPr/>
        </p:nvSpPr>
        <p:spPr>
          <a:xfrm>
            <a:off x="274320" y="2304288"/>
            <a:ext cx="4261104" cy="1298448"/>
          </a:xfrm>
          <a:prstGeom prst="roundRect">
            <a:avLst>
              <a:gd name="adj" fmla="val 8451"/>
            </a:avLst>
          </a:prstGeom>
          <a:solidFill>
            <a:srgbClr val="FFF1F2"/>
          </a:solidFill>
          <a:ln/>
          <a:effectLst>
            <a:outerShdw blurRad="50800" dist="25400" dir="2700000" algn="bl" rotWithShape="0">
              <a:srgbClr val="000000">
                <a:alpha val="10000"/>
              </a:srgbClr>
            </a:outerShdw>
          </a:effectLst>
        </p:spPr>
      </p:sp>
      <p:sp>
        <p:nvSpPr>
          <p:cNvPr id="11" name="Text 9"/>
          <p:cNvSpPr/>
          <p:nvPr/>
        </p:nvSpPr>
        <p:spPr>
          <a:xfrm>
            <a:off x="411480" y="2368296"/>
            <a:ext cx="4005072" cy="274320"/>
          </a:xfrm>
          <a:prstGeom prst="rect">
            <a:avLst/>
          </a:prstGeom>
          <a:noFill/>
          <a:ln/>
        </p:spPr>
        <p:txBody>
          <a:bodyPr wrap="square" rtlCol="0" anchor="ctr"/>
          <a:lstStyle/>
          <a:p>
            <a:pPr marL="0" indent="0">
              <a:buNone/>
            </a:pPr>
            <a:r>
              <a:rPr lang="en-US" sz="1200" b="1" dirty="0">
                <a:solidFill>
                  <a:srgbClr val="E11D48"/>
                </a:solidFill>
                <a:latin typeface="Cambria" pitchFamily="34" charset="0"/>
                <a:ea typeface="Cambria" pitchFamily="34" charset="-122"/>
                <a:cs typeface="Cambria" pitchFamily="34" charset="-120"/>
              </a:rPr>
              <a:t>Impacto regresivo sobre ingresos bajos</a:t>
            </a:r>
            <a:endParaRPr lang="en-US" sz="1200" dirty="0"/>
          </a:p>
        </p:txBody>
      </p:sp>
      <p:sp>
        <p:nvSpPr>
          <p:cNvPr id="12" name="Text 10"/>
          <p:cNvSpPr/>
          <p:nvPr/>
        </p:nvSpPr>
        <p:spPr>
          <a:xfrm>
            <a:off x="411480" y="2670048"/>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hogares de menores ingresos destinan una mayor proporción de su gasto a alimentos y bienes básicos, cuyos precios tienden a subir más en episodios inflacionarios. Por ello, la inflación amplia la desigualdad económica.</a:t>
            </a:r>
            <a:endParaRPr lang="en-US" sz="950" dirty="0"/>
          </a:p>
        </p:txBody>
      </p:sp>
      <p:sp>
        <p:nvSpPr>
          <p:cNvPr id="13" name="Shape 11"/>
          <p:cNvSpPr/>
          <p:nvPr/>
        </p:nvSpPr>
        <p:spPr>
          <a:xfrm>
            <a:off x="4736592" y="2304288"/>
            <a:ext cx="4261104" cy="1298448"/>
          </a:xfrm>
          <a:prstGeom prst="roundRect">
            <a:avLst>
              <a:gd name="adj" fmla="val 8451"/>
            </a:avLst>
          </a:prstGeom>
          <a:solidFill>
            <a:srgbClr val="F5F3FF"/>
          </a:solidFill>
          <a:ln/>
          <a:effectLst>
            <a:outerShdw blurRad="50800" dist="25400" dir="2700000" algn="bl" rotWithShape="0">
              <a:srgbClr val="000000">
                <a:alpha val="10000"/>
              </a:srgbClr>
            </a:outerShdw>
          </a:effectLst>
        </p:spPr>
      </p:sp>
      <p:sp>
        <p:nvSpPr>
          <p:cNvPr id="14" name="Text 12"/>
          <p:cNvSpPr/>
          <p:nvPr/>
        </p:nvSpPr>
        <p:spPr>
          <a:xfrm>
            <a:off x="4873752" y="2368296"/>
            <a:ext cx="4005072" cy="274320"/>
          </a:xfrm>
          <a:prstGeom prst="rect">
            <a:avLst/>
          </a:prstGeom>
          <a:noFill/>
          <a:ln/>
        </p:spPr>
        <p:txBody>
          <a:bodyPr wrap="square" rtlCol="0" anchor="ctr"/>
          <a:lstStyle/>
          <a:p>
            <a:pPr marL="0" indent="0">
              <a:buNone/>
            </a:pPr>
            <a:r>
              <a:rPr lang="en-US" sz="1200" b="1" dirty="0">
                <a:solidFill>
                  <a:srgbClr val="7C3AED"/>
                </a:solidFill>
                <a:latin typeface="Cambria" pitchFamily="34" charset="0"/>
                <a:ea typeface="Cambria" pitchFamily="34" charset="-122"/>
                <a:cs typeface="Cambria" pitchFamily="34" charset="-120"/>
              </a:rPr>
              <a:t>Distorsión de señales de precio</a:t>
            </a:r>
            <a:endParaRPr lang="en-US" sz="1200" dirty="0"/>
          </a:p>
        </p:txBody>
      </p:sp>
      <p:sp>
        <p:nvSpPr>
          <p:cNvPr id="15" name="Text 13"/>
          <p:cNvSpPr/>
          <p:nvPr/>
        </p:nvSpPr>
        <p:spPr>
          <a:xfrm>
            <a:off x="4873752" y="2670048"/>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En una economía con alta inflación, los agentes no pueden distinguir si un precio sube por mayor demanda de ese bien o por inflación general. Esto dificulta la toma de decisiones de inversión y consumo, reduciendo la eficiencia económica.</a:t>
            </a:r>
            <a:endParaRPr lang="en-US" sz="950" dirty="0"/>
          </a:p>
        </p:txBody>
      </p:sp>
      <p:sp>
        <p:nvSpPr>
          <p:cNvPr id="16" name="Shape 14"/>
          <p:cNvSpPr/>
          <p:nvPr/>
        </p:nvSpPr>
        <p:spPr>
          <a:xfrm>
            <a:off x="274320" y="3694176"/>
            <a:ext cx="4261104" cy="1298448"/>
          </a:xfrm>
          <a:prstGeom prst="roundRect">
            <a:avLst>
              <a:gd name="adj" fmla="val 8451"/>
            </a:avLst>
          </a:prstGeom>
          <a:solidFill>
            <a:srgbClr val="FFFBEB"/>
          </a:solidFill>
          <a:ln/>
          <a:effectLst>
            <a:outerShdw blurRad="50800" dist="25400" dir="2700000" algn="bl" rotWithShape="0">
              <a:srgbClr val="000000">
                <a:alpha val="10000"/>
              </a:srgbClr>
            </a:outerShdw>
          </a:effectLst>
        </p:spPr>
      </p:sp>
      <p:sp>
        <p:nvSpPr>
          <p:cNvPr id="17" name="Text 15"/>
          <p:cNvSpPr/>
          <p:nvPr/>
        </p:nvSpPr>
        <p:spPr>
          <a:xfrm>
            <a:off x="411480" y="3758184"/>
            <a:ext cx="4005072" cy="274320"/>
          </a:xfrm>
          <a:prstGeom prst="rect">
            <a:avLst/>
          </a:prstGeom>
          <a:noFill/>
          <a:ln/>
        </p:spPr>
        <p:txBody>
          <a:bodyPr wrap="square" rtlCol="0" anchor="ctr"/>
          <a:lstStyle/>
          <a:p>
            <a:pPr marL="0" indent="0">
              <a:buNone/>
            </a:pPr>
            <a:r>
              <a:rPr lang="en-US" sz="1200" b="1" dirty="0">
                <a:solidFill>
                  <a:srgbClr val="D97706"/>
                </a:solidFill>
                <a:latin typeface="Cambria" pitchFamily="34" charset="0"/>
                <a:ea typeface="Cambria" pitchFamily="34" charset="-122"/>
                <a:cs typeface="Cambria" pitchFamily="34" charset="-120"/>
              </a:rPr>
              <a:t>Guía de política monetaria</a:t>
            </a:r>
            <a:endParaRPr lang="en-US" sz="1200" dirty="0"/>
          </a:p>
        </p:txBody>
      </p:sp>
      <p:sp>
        <p:nvSpPr>
          <p:cNvPr id="18" name="Text 16"/>
          <p:cNvSpPr/>
          <p:nvPr/>
        </p:nvSpPr>
        <p:spPr>
          <a:xfrm>
            <a:off x="411480" y="4059936"/>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bancos centrales fijan tasas de interés para controlar la inflación. Una inflación desanclada destruye las señales de precio y erosiona la credibilidad institucional. Por ello, la meta de inflación es el ancla principal de la política del Banco de México.</a:t>
            </a:r>
            <a:endParaRPr lang="en-US" sz="950" dirty="0"/>
          </a:p>
        </p:txBody>
      </p:sp>
      <p:sp>
        <p:nvSpPr>
          <p:cNvPr id="19" name="Shape 17"/>
          <p:cNvSpPr/>
          <p:nvPr/>
        </p:nvSpPr>
        <p:spPr>
          <a:xfrm>
            <a:off x="4736592" y="3694176"/>
            <a:ext cx="4261104" cy="1298448"/>
          </a:xfrm>
          <a:prstGeom prst="roundRect">
            <a:avLst>
              <a:gd name="adj" fmla="val 8451"/>
            </a:avLst>
          </a:prstGeom>
          <a:solidFill>
            <a:srgbClr val="F0FDF4"/>
          </a:solidFill>
          <a:ln/>
          <a:effectLst>
            <a:outerShdw blurRad="50800" dist="25400" dir="2700000" algn="bl" rotWithShape="0">
              <a:srgbClr val="000000">
                <a:alpha val="10000"/>
              </a:srgbClr>
            </a:outerShdw>
          </a:effectLst>
        </p:spPr>
      </p:sp>
      <p:sp>
        <p:nvSpPr>
          <p:cNvPr id="20" name="Text 18"/>
          <p:cNvSpPr/>
          <p:nvPr/>
        </p:nvSpPr>
        <p:spPr>
          <a:xfrm>
            <a:off x="4873752" y="3758184"/>
            <a:ext cx="4005072" cy="274320"/>
          </a:xfrm>
          <a:prstGeom prst="rect">
            <a:avLst/>
          </a:prstGeom>
          <a:noFill/>
          <a:ln/>
        </p:spPr>
        <p:txBody>
          <a:bodyPr wrap="square" rtlCol="0" anchor="ctr"/>
          <a:lstStyle/>
          <a:p>
            <a:pPr marL="0" indent="0">
              <a:buNone/>
            </a:pPr>
            <a:r>
              <a:rPr lang="en-US" sz="1200" b="1" dirty="0">
                <a:solidFill>
                  <a:srgbClr val="16A34A"/>
                </a:solidFill>
                <a:latin typeface="Cambria" pitchFamily="34" charset="0"/>
                <a:ea typeface="Cambria" pitchFamily="34" charset="-122"/>
                <a:cs typeface="Cambria" pitchFamily="34" charset="-120"/>
              </a:rPr>
              <a:t>Redistribución entre deudores y acreedores</a:t>
            </a:r>
            <a:endParaRPr lang="en-US" sz="1200" dirty="0"/>
          </a:p>
        </p:txBody>
      </p:sp>
      <p:sp>
        <p:nvSpPr>
          <p:cNvPr id="21" name="Text 19"/>
          <p:cNvSpPr/>
          <p:nvPr/>
        </p:nvSpPr>
        <p:spPr>
          <a:xfrm>
            <a:off x="4873752" y="4059936"/>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La inflación no anticipada beneficia a los deudores a tasa fija (sus deudas valen menos en términos reales) y perjudica a los acreedores. Pero la inflación esperada se incorpora a tasas nominales más altas (efecto Fisher): la redistribución solo opera mientras la inflación sorprenda.</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Tipos de Inflación por Horizonte Temporal</a:t>
            </a:r>
            <a:endParaRPr lang="en-US" sz="2200" dirty="0"/>
          </a:p>
        </p:txBody>
      </p:sp>
      <p:sp>
        <p:nvSpPr>
          <p:cNvPr id="4" name="Shape 2"/>
          <p:cNvSpPr/>
          <p:nvPr/>
        </p:nvSpPr>
        <p:spPr>
          <a:xfrm>
            <a:off x="274320" y="914400"/>
            <a:ext cx="4261104" cy="1993392"/>
          </a:xfrm>
          <a:prstGeom prst="roundRect">
            <a:avLst>
              <a:gd name="adj" fmla="val 5505"/>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5" name="Text 3"/>
          <p:cNvSpPr/>
          <p:nvPr/>
        </p:nvSpPr>
        <p:spPr>
          <a:xfrm>
            <a:off x="411480" y="987552"/>
            <a:ext cx="4005072" cy="274320"/>
          </a:xfrm>
          <a:prstGeom prst="rect">
            <a:avLst/>
          </a:prstGeom>
          <a:noFill/>
          <a:ln/>
        </p:spPr>
        <p:txBody>
          <a:bodyPr wrap="square" rtlCol="0" anchor="ctr"/>
          <a:lstStyle/>
          <a:p>
            <a:pPr marL="0" indent="0">
              <a:buNone/>
            </a:pPr>
            <a:r>
              <a:rPr lang="en-US" sz="1300" b="1" dirty="0">
                <a:solidFill>
                  <a:srgbClr val="1A2F5A"/>
                </a:solidFill>
                <a:latin typeface="Cambria" pitchFamily="34" charset="0"/>
                <a:ea typeface="Cambria" pitchFamily="34" charset="-122"/>
                <a:cs typeface="Cambria" pitchFamily="34" charset="-120"/>
              </a:rPr>
              <a:t>Quincenal</a:t>
            </a:r>
            <a:endParaRPr lang="en-US" sz="1300" dirty="0"/>
          </a:p>
        </p:txBody>
      </p:sp>
      <p:sp>
        <p:nvSpPr>
          <p:cNvPr id="7" name="Text 5"/>
          <p:cNvSpPr/>
          <p:nvPr/>
        </p:nvSpPr>
        <p:spPr>
          <a:xfrm>
            <a:off x="384048" y="1316736"/>
            <a:ext cx="4041648" cy="384048"/>
          </a:xfrm>
          <a:prstGeom prst="rect">
            <a:avLst/>
          </a:prstGeom>
          <a:noFill/>
          <a:ln/>
        </p:spPr>
        <p:txBody>
          <a:bodyPr wrap="square" lIns="0" tIns="0" rIns="0" bIns="0" rtlCol="0" anchor="ctr"/>
          <a:lstStyle/>
          <a:p>
            <a:pPr marL="0" indent="0" algn="ctr">
              <a:buNone/>
            </a:pPr>
            <a:endParaRPr lang="en-US" sz="1200" dirty="0"/>
          </a:p>
        </p:txBody>
      </p:sp>
      <p:sp>
        <p:nvSpPr>
          <p:cNvPr id="8" name="Text 6"/>
          <p:cNvSpPr/>
          <p:nvPr/>
        </p:nvSpPr>
        <p:spPr>
          <a:xfrm>
            <a:off x="411480" y="1764792"/>
            <a:ext cx="4005072" cy="384048"/>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Compara el índice de la quincena q con el de la quincena inmediata anterior, q − 1.</a:t>
            </a:r>
            <a:endParaRPr lang="en-US" sz="950" dirty="0"/>
          </a:p>
        </p:txBody>
      </p:sp>
      <p:sp>
        <p:nvSpPr>
          <p:cNvPr id="9" name="Text 7"/>
          <p:cNvSpPr/>
          <p:nvPr/>
        </p:nvSpPr>
        <p:spPr>
          <a:xfrm>
            <a:off x="411480" y="2167128"/>
            <a:ext cx="4005072" cy="658368"/>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Detecta choques puntuales de muy corto plazo. En México el INPC se publica quincenalmente los días 10 y 25 del mes.</a:t>
            </a:r>
            <a:endParaRPr lang="en-US" sz="950" dirty="0"/>
          </a:p>
        </p:txBody>
      </p:sp>
      <p:sp>
        <p:nvSpPr>
          <p:cNvPr id="10" name="Shape 8"/>
          <p:cNvSpPr/>
          <p:nvPr/>
        </p:nvSpPr>
        <p:spPr>
          <a:xfrm>
            <a:off x="4736592" y="914400"/>
            <a:ext cx="4261104" cy="1993392"/>
          </a:xfrm>
          <a:prstGeom prst="roundRect">
            <a:avLst>
              <a:gd name="adj" fmla="val 5505"/>
            </a:avLst>
          </a:prstGeom>
          <a:solidFill>
            <a:srgbClr val="E0F7F5"/>
          </a:solidFill>
          <a:ln/>
          <a:effectLst>
            <a:outerShdw blurRad="50800" dist="25400" dir="2700000" algn="bl" rotWithShape="0">
              <a:srgbClr val="000000">
                <a:alpha val="10000"/>
              </a:srgbClr>
            </a:outerShdw>
          </a:effectLst>
        </p:spPr>
        <p:txBody>
          <a:bodyPr/>
          <a:lstStyle/>
          <a:p>
            <a:endParaRPr/>
          </a:p>
        </p:txBody>
      </p:sp>
      <p:sp>
        <p:nvSpPr>
          <p:cNvPr id="11" name="Text 9"/>
          <p:cNvSpPr/>
          <p:nvPr/>
        </p:nvSpPr>
        <p:spPr>
          <a:xfrm>
            <a:off x="4873752" y="987552"/>
            <a:ext cx="4005072" cy="274320"/>
          </a:xfrm>
          <a:prstGeom prst="rect">
            <a:avLst/>
          </a:prstGeom>
          <a:noFill/>
          <a:ln/>
        </p:spPr>
        <p:txBody>
          <a:bodyPr wrap="square" rtlCol="0" anchor="ctr"/>
          <a:lstStyle/>
          <a:p>
            <a:pPr marL="0" indent="0">
              <a:buNone/>
            </a:pPr>
            <a:r>
              <a:rPr lang="en-US" sz="1300" b="1" dirty="0">
                <a:solidFill>
                  <a:srgbClr val="0B7A75"/>
                </a:solidFill>
                <a:latin typeface="Cambria" pitchFamily="34" charset="0"/>
                <a:ea typeface="Cambria" pitchFamily="34" charset="-122"/>
                <a:cs typeface="Cambria" pitchFamily="34" charset="-120"/>
              </a:rPr>
              <a:t>Mensual</a:t>
            </a:r>
            <a:endParaRPr lang="en-US" sz="1300" dirty="0"/>
          </a:p>
        </p:txBody>
      </p:sp>
      <p:sp>
        <p:nvSpPr>
          <p:cNvPr id="13" name="Text 11"/>
          <p:cNvSpPr/>
          <p:nvPr/>
        </p:nvSpPr>
        <p:spPr>
          <a:xfrm>
            <a:off x="4846320" y="1316736"/>
            <a:ext cx="4041648" cy="384048"/>
          </a:xfrm>
          <a:prstGeom prst="rect">
            <a:avLst/>
          </a:prstGeom>
          <a:noFill/>
          <a:ln/>
        </p:spPr>
        <p:txBody>
          <a:bodyPr wrap="square" lIns="0" tIns="0" rIns="0" bIns="0" rtlCol="0" anchor="ctr"/>
          <a:lstStyle/>
          <a:p>
            <a:pPr marL="0" indent="0" algn="ctr">
              <a:buNone/>
            </a:pPr>
            <a:endParaRPr lang="en-US" sz="1200" dirty="0"/>
          </a:p>
        </p:txBody>
      </p:sp>
      <p:sp>
        <p:nvSpPr>
          <p:cNvPr id="14" name="Text 12"/>
          <p:cNvSpPr/>
          <p:nvPr/>
        </p:nvSpPr>
        <p:spPr>
          <a:xfrm>
            <a:off x="4873752" y="1764792"/>
            <a:ext cx="4005072" cy="384048"/>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Compara el índice del mes m con el del mes inmediatamente anterior, m − 1.</a:t>
            </a:r>
            <a:endParaRPr lang="en-US" sz="950" dirty="0"/>
          </a:p>
        </p:txBody>
      </p:sp>
      <p:sp>
        <p:nvSpPr>
          <p:cNvPr id="15" name="Text 13"/>
          <p:cNvSpPr/>
          <p:nvPr/>
        </p:nvSpPr>
        <p:spPr>
          <a:xfrm>
            <a:off x="4873752" y="2167128"/>
            <a:ext cx="4005072" cy="658368"/>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Medida de flujo estándar. Permite comparaciones rápidas entre meses y detectar tendencias de corto plazo.</a:t>
            </a:r>
            <a:endParaRPr lang="en-US" sz="950" dirty="0"/>
          </a:p>
        </p:txBody>
      </p:sp>
      <p:sp>
        <p:nvSpPr>
          <p:cNvPr id="16" name="Shape 14"/>
          <p:cNvSpPr/>
          <p:nvPr/>
        </p:nvSpPr>
        <p:spPr>
          <a:xfrm>
            <a:off x="274320" y="2999232"/>
            <a:ext cx="4261104" cy="1993392"/>
          </a:xfrm>
          <a:prstGeom prst="roundRect">
            <a:avLst>
              <a:gd name="adj" fmla="val 5505"/>
            </a:avLst>
          </a:prstGeom>
          <a:solidFill>
            <a:srgbClr val="F5F3FF"/>
          </a:solidFill>
          <a:ln/>
          <a:effectLst>
            <a:outerShdw blurRad="50800" dist="25400" dir="2700000" algn="bl" rotWithShape="0">
              <a:srgbClr val="000000">
                <a:alpha val="10000"/>
              </a:srgbClr>
            </a:outerShdw>
          </a:effectLst>
        </p:spPr>
        <p:txBody>
          <a:bodyPr/>
          <a:lstStyle/>
          <a:p>
            <a:endParaRPr/>
          </a:p>
        </p:txBody>
      </p:sp>
      <p:sp>
        <p:nvSpPr>
          <p:cNvPr id="17" name="Text 15"/>
          <p:cNvSpPr/>
          <p:nvPr/>
        </p:nvSpPr>
        <p:spPr>
          <a:xfrm>
            <a:off x="411480" y="3072384"/>
            <a:ext cx="4005072" cy="274320"/>
          </a:xfrm>
          <a:prstGeom prst="rect">
            <a:avLst/>
          </a:prstGeom>
          <a:noFill/>
          <a:ln/>
        </p:spPr>
        <p:txBody>
          <a:bodyPr wrap="square" rtlCol="0" anchor="ctr"/>
          <a:lstStyle/>
          <a:p>
            <a:pPr marL="0" indent="0">
              <a:buNone/>
            </a:pPr>
            <a:r>
              <a:rPr lang="en-US" sz="1300" b="1" dirty="0">
                <a:solidFill>
                  <a:srgbClr val="7C3AED"/>
                </a:solidFill>
                <a:latin typeface="Cambria" pitchFamily="34" charset="0"/>
                <a:ea typeface="Cambria" pitchFamily="34" charset="-122"/>
                <a:cs typeface="Cambria" pitchFamily="34" charset="-120"/>
              </a:rPr>
              <a:t>Interanual (anual)</a:t>
            </a:r>
            <a:endParaRPr lang="en-US" sz="1300" dirty="0"/>
          </a:p>
        </p:txBody>
      </p:sp>
      <p:sp>
        <p:nvSpPr>
          <p:cNvPr id="19" name="Text 17"/>
          <p:cNvSpPr/>
          <p:nvPr/>
        </p:nvSpPr>
        <p:spPr>
          <a:xfrm>
            <a:off x="384048" y="3401568"/>
            <a:ext cx="4041648" cy="384048"/>
          </a:xfrm>
          <a:prstGeom prst="rect">
            <a:avLst/>
          </a:prstGeom>
          <a:noFill/>
          <a:ln/>
        </p:spPr>
        <p:txBody>
          <a:bodyPr wrap="square" lIns="0" tIns="0" rIns="0" bIns="0" rtlCol="0" anchor="ctr"/>
          <a:lstStyle/>
          <a:p>
            <a:pPr marL="0" indent="0" algn="ctr">
              <a:buNone/>
            </a:pPr>
            <a:endParaRPr lang="en-US" sz="1200" dirty="0"/>
          </a:p>
        </p:txBody>
      </p:sp>
      <p:sp>
        <p:nvSpPr>
          <p:cNvPr id="20" name="Text 18"/>
          <p:cNvSpPr/>
          <p:nvPr/>
        </p:nvSpPr>
        <p:spPr>
          <a:xfrm>
            <a:off x="411480" y="3849624"/>
            <a:ext cx="4005072" cy="384048"/>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Compara el nivel de precios del periodo actual con el mismo periodo del año anterior.</a:t>
            </a:r>
            <a:endParaRPr lang="en-US" sz="950" dirty="0"/>
          </a:p>
        </p:txBody>
      </p:sp>
      <p:sp>
        <p:nvSpPr>
          <p:cNvPr id="21" name="Text 19"/>
          <p:cNvSpPr/>
          <p:nvPr/>
        </p:nvSpPr>
        <p:spPr>
          <a:xfrm>
            <a:off x="411480" y="4251960"/>
            <a:ext cx="4005072" cy="658368"/>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La más usada por bancos centrales y medios. Elimina estacionalidad. Es la referencia de la meta de Banxico (3% ±1pp).</a:t>
            </a:r>
            <a:endParaRPr lang="en-US" sz="950" dirty="0"/>
          </a:p>
        </p:txBody>
      </p:sp>
      <p:sp>
        <p:nvSpPr>
          <p:cNvPr id="22" name="Shape 20"/>
          <p:cNvSpPr/>
          <p:nvPr/>
        </p:nvSpPr>
        <p:spPr>
          <a:xfrm>
            <a:off x="4736592" y="2999232"/>
            <a:ext cx="4261104" cy="1993392"/>
          </a:xfrm>
          <a:prstGeom prst="roundRect">
            <a:avLst>
              <a:gd name="adj" fmla="val 5505"/>
            </a:avLst>
          </a:prstGeom>
          <a:solidFill>
            <a:srgbClr val="FFFBEB"/>
          </a:solidFill>
          <a:ln/>
          <a:effectLst>
            <a:outerShdw blurRad="50800" dist="25400" dir="2700000" algn="bl" rotWithShape="0">
              <a:srgbClr val="000000">
                <a:alpha val="10000"/>
              </a:srgbClr>
            </a:outerShdw>
          </a:effectLst>
        </p:spPr>
        <p:txBody>
          <a:bodyPr/>
          <a:lstStyle/>
          <a:p>
            <a:endParaRPr/>
          </a:p>
        </p:txBody>
      </p:sp>
      <p:sp>
        <p:nvSpPr>
          <p:cNvPr id="23" name="Text 21"/>
          <p:cNvSpPr/>
          <p:nvPr/>
        </p:nvSpPr>
        <p:spPr>
          <a:xfrm>
            <a:off x="4873752" y="3072384"/>
            <a:ext cx="4005072" cy="274320"/>
          </a:xfrm>
          <a:prstGeom prst="rect">
            <a:avLst/>
          </a:prstGeom>
          <a:noFill/>
          <a:ln/>
        </p:spPr>
        <p:txBody>
          <a:bodyPr wrap="square" rtlCol="0" anchor="ctr"/>
          <a:lstStyle/>
          <a:p>
            <a:pPr marL="0" indent="0">
              <a:buNone/>
            </a:pPr>
            <a:r>
              <a:rPr lang="en-US" sz="1300" b="1" dirty="0">
                <a:solidFill>
                  <a:srgbClr val="D97706"/>
                </a:solidFill>
                <a:latin typeface="Cambria" pitchFamily="34" charset="0"/>
                <a:ea typeface="Cambria" pitchFamily="34" charset="-122"/>
                <a:cs typeface="Cambria" pitchFamily="34" charset="-120"/>
              </a:rPr>
              <a:t>Acumulada</a:t>
            </a:r>
            <a:endParaRPr lang="en-US" sz="1300" dirty="0"/>
          </a:p>
        </p:txBody>
      </p:sp>
      <p:sp>
        <p:nvSpPr>
          <p:cNvPr id="25" name="Text 23"/>
          <p:cNvSpPr/>
          <p:nvPr/>
        </p:nvSpPr>
        <p:spPr>
          <a:xfrm>
            <a:off x="4846320" y="3401568"/>
            <a:ext cx="4041648" cy="384048"/>
          </a:xfrm>
          <a:prstGeom prst="rect">
            <a:avLst/>
          </a:prstGeom>
          <a:noFill/>
          <a:ln/>
        </p:spPr>
        <p:txBody>
          <a:bodyPr wrap="square" lIns="0" tIns="0" rIns="0" bIns="0" rtlCol="0" anchor="ctr"/>
          <a:lstStyle/>
          <a:p>
            <a:pPr marL="0" indent="0" algn="ctr">
              <a:buNone/>
            </a:pPr>
            <a:endParaRPr lang="en-US" sz="1200" dirty="0"/>
          </a:p>
        </p:txBody>
      </p:sp>
      <p:sp>
        <p:nvSpPr>
          <p:cNvPr id="26" name="Text 24"/>
          <p:cNvSpPr/>
          <p:nvPr/>
        </p:nvSpPr>
        <p:spPr>
          <a:xfrm>
            <a:off x="4873752" y="3849624"/>
            <a:ext cx="4005072" cy="384048"/>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Compara el nivel de precios actual con un periodo de inicio seleccionado (inicio de año, de gobierno, etc.).</a:t>
            </a:r>
            <a:endParaRPr lang="en-US" sz="950" dirty="0"/>
          </a:p>
        </p:txBody>
      </p:sp>
      <p:sp>
        <p:nvSpPr>
          <p:cNvPr id="27" name="Text 25"/>
          <p:cNvSpPr/>
          <p:nvPr/>
        </p:nvSpPr>
        <p:spPr>
          <a:xfrm>
            <a:off x="4873752" y="4251960"/>
            <a:ext cx="4005072" cy="658368"/>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Evalúa pérdida de poder adquisitivo en un lapso específico. Muy usada en negociaciones salariales y contratos.</a:t>
            </a:r>
            <a:endParaRPr lang="en-US" sz="950" dirty="0"/>
          </a:p>
        </p:txBody>
      </p:sp>
      <p:pic>
        <p:nvPicPr>
          <p:cNvPr id="30" name="Picture 29" descr="v4_a.png"/>
          <p:cNvPicPr>
            <a:picLocks noChangeAspect="1"/>
          </p:cNvPicPr>
          <p:nvPr/>
        </p:nvPicPr>
        <p:blipFill>
          <a:blip r:embed="rId3"/>
          <a:stretch>
            <a:fillRect/>
          </a:stretch>
        </p:blipFill>
        <p:spPr>
          <a:xfrm>
            <a:off x="1534996" y="3383280"/>
            <a:ext cx="1739754" cy="420624"/>
          </a:xfrm>
          <a:prstGeom prst="rect">
            <a:avLst/>
          </a:prstGeom>
        </p:spPr>
      </p:pic>
      <p:pic>
        <p:nvPicPr>
          <p:cNvPr id="31" name="Picture 30" descr="v4_ac.png"/>
          <p:cNvPicPr>
            <a:picLocks noChangeAspect="1"/>
          </p:cNvPicPr>
          <p:nvPr/>
        </p:nvPicPr>
        <p:blipFill>
          <a:blip r:embed="rId4"/>
          <a:stretch>
            <a:fillRect/>
          </a:stretch>
        </p:blipFill>
        <p:spPr>
          <a:xfrm>
            <a:off x="6007839" y="3383280"/>
            <a:ext cx="1718610" cy="420624"/>
          </a:xfrm>
          <a:prstGeom prst="rect">
            <a:avLst/>
          </a:prstGeom>
        </p:spPr>
      </p:pic>
      <p:pic>
        <p:nvPicPr>
          <p:cNvPr id="32" name="Picture 31" descr="f4_q.png"/>
          <p:cNvPicPr>
            <a:picLocks noChangeAspect="1"/>
          </p:cNvPicPr>
          <p:nvPr/>
        </p:nvPicPr>
        <p:blipFill>
          <a:blip r:embed="rId5"/>
          <a:stretch>
            <a:fillRect/>
          </a:stretch>
        </p:blipFill>
        <p:spPr>
          <a:xfrm>
            <a:off x="1625600" y="1298448"/>
            <a:ext cx="1558544" cy="420624"/>
          </a:xfrm>
          <a:prstGeom prst="rect">
            <a:avLst/>
          </a:prstGeom>
        </p:spPr>
      </p:pic>
      <p:pic>
        <p:nvPicPr>
          <p:cNvPr id="33" name="Picture 32" descr="f4_m.png"/>
          <p:cNvPicPr>
            <a:picLocks noChangeAspect="1"/>
          </p:cNvPicPr>
          <p:nvPr/>
        </p:nvPicPr>
        <p:blipFill>
          <a:blip r:embed="rId6"/>
          <a:stretch>
            <a:fillRect/>
          </a:stretch>
        </p:blipFill>
        <p:spPr>
          <a:xfrm>
            <a:off x="5961791" y="1298448"/>
            <a:ext cx="1810708" cy="4206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Tipos de Inflación por Cobertura de Bienes — I</a:t>
            </a:r>
            <a:endParaRPr lang="en-US" sz="2200" dirty="0"/>
          </a:p>
        </p:txBody>
      </p:sp>
      <p:sp>
        <p:nvSpPr>
          <p:cNvPr id="4" name="Shape 2"/>
          <p:cNvSpPr/>
          <p:nvPr/>
        </p:nvSpPr>
        <p:spPr>
          <a:xfrm>
            <a:off x="292608" y="932688"/>
            <a:ext cx="8558784" cy="1298448"/>
          </a:xfrm>
          <a:prstGeom prst="roundRect">
            <a:avLst>
              <a:gd name="adj" fmla="val 8451"/>
            </a:avLst>
          </a:prstGeom>
          <a:solidFill>
            <a:srgbClr val="EEF2FF"/>
          </a:solidFill>
          <a:ln/>
          <a:effectLst>
            <a:outerShdw blurRad="50800" dist="25400" dir="2700000" algn="bl" rotWithShape="0">
              <a:srgbClr val="000000">
                <a:alpha val="10000"/>
              </a:srgbClr>
            </a:outerShdw>
          </a:effectLst>
        </p:spPr>
      </p:sp>
      <p:sp>
        <p:nvSpPr>
          <p:cNvPr id="5" name="Text 3"/>
          <p:cNvSpPr/>
          <p:nvPr/>
        </p:nvSpPr>
        <p:spPr>
          <a:xfrm>
            <a:off x="438912" y="987552"/>
            <a:ext cx="8229600" cy="274320"/>
          </a:xfrm>
          <a:prstGeom prst="rect">
            <a:avLst/>
          </a:prstGeom>
          <a:noFill/>
          <a:ln/>
        </p:spPr>
        <p:txBody>
          <a:bodyPr wrap="square" rtlCol="0" anchor="ctr"/>
          <a:lstStyle/>
          <a:p>
            <a:pPr marL="0" indent="0">
              <a:buNone/>
            </a:pPr>
            <a:r>
              <a:rPr lang="en-US" sz="1300" b="1" dirty="0">
                <a:solidFill>
                  <a:srgbClr val="1A2F5A"/>
                </a:solidFill>
                <a:latin typeface="Cambria" pitchFamily="34" charset="0"/>
                <a:ea typeface="Cambria" pitchFamily="34" charset="-122"/>
                <a:cs typeface="Cambria" pitchFamily="34" charset="-120"/>
              </a:rPr>
              <a:t>Inflación General</a:t>
            </a:r>
            <a:endParaRPr lang="en-US" sz="1300" dirty="0"/>
          </a:p>
        </p:txBody>
      </p:sp>
      <p:sp>
        <p:nvSpPr>
          <p:cNvPr id="6" name="Text 4"/>
          <p:cNvSpPr/>
          <p:nvPr/>
        </p:nvSpPr>
        <p:spPr>
          <a:xfrm>
            <a:off x="438912" y="1298448"/>
            <a:ext cx="2697480" cy="201168"/>
          </a:xfrm>
          <a:prstGeom prst="rect">
            <a:avLst/>
          </a:prstGeom>
          <a:noFill/>
          <a:ln/>
        </p:spPr>
        <p:txBody>
          <a:bodyPr wrap="square" rtlCol="0" anchor="ctr"/>
          <a:lstStyle/>
          <a:p>
            <a:pPr marL="0" indent="0">
              <a:buNone/>
            </a:pPr>
            <a:r>
              <a:rPr lang="en-US" sz="900" b="1" dirty="0">
                <a:solidFill>
                  <a:srgbClr val="1A2F5A"/>
                </a:solidFill>
              </a:rPr>
              <a:t>Qué mide:</a:t>
            </a:r>
            <a:endParaRPr lang="en-US" sz="900" dirty="0"/>
          </a:p>
        </p:txBody>
      </p:sp>
      <p:sp>
        <p:nvSpPr>
          <p:cNvPr id="7" name="Text 5"/>
          <p:cNvSpPr/>
          <p:nvPr/>
        </p:nvSpPr>
        <p:spPr>
          <a:xfrm>
            <a:off x="438912" y="1499616"/>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Mide el cambio en el nivel de precios de TODOS los bienes y servicios de la canasta, sin exclusión alguna.</a:t>
            </a:r>
            <a:endParaRPr lang="en-US" sz="950" dirty="0"/>
          </a:p>
        </p:txBody>
      </p:sp>
      <p:sp>
        <p:nvSpPr>
          <p:cNvPr id="8" name="Text 6"/>
          <p:cNvSpPr/>
          <p:nvPr/>
        </p:nvSpPr>
        <p:spPr>
          <a:xfrm>
            <a:off x="3291840" y="1298448"/>
            <a:ext cx="2697480" cy="201168"/>
          </a:xfrm>
          <a:prstGeom prst="rect">
            <a:avLst/>
          </a:prstGeom>
          <a:noFill/>
          <a:ln/>
        </p:spPr>
        <p:txBody>
          <a:bodyPr wrap="square" rtlCol="0" anchor="ctr"/>
          <a:lstStyle/>
          <a:p>
            <a:pPr marL="0" indent="0">
              <a:buNone/>
            </a:pPr>
            <a:r>
              <a:rPr lang="en-US" sz="900" b="1" dirty="0">
                <a:solidFill>
                  <a:srgbClr val="1A2F5A"/>
                </a:solidFill>
              </a:rPr>
              <a:t>Para qué sirve:</a:t>
            </a:r>
            <a:endParaRPr lang="en-US" sz="900" dirty="0"/>
          </a:p>
        </p:txBody>
      </p:sp>
      <p:sp>
        <p:nvSpPr>
          <p:cNvPr id="9" name="Text 7"/>
          <p:cNvSpPr/>
          <p:nvPr/>
        </p:nvSpPr>
        <p:spPr>
          <a:xfrm>
            <a:off x="3291840" y="1499616"/>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Es el indicador titular que se reporta en medios y que el público conoce como 'la inflación'.</a:t>
            </a:r>
            <a:endParaRPr lang="en-US" sz="950" dirty="0"/>
          </a:p>
        </p:txBody>
      </p:sp>
      <p:sp>
        <p:nvSpPr>
          <p:cNvPr id="10" name="Text 8"/>
          <p:cNvSpPr/>
          <p:nvPr/>
        </p:nvSpPr>
        <p:spPr>
          <a:xfrm>
            <a:off x="6144768" y="1298448"/>
            <a:ext cx="2697480" cy="201168"/>
          </a:xfrm>
          <a:prstGeom prst="rect">
            <a:avLst/>
          </a:prstGeom>
          <a:noFill/>
          <a:ln/>
        </p:spPr>
        <p:txBody>
          <a:bodyPr wrap="square" rtlCol="0" anchor="ctr"/>
          <a:lstStyle/>
          <a:p>
            <a:pPr marL="0" indent="0">
              <a:buNone/>
            </a:pPr>
            <a:r>
              <a:rPr lang="en-US" sz="900" b="1" dirty="0">
                <a:solidFill>
                  <a:srgbClr val="1A2F5A"/>
                </a:solidFill>
              </a:rPr>
              <a:t>Problema / límite:</a:t>
            </a:r>
            <a:endParaRPr lang="en-US" sz="900" dirty="0"/>
          </a:p>
        </p:txBody>
      </p:sp>
      <p:sp>
        <p:nvSpPr>
          <p:cNvPr id="11" name="Text 9"/>
          <p:cNvSpPr/>
          <p:nvPr/>
        </p:nvSpPr>
        <p:spPr>
          <a:xfrm>
            <a:off x="6144768" y="1499616"/>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Incluye precios volátiles (energía, alimentos frescos) y precios administrados, que pueden distorsionar la señal de fondo.</a:t>
            </a:r>
            <a:endParaRPr lang="en-US" sz="950" dirty="0"/>
          </a:p>
        </p:txBody>
      </p:sp>
      <p:sp>
        <p:nvSpPr>
          <p:cNvPr id="12" name="Shape 10"/>
          <p:cNvSpPr/>
          <p:nvPr/>
        </p:nvSpPr>
        <p:spPr>
          <a:xfrm>
            <a:off x="292608" y="2322576"/>
            <a:ext cx="8558784" cy="1298448"/>
          </a:xfrm>
          <a:prstGeom prst="roundRect">
            <a:avLst>
              <a:gd name="adj" fmla="val 8451"/>
            </a:avLst>
          </a:prstGeom>
          <a:solidFill>
            <a:srgbClr val="E0F7F5"/>
          </a:solidFill>
          <a:ln/>
          <a:effectLst>
            <a:outerShdw blurRad="50800" dist="25400" dir="2700000" algn="bl" rotWithShape="0">
              <a:srgbClr val="000000">
                <a:alpha val="10000"/>
              </a:srgbClr>
            </a:outerShdw>
          </a:effectLst>
        </p:spPr>
      </p:sp>
      <p:sp>
        <p:nvSpPr>
          <p:cNvPr id="13" name="Text 11"/>
          <p:cNvSpPr/>
          <p:nvPr/>
        </p:nvSpPr>
        <p:spPr>
          <a:xfrm>
            <a:off x="438912" y="2377440"/>
            <a:ext cx="8229600" cy="274320"/>
          </a:xfrm>
          <a:prstGeom prst="rect">
            <a:avLst/>
          </a:prstGeom>
          <a:noFill/>
          <a:ln/>
        </p:spPr>
        <p:txBody>
          <a:bodyPr wrap="square" rtlCol="0" anchor="ctr"/>
          <a:lstStyle/>
          <a:p>
            <a:pPr marL="0" indent="0">
              <a:buNone/>
            </a:pPr>
            <a:r>
              <a:rPr lang="en-US" sz="1300" b="1" dirty="0">
                <a:solidFill>
                  <a:srgbClr val="0B7A75"/>
                </a:solidFill>
                <a:latin typeface="Cambria" pitchFamily="34" charset="0"/>
                <a:ea typeface="Cambria" pitchFamily="34" charset="-122"/>
                <a:cs typeface="Cambria" pitchFamily="34" charset="-120"/>
              </a:rPr>
              <a:t>Inflación Subyacente</a:t>
            </a:r>
            <a:endParaRPr lang="en-US" sz="1300" dirty="0"/>
          </a:p>
        </p:txBody>
      </p:sp>
      <p:sp>
        <p:nvSpPr>
          <p:cNvPr id="14" name="Text 12"/>
          <p:cNvSpPr/>
          <p:nvPr/>
        </p:nvSpPr>
        <p:spPr>
          <a:xfrm>
            <a:off x="438912" y="2688336"/>
            <a:ext cx="2697480" cy="201168"/>
          </a:xfrm>
          <a:prstGeom prst="rect">
            <a:avLst/>
          </a:prstGeom>
          <a:noFill/>
          <a:ln/>
        </p:spPr>
        <p:txBody>
          <a:bodyPr wrap="square" rtlCol="0" anchor="ctr"/>
          <a:lstStyle/>
          <a:p>
            <a:pPr marL="0" indent="0">
              <a:buNone/>
            </a:pPr>
            <a:r>
              <a:rPr lang="en-US" sz="900" b="1" dirty="0">
                <a:solidFill>
                  <a:srgbClr val="0B7A75"/>
                </a:solidFill>
              </a:rPr>
              <a:t>Qué mide:</a:t>
            </a:r>
            <a:endParaRPr lang="en-US" sz="900" dirty="0"/>
          </a:p>
        </p:txBody>
      </p:sp>
      <p:sp>
        <p:nvSpPr>
          <p:cNvPr id="15" name="Text 13"/>
          <p:cNvSpPr/>
          <p:nvPr/>
        </p:nvSpPr>
        <p:spPr>
          <a:xfrm>
            <a:off x="438912" y="2889504"/>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Excluye los bienes con alta volatilidad o precio regulado: agropecuarios, energéticos y tarifas gubernamentales.</a:t>
            </a:r>
            <a:endParaRPr lang="en-US" sz="950" dirty="0"/>
          </a:p>
        </p:txBody>
      </p:sp>
      <p:sp>
        <p:nvSpPr>
          <p:cNvPr id="16" name="Text 14"/>
          <p:cNvSpPr/>
          <p:nvPr/>
        </p:nvSpPr>
        <p:spPr>
          <a:xfrm>
            <a:off x="3291840" y="2688336"/>
            <a:ext cx="2697480" cy="201168"/>
          </a:xfrm>
          <a:prstGeom prst="rect">
            <a:avLst/>
          </a:prstGeom>
          <a:noFill/>
          <a:ln/>
        </p:spPr>
        <p:txBody>
          <a:bodyPr wrap="square" rtlCol="0" anchor="ctr"/>
          <a:lstStyle/>
          <a:p>
            <a:pPr marL="0" indent="0">
              <a:buNone/>
            </a:pPr>
            <a:r>
              <a:rPr lang="en-US" sz="900" b="1" dirty="0">
                <a:solidFill>
                  <a:srgbClr val="0B7A75"/>
                </a:solidFill>
              </a:rPr>
              <a:t>Para qué sirve:</a:t>
            </a:r>
            <a:endParaRPr lang="en-US" sz="900" dirty="0"/>
          </a:p>
        </p:txBody>
      </p:sp>
      <p:sp>
        <p:nvSpPr>
          <p:cNvPr id="17" name="Text 15"/>
          <p:cNvSpPr/>
          <p:nvPr/>
        </p:nvSpPr>
        <p:spPr>
          <a:xfrm>
            <a:off x="3291840" y="2889504"/>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Mide la tendencia inflacionaria de fondo, susceptible de ser influida por política monetaria. Referencia principal de bancos centrales.</a:t>
            </a:r>
            <a:endParaRPr lang="en-US" sz="950" dirty="0"/>
          </a:p>
        </p:txBody>
      </p:sp>
      <p:sp>
        <p:nvSpPr>
          <p:cNvPr id="18" name="Text 16"/>
          <p:cNvSpPr/>
          <p:nvPr/>
        </p:nvSpPr>
        <p:spPr>
          <a:xfrm>
            <a:off x="6144768" y="2688336"/>
            <a:ext cx="2697480" cy="201168"/>
          </a:xfrm>
          <a:prstGeom prst="rect">
            <a:avLst/>
          </a:prstGeom>
          <a:noFill/>
          <a:ln/>
        </p:spPr>
        <p:txBody>
          <a:bodyPr wrap="square" rtlCol="0" anchor="ctr"/>
          <a:lstStyle/>
          <a:p>
            <a:pPr marL="0" indent="0">
              <a:buNone/>
            </a:pPr>
            <a:r>
              <a:rPr lang="en-US" sz="900" b="1" dirty="0">
                <a:solidFill>
                  <a:srgbClr val="0B7A75"/>
                </a:solidFill>
              </a:rPr>
              <a:t>Problema / límite:</a:t>
            </a:r>
            <a:endParaRPr lang="en-US" sz="900" dirty="0"/>
          </a:p>
        </p:txBody>
      </p:sp>
      <p:sp>
        <p:nvSpPr>
          <p:cNvPr id="19" name="Text 17"/>
          <p:cNvSpPr/>
          <p:nvPr/>
        </p:nvSpPr>
        <p:spPr>
          <a:xfrm>
            <a:off x="6144768" y="2889504"/>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La elección de qué excluir es parcialmente arbitraria. Un bien excluido puede volverse relevante si su alza se vuelve persistente.</a:t>
            </a:r>
            <a:endParaRPr lang="en-US" sz="950" dirty="0"/>
          </a:p>
        </p:txBody>
      </p:sp>
      <p:sp>
        <p:nvSpPr>
          <p:cNvPr id="20" name="Shape 18"/>
          <p:cNvSpPr/>
          <p:nvPr/>
        </p:nvSpPr>
        <p:spPr>
          <a:xfrm>
            <a:off x="292608" y="3712464"/>
            <a:ext cx="8558784" cy="1298448"/>
          </a:xfrm>
          <a:prstGeom prst="roundRect">
            <a:avLst>
              <a:gd name="adj" fmla="val 8451"/>
            </a:avLst>
          </a:prstGeom>
          <a:solidFill>
            <a:srgbClr val="FFF1F2"/>
          </a:solidFill>
          <a:ln/>
          <a:effectLst>
            <a:outerShdw blurRad="50800" dist="25400" dir="2700000" algn="bl" rotWithShape="0">
              <a:srgbClr val="000000">
                <a:alpha val="10000"/>
              </a:srgbClr>
            </a:outerShdw>
          </a:effectLst>
        </p:spPr>
      </p:sp>
      <p:sp>
        <p:nvSpPr>
          <p:cNvPr id="21" name="Text 19"/>
          <p:cNvSpPr/>
          <p:nvPr/>
        </p:nvSpPr>
        <p:spPr>
          <a:xfrm>
            <a:off x="438912" y="3767328"/>
            <a:ext cx="8229600" cy="274320"/>
          </a:xfrm>
          <a:prstGeom prst="rect">
            <a:avLst/>
          </a:prstGeom>
          <a:noFill/>
          <a:ln/>
        </p:spPr>
        <p:txBody>
          <a:bodyPr wrap="square" rtlCol="0" anchor="ctr"/>
          <a:lstStyle/>
          <a:p>
            <a:pPr marL="0" indent="0">
              <a:buNone/>
            </a:pPr>
            <a:r>
              <a:rPr lang="en-US" sz="1300" b="1" dirty="0">
                <a:solidFill>
                  <a:srgbClr val="E11D48"/>
                </a:solidFill>
                <a:latin typeface="Cambria" pitchFamily="34" charset="0"/>
                <a:ea typeface="Cambria" pitchFamily="34" charset="-122"/>
                <a:cs typeface="Cambria" pitchFamily="34" charset="-120"/>
              </a:rPr>
              <a:t>Inflación No Subyacente</a:t>
            </a:r>
            <a:endParaRPr lang="en-US" sz="1300" dirty="0"/>
          </a:p>
        </p:txBody>
      </p:sp>
      <p:sp>
        <p:nvSpPr>
          <p:cNvPr id="22" name="Text 20"/>
          <p:cNvSpPr/>
          <p:nvPr/>
        </p:nvSpPr>
        <p:spPr>
          <a:xfrm>
            <a:off x="438912" y="4078224"/>
            <a:ext cx="2697480" cy="201168"/>
          </a:xfrm>
          <a:prstGeom prst="rect">
            <a:avLst/>
          </a:prstGeom>
          <a:noFill/>
          <a:ln/>
        </p:spPr>
        <p:txBody>
          <a:bodyPr wrap="square" rtlCol="0" anchor="ctr"/>
          <a:lstStyle/>
          <a:p>
            <a:pPr marL="0" indent="0">
              <a:buNone/>
            </a:pPr>
            <a:r>
              <a:rPr lang="en-US" sz="900" b="1" dirty="0">
                <a:solidFill>
                  <a:srgbClr val="E11D48"/>
                </a:solidFill>
              </a:rPr>
              <a:t>Qué mide:</a:t>
            </a:r>
            <a:endParaRPr lang="en-US" sz="900" dirty="0"/>
          </a:p>
        </p:txBody>
      </p:sp>
      <p:sp>
        <p:nvSpPr>
          <p:cNvPr id="23" name="Text 21"/>
          <p:cNvSpPr/>
          <p:nvPr/>
        </p:nvSpPr>
        <p:spPr>
          <a:xfrm>
            <a:off x="438912" y="4279392"/>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Recoge lo que excluye la subyacente: alimentos sin procesar, energéticos y tarifas gubernamentales.</a:t>
            </a:r>
            <a:endParaRPr lang="en-US" sz="950" dirty="0"/>
          </a:p>
        </p:txBody>
      </p:sp>
      <p:sp>
        <p:nvSpPr>
          <p:cNvPr id="24" name="Text 22"/>
          <p:cNvSpPr/>
          <p:nvPr/>
        </p:nvSpPr>
        <p:spPr>
          <a:xfrm>
            <a:off x="3291840" y="4078224"/>
            <a:ext cx="2697480" cy="201168"/>
          </a:xfrm>
          <a:prstGeom prst="rect">
            <a:avLst/>
          </a:prstGeom>
          <a:noFill/>
          <a:ln/>
        </p:spPr>
        <p:txBody>
          <a:bodyPr wrap="square" rtlCol="0" anchor="ctr"/>
          <a:lstStyle/>
          <a:p>
            <a:pPr marL="0" indent="0">
              <a:buNone/>
            </a:pPr>
            <a:r>
              <a:rPr lang="en-US" sz="900" b="1" dirty="0">
                <a:solidFill>
                  <a:srgbClr val="E11D48"/>
                </a:solidFill>
              </a:rPr>
              <a:t>Para qué sirve:</a:t>
            </a:r>
            <a:endParaRPr lang="en-US" sz="900" dirty="0"/>
          </a:p>
        </p:txBody>
      </p:sp>
      <p:sp>
        <p:nvSpPr>
          <p:cNvPr id="25" name="Text 23"/>
          <p:cNvSpPr/>
          <p:nvPr/>
        </p:nvSpPr>
        <p:spPr>
          <a:xfrm>
            <a:off x="3291840" y="4279392"/>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Identifica cuándo la inflación general está siendo impulsada por factores exógenos: sequías, precio del petróleo, aumentos tarifarios.</a:t>
            </a:r>
            <a:endParaRPr lang="en-US" sz="950" dirty="0"/>
          </a:p>
        </p:txBody>
      </p:sp>
      <p:sp>
        <p:nvSpPr>
          <p:cNvPr id="26" name="Text 24"/>
          <p:cNvSpPr/>
          <p:nvPr/>
        </p:nvSpPr>
        <p:spPr>
          <a:xfrm>
            <a:off x="6144768" y="4078224"/>
            <a:ext cx="2697480" cy="201168"/>
          </a:xfrm>
          <a:prstGeom prst="rect">
            <a:avLst/>
          </a:prstGeom>
          <a:noFill/>
          <a:ln/>
        </p:spPr>
        <p:txBody>
          <a:bodyPr wrap="square" rtlCol="0" anchor="ctr"/>
          <a:lstStyle/>
          <a:p>
            <a:pPr marL="0" indent="0">
              <a:buNone/>
            </a:pPr>
            <a:r>
              <a:rPr lang="en-US" sz="900" b="1" dirty="0">
                <a:solidFill>
                  <a:srgbClr val="E11D48"/>
                </a:solidFill>
              </a:rPr>
              <a:t>Problema / límite:</a:t>
            </a:r>
            <a:endParaRPr lang="en-US" sz="900" dirty="0"/>
          </a:p>
        </p:txBody>
      </p:sp>
      <p:sp>
        <p:nvSpPr>
          <p:cNvPr id="27" name="Text 25"/>
          <p:cNvSpPr/>
          <p:nvPr/>
        </p:nvSpPr>
        <p:spPr>
          <a:xfrm>
            <a:off x="6144768" y="4279392"/>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Muy volátil y difícil de controlar con política monetaria. Su inclusión en la general puede generar señales erróneas.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La cobertura vive dentro del INPC</a:t>
            </a:r>
            <a:endParaRPr lang="en-US" sz="2200" dirty="0"/>
          </a:p>
        </p:txBody>
      </p:sp>
      <p:sp>
        <p:nvSpPr>
          <p:cNvPr id="4" name="Text 2"/>
          <p:cNvSpPr/>
          <p:nvPr/>
        </p:nvSpPr>
        <p:spPr>
          <a:xfrm>
            <a:off x="365760" y="914400"/>
            <a:ext cx="8412480" cy="384048"/>
          </a:xfrm>
          <a:prstGeom prst="rect">
            <a:avLst/>
          </a:prstGeom>
          <a:noFill/>
          <a:ln/>
        </p:spPr>
        <p:txBody>
          <a:bodyPr wrap="square" lIns="0" tIns="0" rIns="0" bIns="0" rtlCol="0" anchor="ctr"/>
          <a:lstStyle/>
          <a:p>
            <a:pPr marL="0" indent="0">
              <a:buNone/>
            </a:pPr>
            <a:r>
              <a:rPr lang="en-US" sz="1150" b="1" dirty="0">
                <a:solidFill>
                  <a:srgbClr val="1A2F5A"/>
                </a:solidFill>
                <a:latin typeface="Calibri" pitchFamily="34" charset="0"/>
                <a:ea typeface="Calibri" pitchFamily="34" charset="-122"/>
                <a:cs typeface="Calibri" pitchFamily="34" charset="-120"/>
              </a:rPr>
              <a:t>Las medidas por cobertura no son índices distintos: </a:t>
            </a:r>
            <a:r>
              <a:rPr lang="en-US" sz="1150" dirty="0">
                <a:solidFill>
                  <a:srgbClr val="1E293B"/>
                </a:solidFill>
                <a:latin typeface="Calibri" pitchFamily="34" charset="0"/>
                <a:ea typeface="Calibri" pitchFamily="34" charset="-122"/>
                <a:cs typeface="Calibri" pitchFamily="34" charset="-120"/>
              </a:rPr>
              <a:t>son subconjuntos de la misma canasta del INPC, elegidos según la naturaleza de sus precios.</a:t>
            </a:r>
            <a:endParaRPr lang="en-US" sz="1150" dirty="0"/>
          </a:p>
        </p:txBody>
      </p:sp>
      <p:sp>
        <p:nvSpPr>
          <p:cNvPr id="5" name="Shape 3"/>
          <p:cNvSpPr/>
          <p:nvPr/>
        </p:nvSpPr>
        <p:spPr>
          <a:xfrm>
            <a:off x="365760" y="1426464"/>
            <a:ext cx="5212080" cy="2286000"/>
          </a:xfrm>
          <a:prstGeom prst="roundRect">
            <a:avLst>
              <a:gd name="adj" fmla="val 3200"/>
            </a:avLst>
          </a:prstGeom>
          <a:solidFill>
            <a:srgbClr val="1A2F5A"/>
          </a:solidFill>
          <a:ln/>
        </p:spPr>
      </p:sp>
      <p:sp>
        <p:nvSpPr>
          <p:cNvPr id="6" name="Text 4"/>
          <p:cNvSpPr/>
          <p:nvPr/>
        </p:nvSpPr>
        <p:spPr>
          <a:xfrm>
            <a:off x="548640" y="1517904"/>
            <a:ext cx="4846320" cy="475488"/>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INPC — canasta de 292 genéricos
</a:t>
            </a:r>
            <a:r>
              <a:rPr lang="en-US" sz="900" dirty="0">
                <a:solidFill>
                  <a:srgbClr val="D1E8FF"/>
                </a:solidFill>
                <a:latin typeface="Calibri" pitchFamily="34" charset="0"/>
                <a:ea typeface="Calibri" pitchFamily="34" charset="-122"/>
                <a:cs typeface="Calibri" pitchFamily="34" charset="-120"/>
              </a:rPr>
              <a:t>lo que consumen los hogares</a:t>
            </a:r>
            <a:endParaRPr lang="en-US" sz="1300" dirty="0"/>
          </a:p>
        </p:txBody>
      </p:sp>
      <p:sp>
        <p:nvSpPr>
          <p:cNvPr id="7" name="Shape 5"/>
          <p:cNvSpPr/>
          <p:nvPr/>
        </p:nvSpPr>
        <p:spPr>
          <a:xfrm>
            <a:off x="566928" y="2103120"/>
            <a:ext cx="3474720" cy="1426464"/>
          </a:xfrm>
          <a:prstGeom prst="roundRect">
            <a:avLst>
              <a:gd name="adj" fmla="val 3846"/>
            </a:avLst>
          </a:prstGeom>
          <a:solidFill>
            <a:srgbClr val="E0F7F5"/>
          </a:solidFill>
          <a:ln/>
        </p:spPr>
      </p:sp>
      <p:sp>
        <p:nvSpPr>
          <p:cNvPr id="8" name="Text 6"/>
          <p:cNvSpPr/>
          <p:nvPr/>
        </p:nvSpPr>
        <p:spPr>
          <a:xfrm>
            <a:off x="713232" y="2212848"/>
            <a:ext cx="3200400" cy="1225296"/>
          </a:xfrm>
          <a:prstGeom prst="rect">
            <a:avLst/>
          </a:prstGeom>
          <a:noFill/>
          <a:ln/>
        </p:spPr>
        <p:txBody>
          <a:bodyPr wrap="square" lIns="0" tIns="0" rIns="0" bIns="0" rtlCol="0" anchor="t"/>
          <a:lstStyle/>
          <a:p>
            <a:pPr marL="0" indent="0">
              <a:buNone/>
            </a:pPr>
            <a:r>
              <a:rPr lang="en-US" sz="1100" b="1" dirty="0">
                <a:solidFill>
                  <a:srgbClr val="0B7A75"/>
                </a:solidFill>
                <a:latin typeface="Calibri" pitchFamily="34" charset="0"/>
                <a:ea typeface="Calibri" pitchFamily="34" charset="-122"/>
                <a:cs typeface="Calibri" pitchFamily="34" charset="-120"/>
              </a:rPr>
              <a:t>SUBYACENTE — 238 genéricos
</a:t>
            </a:r>
            <a:r>
              <a:rPr lang="en-US" sz="900" dirty="0">
                <a:solidFill>
                  <a:srgbClr val="1E293B"/>
                </a:solidFill>
                <a:latin typeface="Calibri" pitchFamily="34" charset="0"/>
                <a:ea typeface="Calibri" pitchFamily="34" charset="-122"/>
                <a:cs typeface="Calibri" pitchFamily="34" charset="-120"/>
              </a:rPr>
              <a:t>precios que responden al mercado: mercancías y servicios. La tendencia de fondo de la inflación.</a:t>
            </a:r>
            <a:endParaRPr lang="en-US" sz="1100" dirty="0"/>
          </a:p>
        </p:txBody>
      </p:sp>
      <p:sp>
        <p:nvSpPr>
          <p:cNvPr id="9" name="Shape 7"/>
          <p:cNvSpPr/>
          <p:nvPr/>
        </p:nvSpPr>
        <p:spPr>
          <a:xfrm>
            <a:off x="4133088" y="2103120"/>
            <a:ext cx="1316736" cy="1426464"/>
          </a:xfrm>
          <a:prstGeom prst="roundRect">
            <a:avLst>
              <a:gd name="adj" fmla="val 4167"/>
            </a:avLst>
          </a:prstGeom>
          <a:solidFill>
            <a:srgbClr val="FFFBEB"/>
          </a:solidFill>
          <a:ln/>
        </p:spPr>
      </p:sp>
      <p:sp>
        <p:nvSpPr>
          <p:cNvPr id="10" name="Text 8"/>
          <p:cNvSpPr/>
          <p:nvPr/>
        </p:nvSpPr>
        <p:spPr>
          <a:xfrm>
            <a:off x="4224528" y="2212848"/>
            <a:ext cx="1152144" cy="1225296"/>
          </a:xfrm>
          <a:prstGeom prst="rect">
            <a:avLst/>
          </a:prstGeom>
          <a:noFill/>
          <a:ln/>
        </p:spPr>
        <p:txBody>
          <a:bodyPr wrap="square" lIns="0" tIns="0" rIns="0" bIns="0" rtlCol="0" anchor="t"/>
          <a:lstStyle/>
          <a:p>
            <a:pPr marL="0" indent="0">
              <a:buNone/>
            </a:pPr>
            <a:r>
              <a:rPr lang="en-US" sz="1000" b="1" dirty="0">
                <a:solidFill>
                  <a:srgbClr val="D97706"/>
                </a:solidFill>
                <a:latin typeface="Calibri" pitchFamily="34" charset="0"/>
                <a:ea typeface="Calibri" pitchFamily="34" charset="-122"/>
                <a:cs typeface="Calibri" pitchFamily="34" charset="-120"/>
              </a:rPr>
              <a:t>NO SUBY. — 54
</a:t>
            </a:r>
            <a:r>
              <a:rPr lang="en-US" sz="850" dirty="0">
                <a:solidFill>
                  <a:srgbClr val="1E293B"/>
                </a:solidFill>
                <a:latin typeface="Calibri" pitchFamily="34" charset="0"/>
                <a:ea typeface="Calibri" pitchFamily="34" charset="-122"/>
                <a:cs typeface="Calibri" pitchFamily="34" charset="-120"/>
              </a:rPr>
              <a:t>agropecuarios, energéticos y tarifas: volátiles o administrados</a:t>
            </a:r>
            <a:endParaRPr lang="en-US" sz="1000" dirty="0"/>
          </a:p>
        </p:txBody>
      </p:sp>
      <p:sp>
        <p:nvSpPr>
          <p:cNvPr id="11" name="Shape 9"/>
          <p:cNvSpPr/>
          <p:nvPr/>
        </p:nvSpPr>
        <p:spPr>
          <a:xfrm>
            <a:off x="1097280" y="3749040"/>
            <a:ext cx="164592" cy="182880"/>
          </a:xfrm>
          <a:prstGeom prst="downArrow">
            <a:avLst/>
          </a:prstGeom>
          <a:solidFill>
            <a:srgbClr val="64748B"/>
          </a:solidFill>
          <a:ln/>
        </p:spPr>
      </p:sp>
      <p:sp>
        <p:nvSpPr>
          <p:cNvPr id="12" name="Shape 10"/>
          <p:cNvSpPr/>
          <p:nvPr/>
        </p:nvSpPr>
        <p:spPr>
          <a:xfrm>
            <a:off x="365760" y="3968496"/>
            <a:ext cx="1645920" cy="914400"/>
          </a:xfrm>
          <a:prstGeom prst="roundRect">
            <a:avLst>
              <a:gd name="adj" fmla="val 6000"/>
            </a:avLst>
          </a:prstGeom>
          <a:solidFill>
            <a:srgbClr val="EEF2FF"/>
          </a:solidFill>
          <a:ln/>
        </p:spPr>
      </p:sp>
      <p:sp>
        <p:nvSpPr>
          <p:cNvPr id="13" name="Text 11"/>
          <p:cNvSpPr/>
          <p:nvPr/>
        </p:nvSpPr>
        <p:spPr>
          <a:xfrm>
            <a:off x="475488" y="4041648"/>
            <a:ext cx="1426464" cy="786384"/>
          </a:xfrm>
          <a:prstGeom prst="rect">
            <a:avLst/>
          </a:prstGeom>
          <a:noFill/>
          <a:ln/>
        </p:spPr>
        <p:txBody>
          <a:bodyPr wrap="square" lIns="0" tIns="0" rIns="0" bIns="0" rtlCol="0" anchor="t"/>
          <a:lstStyle/>
          <a:p>
            <a:pPr marL="0" indent="0">
              <a:buNone/>
            </a:pPr>
            <a:r>
              <a:rPr lang="en-US" sz="1050" b="1" dirty="0">
                <a:solidFill>
                  <a:srgbClr val="1A2F5A"/>
                </a:solidFill>
                <a:latin typeface="Calibri" pitchFamily="34" charset="0"/>
                <a:ea typeface="Calibri" pitchFamily="34" charset="-122"/>
                <a:cs typeface="Calibri" pitchFamily="34" charset="-120"/>
              </a:rPr>
              <a:t>General
</a:t>
            </a:r>
            <a:r>
              <a:rPr lang="en-US" sz="850" dirty="0">
                <a:solidFill>
                  <a:srgbClr val="1E293B"/>
                </a:solidFill>
                <a:latin typeface="Calibri" pitchFamily="34" charset="0"/>
                <a:ea typeface="Calibri" pitchFamily="34" charset="-122"/>
                <a:cs typeface="Calibri" pitchFamily="34" charset="-120"/>
              </a:rPr>
              <a:t>toda la canasta:</a:t>
            </a:r>
            <a:endParaRPr lang="en-US" sz="1050" dirty="0"/>
          </a:p>
          <a:p>
            <a:pPr marL="0" indent="0">
              <a:buNone/>
            </a:pPr>
            <a:r>
              <a:rPr lang="en-US" sz="850" dirty="0">
                <a:solidFill>
                  <a:srgbClr val="1E293B"/>
                </a:solidFill>
                <a:latin typeface="Calibri" pitchFamily="34" charset="0"/>
                <a:ea typeface="Calibri" pitchFamily="34" charset="-122"/>
                <a:cs typeface="Calibri" pitchFamily="34" charset="-120"/>
              </a:rPr>
              <a:t>los 292 genéricos</a:t>
            </a:r>
            <a:endParaRPr lang="en-US" sz="1050" dirty="0"/>
          </a:p>
        </p:txBody>
      </p:sp>
      <p:sp>
        <p:nvSpPr>
          <p:cNvPr id="14" name="Shape 12"/>
          <p:cNvSpPr/>
          <p:nvPr/>
        </p:nvSpPr>
        <p:spPr>
          <a:xfrm>
            <a:off x="2880360" y="3749040"/>
            <a:ext cx="164592" cy="182880"/>
          </a:xfrm>
          <a:prstGeom prst="downArrow">
            <a:avLst/>
          </a:prstGeom>
          <a:solidFill>
            <a:srgbClr val="64748B"/>
          </a:solidFill>
          <a:ln/>
        </p:spPr>
      </p:sp>
      <p:sp>
        <p:nvSpPr>
          <p:cNvPr id="15" name="Shape 13"/>
          <p:cNvSpPr/>
          <p:nvPr/>
        </p:nvSpPr>
        <p:spPr>
          <a:xfrm>
            <a:off x="2148840" y="3968496"/>
            <a:ext cx="1645920" cy="914400"/>
          </a:xfrm>
          <a:prstGeom prst="roundRect">
            <a:avLst>
              <a:gd name="adj" fmla="val 6000"/>
            </a:avLst>
          </a:prstGeom>
          <a:solidFill>
            <a:srgbClr val="EEF2FF"/>
          </a:solidFill>
          <a:ln/>
        </p:spPr>
      </p:sp>
      <p:sp>
        <p:nvSpPr>
          <p:cNvPr id="16" name="Text 14"/>
          <p:cNvSpPr/>
          <p:nvPr/>
        </p:nvSpPr>
        <p:spPr>
          <a:xfrm>
            <a:off x="2258568" y="4041648"/>
            <a:ext cx="1426464" cy="786384"/>
          </a:xfrm>
          <a:prstGeom prst="rect">
            <a:avLst/>
          </a:prstGeom>
          <a:noFill/>
          <a:ln/>
        </p:spPr>
        <p:txBody>
          <a:bodyPr wrap="square" lIns="0" tIns="0" rIns="0" bIns="0" rtlCol="0" anchor="t"/>
          <a:lstStyle/>
          <a:p>
            <a:pPr marL="0" indent="0">
              <a:buNone/>
            </a:pPr>
            <a:r>
              <a:rPr lang="en-US" sz="1050" b="1" dirty="0">
                <a:solidFill>
                  <a:srgbClr val="0B7A75"/>
                </a:solidFill>
                <a:latin typeface="Calibri" pitchFamily="34" charset="0"/>
                <a:ea typeface="Calibri" pitchFamily="34" charset="-122"/>
                <a:cs typeface="Calibri" pitchFamily="34" charset="-120"/>
              </a:rPr>
              <a:t>Subyacente
</a:t>
            </a:r>
            <a:r>
              <a:rPr lang="en-US" sz="850" dirty="0">
                <a:solidFill>
                  <a:srgbClr val="1E293B"/>
                </a:solidFill>
                <a:latin typeface="Calibri" pitchFamily="34" charset="0"/>
                <a:ea typeface="Calibri" pitchFamily="34" charset="-122"/>
                <a:cs typeface="Calibri" pitchFamily="34" charset="-120"/>
              </a:rPr>
              <a:t>solo la zona verde:</a:t>
            </a:r>
            <a:endParaRPr lang="en-US" sz="1050" dirty="0"/>
          </a:p>
          <a:p>
            <a:pPr marL="0" indent="0">
              <a:buNone/>
            </a:pPr>
            <a:r>
              <a:rPr lang="en-US" sz="850" dirty="0">
                <a:solidFill>
                  <a:srgbClr val="1E293B"/>
                </a:solidFill>
                <a:latin typeface="Calibri" pitchFamily="34" charset="0"/>
                <a:ea typeface="Calibri" pitchFamily="34" charset="-122"/>
                <a:cs typeface="Calibri" pitchFamily="34" charset="-120"/>
              </a:rPr>
              <a:t>238 genéricos</a:t>
            </a:r>
            <a:endParaRPr lang="en-US" sz="1050" dirty="0"/>
          </a:p>
        </p:txBody>
      </p:sp>
      <p:sp>
        <p:nvSpPr>
          <p:cNvPr id="17" name="Shape 15"/>
          <p:cNvSpPr/>
          <p:nvPr/>
        </p:nvSpPr>
        <p:spPr>
          <a:xfrm>
            <a:off x="4663440" y="3749040"/>
            <a:ext cx="164592" cy="182880"/>
          </a:xfrm>
          <a:prstGeom prst="downArrow">
            <a:avLst/>
          </a:prstGeom>
          <a:solidFill>
            <a:srgbClr val="64748B"/>
          </a:solidFill>
          <a:ln/>
        </p:spPr>
      </p:sp>
      <p:sp>
        <p:nvSpPr>
          <p:cNvPr id="18" name="Shape 16"/>
          <p:cNvSpPr/>
          <p:nvPr/>
        </p:nvSpPr>
        <p:spPr>
          <a:xfrm>
            <a:off x="3931920" y="3968496"/>
            <a:ext cx="1645920" cy="914400"/>
          </a:xfrm>
          <a:prstGeom prst="roundRect">
            <a:avLst>
              <a:gd name="adj" fmla="val 6000"/>
            </a:avLst>
          </a:prstGeom>
          <a:solidFill>
            <a:srgbClr val="EEF2FF"/>
          </a:solidFill>
          <a:ln/>
        </p:spPr>
      </p:sp>
      <p:sp>
        <p:nvSpPr>
          <p:cNvPr id="19" name="Text 17"/>
          <p:cNvSpPr/>
          <p:nvPr/>
        </p:nvSpPr>
        <p:spPr>
          <a:xfrm>
            <a:off x="4041648" y="4041648"/>
            <a:ext cx="1426464" cy="786384"/>
          </a:xfrm>
          <a:prstGeom prst="rect">
            <a:avLst/>
          </a:prstGeom>
          <a:noFill/>
          <a:ln/>
        </p:spPr>
        <p:txBody>
          <a:bodyPr wrap="square" lIns="0" tIns="0" rIns="0" bIns="0" rtlCol="0" anchor="t"/>
          <a:lstStyle/>
          <a:p>
            <a:pPr marL="0" indent="0">
              <a:buNone/>
            </a:pPr>
            <a:r>
              <a:rPr lang="en-US" sz="1050" b="1" dirty="0">
                <a:solidFill>
                  <a:srgbClr val="D97706"/>
                </a:solidFill>
                <a:latin typeface="Calibri" pitchFamily="34" charset="0"/>
                <a:ea typeface="Calibri" pitchFamily="34" charset="-122"/>
                <a:cs typeface="Calibri" pitchFamily="34" charset="-120"/>
              </a:rPr>
              <a:t>No subyacente
</a:t>
            </a:r>
            <a:r>
              <a:rPr lang="en-US" sz="850" dirty="0">
                <a:solidFill>
                  <a:srgbClr val="1E293B"/>
                </a:solidFill>
                <a:latin typeface="Calibri" pitchFamily="34" charset="0"/>
                <a:ea typeface="Calibri" pitchFamily="34" charset="-122"/>
                <a:cs typeface="Calibri" pitchFamily="34" charset="-120"/>
              </a:rPr>
              <a:t>solo la zona ámbar:</a:t>
            </a:r>
            <a:endParaRPr lang="en-US" sz="1050" dirty="0"/>
          </a:p>
          <a:p>
            <a:pPr marL="0" indent="0">
              <a:buNone/>
            </a:pPr>
            <a:r>
              <a:rPr lang="en-US" sz="850" dirty="0">
                <a:solidFill>
                  <a:srgbClr val="1E293B"/>
                </a:solidFill>
                <a:latin typeface="Calibri" pitchFamily="34" charset="0"/>
                <a:ea typeface="Calibri" pitchFamily="34" charset="-122"/>
                <a:cs typeface="Calibri" pitchFamily="34" charset="-120"/>
              </a:rPr>
              <a:t>54 genéricos</a:t>
            </a:r>
            <a:endParaRPr lang="en-US" sz="1050" dirty="0"/>
          </a:p>
        </p:txBody>
      </p:sp>
      <p:sp>
        <p:nvSpPr>
          <p:cNvPr id="20" name="Text 18"/>
          <p:cNvSpPr/>
          <p:nvPr/>
        </p:nvSpPr>
        <p:spPr>
          <a:xfrm>
            <a:off x="365760" y="4937760"/>
            <a:ext cx="5212080" cy="201168"/>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misma canasta, misma metodología, distinta cobertura</a:t>
            </a:r>
            <a:endParaRPr lang="en-US" sz="850" dirty="0"/>
          </a:p>
        </p:txBody>
      </p:sp>
      <p:sp>
        <p:nvSpPr>
          <p:cNvPr id="21" name="Shape 19"/>
          <p:cNvSpPr/>
          <p:nvPr/>
        </p:nvSpPr>
        <p:spPr>
          <a:xfrm>
            <a:off x="5852160" y="1426464"/>
            <a:ext cx="2926080" cy="3456432"/>
          </a:xfrm>
          <a:prstGeom prst="roundRect">
            <a:avLst>
              <a:gd name="adj" fmla="val 2500"/>
            </a:avLst>
          </a:prstGeom>
          <a:solidFill>
            <a:srgbClr val="F5F3FF"/>
          </a:solidFill>
          <a:ln/>
        </p:spPr>
      </p:sp>
      <p:sp>
        <p:nvSpPr>
          <p:cNvPr id="22" name="Text 20"/>
          <p:cNvSpPr/>
          <p:nvPr/>
        </p:nvSpPr>
        <p:spPr>
          <a:xfrm>
            <a:off x="6016752" y="1536192"/>
            <a:ext cx="2606040" cy="457200"/>
          </a:xfrm>
          <a:prstGeom prst="rect">
            <a:avLst/>
          </a:prstGeom>
          <a:noFill/>
          <a:ln/>
        </p:spPr>
        <p:txBody>
          <a:bodyPr wrap="square" lIns="0" tIns="0" rIns="0" bIns="0" rtlCol="0" anchor="ctr"/>
          <a:lstStyle/>
          <a:p>
            <a:pPr marL="0" indent="0">
              <a:buNone/>
            </a:pPr>
            <a:r>
              <a:rPr lang="en-US" sz="1150" b="1" dirty="0">
                <a:solidFill>
                  <a:srgbClr val="7C3AED"/>
                </a:solidFill>
                <a:latin typeface="Calibri" pitchFamily="34" charset="0"/>
                <a:ea typeface="Calibri" pitchFamily="34" charset="-122"/>
                <a:cs typeface="Calibri" pitchFamily="34" charset="-120"/>
              </a:rPr>
              <a:t>Esto NO es lo mismo que otro índice</a:t>
            </a:r>
            <a:endParaRPr lang="en-US" sz="1150" dirty="0"/>
          </a:p>
        </p:txBody>
      </p:sp>
      <p:sp>
        <p:nvSpPr>
          <p:cNvPr id="23" name="Shape 21"/>
          <p:cNvSpPr/>
          <p:nvPr/>
        </p:nvSpPr>
        <p:spPr>
          <a:xfrm>
            <a:off x="6016752" y="2048256"/>
            <a:ext cx="2596896" cy="1371600"/>
          </a:xfrm>
          <a:prstGeom prst="roundRect">
            <a:avLst>
              <a:gd name="adj" fmla="val 3333"/>
            </a:avLst>
          </a:prstGeom>
          <a:solidFill>
            <a:srgbClr val="FFFFFF"/>
          </a:solidFill>
          <a:ln/>
        </p:spPr>
      </p:sp>
      <p:sp>
        <p:nvSpPr>
          <p:cNvPr id="24" name="Text 22"/>
          <p:cNvSpPr/>
          <p:nvPr/>
        </p:nvSpPr>
        <p:spPr>
          <a:xfrm>
            <a:off x="6144768" y="2139696"/>
            <a:ext cx="2340864" cy="1207008"/>
          </a:xfrm>
          <a:prstGeom prst="rect">
            <a:avLst/>
          </a:prstGeom>
          <a:noFill/>
          <a:ln/>
        </p:spPr>
        <p:txBody>
          <a:bodyPr wrap="square" lIns="0" tIns="0" rIns="0" bIns="0" rtlCol="0" anchor="t"/>
          <a:lstStyle/>
          <a:p>
            <a:pPr marL="0" indent="0">
              <a:buNone/>
            </a:pPr>
            <a:r>
              <a:rPr lang="en-US" sz="1000" b="1" dirty="0">
                <a:solidFill>
                  <a:srgbClr val="1A2F5A"/>
                </a:solidFill>
                <a:latin typeface="Calibri" pitchFamily="34" charset="0"/>
                <a:ea typeface="Calibri" pitchFamily="34" charset="-122"/>
                <a:cs typeface="Calibri" pitchFamily="34" charset="-120"/>
              </a:rPr>
              <a:t>INPP — </a:t>
            </a:r>
            <a:r>
              <a:rPr lang="en-US" sz="1000" b="1" dirty="0" err="1">
                <a:solidFill>
                  <a:srgbClr val="1A2F5A"/>
                </a:solidFill>
                <a:latin typeface="Calibri" pitchFamily="34" charset="0"/>
                <a:ea typeface="Calibri" pitchFamily="34" charset="-122"/>
                <a:cs typeface="Calibri" pitchFamily="34" charset="-120"/>
              </a:rPr>
              <a:t>precios</a:t>
            </a:r>
            <a:r>
              <a:rPr lang="en-US" sz="1000" b="1" dirty="0">
                <a:solidFill>
                  <a:srgbClr val="1A2F5A"/>
                </a:solidFill>
                <a:latin typeface="Calibri" pitchFamily="34" charset="0"/>
                <a:ea typeface="Calibri" pitchFamily="34" charset="-122"/>
                <a:cs typeface="Calibri" pitchFamily="34" charset="-120"/>
              </a:rPr>
              <a:t> </a:t>
            </a:r>
            <a:r>
              <a:rPr lang="en-US" sz="1000" b="1" dirty="0" err="1">
                <a:solidFill>
                  <a:srgbClr val="1A2F5A"/>
                </a:solidFill>
                <a:latin typeface="Calibri" pitchFamily="34" charset="0"/>
                <a:ea typeface="Calibri" pitchFamily="34" charset="-122"/>
                <a:cs typeface="Calibri" pitchFamily="34" charset="-120"/>
              </a:rPr>
              <a:t>productor</a:t>
            </a:r>
            <a:endParaRPr lang="en-US" sz="1000" b="1" dirty="0">
              <a:solidFill>
                <a:srgbClr val="1A2F5A"/>
              </a:solidFill>
              <a:latin typeface="Calibri" pitchFamily="34" charset="0"/>
              <a:ea typeface="Calibri" pitchFamily="34" charset="-122"/>
              <a:cs typeface="Calibri" pitchFamily="34" charset="-120"/>
            </a:endParaRPr>
          </a:p>
          <a:p>
            <a:pPr marL="0" indent="0">
              <a:buNone/>
            </a:pPr>
            <a:r>
              <a:rPr lang="en-US" sz="1000" b="1" dirty="0">
                <a:solidFill>
                  <a:srgbClr val="1A2F5A"/>
                </a:solidFill>
                <a:latin typeface="Calibri" pitchFamily="34" charset="0"/>
                <a:ea typeface="Calibri" pitchFamily="34" charset="-122"/>
                <a:cs typeface="Calibri" pitchFamily="34" charset="-120"/>
              </a:rPr>
              <a:t>
</a:t>
            </a:r>
            <a:r>
              <a:rPr lang="en-US" sz="850" dirty="0">
                <a:solidFill>
                  <a:srgbClr val="1E293B"/>
                </a:solidFill>
                <a:latin typeface="Calibri" pitchFamily="34" charset="0"/>
                <a:ea typeface="Calibri" pitchFamily="34" charset="-122"/>
                <a:cs typeface="Calibri" pitchFamily="34" charset="-120"/>
              </a:rPr>
              <a:t>Otra canasta (560 genéricos), otro agente y otro punto de la cadena: lo que cobra el productor, sin impuestos ni márgenes. Suele anticipar al INPC.</a:t>
            </a:r>
            <a:endParaRPr lang="en-US" sz="1000" dirty="0"/>
          </a:p>
        </p:txBody>
      </p:sp>
      <p:sp>
        <p:nvSpPr>
          <p:cNvPr id="25" name="Shape 23"/>
          <p:cNvSpPr/>
          <p:nvPr/>
        </p:nvSpPr>
        <p:spPr>
          <a:xfrm>
            <a:off x="6016752" y="3529584"/>
            <a:ext cx="2596896" cy="1207008"/>
          </a:xfrm>
          <a:prstGeom prst="roundRect">
            <a:avLst>
              <a:gd name="adj" fmla="val 3788"/>
            </a:avLst>
          </a:prstGeom>
          <a:solidFill>
            <a:srgbClr val="FFFFFF"/>
          </a:solidFill>
          <a:ln/>
        </p:spPr>
      </p:sp>
      <p:sp>
        <p:nvSpPr>
          <p:cNvPr id="26" name="Text 24"/>
          <p:cNvSpPr/>
          <p:nvPr/>
        </p:nvSpPr>
        <p:spPr>
          <a:xfrm>
            <a:off x="6144768" y="3621024"/>
            <a:ext cx="2340864" cy="1042416"/>
          </a:xfrm>
          <a:prstGeom prst="rect">
            <a:avLst/>
          </a:prstGeom>
          <a:noFill/>
          <a:ln/>
        </p:spPr>
        <p:txBody>
          <a:bodyPr wrap="square" lIns="0" tIns="0" rIns="0" bIns="0" rtlCol="0" anchor="t"/>
          <a:lstStyle/>
          <a:p>
            <a:pPr marL="0" indent="0">
              <a:buNone/>
            </a:pPr>
            <a:r>
              <a:rPr lang="en-US" sz="1000" b="1" dirty="0">
                <a:solidFill>
                  <a:srgbClr val="1A2F5A"/>
                </a:solidFill>
                <a:latin typeface="Calibri" pitchFamily="34" charset="0"/>
                <a:ea typeface="Calibri" pitchFamily="34" charset="-122"/>
                <a:cs typeface="Calibri" pitchFamily="34" charset="-120"/>
              </a:rPr>
              <a:t>La </a:t>
            </a:r>
            <a:r>
              <a:rPr lang="en-US" sz="1000" b="1" dirty="0" err="1">
                <a:solidFill>
                  <a:srgbClr val="1A2F5A"/>
                </a:solidFill>
                <a:latin typeface="Calibri" pitchFamily="34" charset="0"/>
                <a:ea typeface="Calibri" pitchFamily="34" charset="-122"/>
                <a:cs typeface="Calibri" pitchFamily="34" charset="-120"/>
              </a:rPr>
              <a:t>diferencia</a:t>
            </a:r>
            <a:r>
              <a:rPr lang="en-US" sz="1000" b="1" dirty="0">
                <a:solidFill>
                  <a:srgbClr val="1A2F5A"/>
                </a:solidFill>
                <a:latin typeface="Calibri" pitchFamily="34" charset="0"/>
                <a:ea typeface="Calibri" pitchFamily="34" charset="-122"/>
                <a:cs typeface="Calibri" pitchFamily="34" charset="-120"/>
              </a:rPr>
              <a:t> clave</a:t>
            </a:r>
          </a:p>
          <a:p>
            <a:pPr marL="0" indent="0">
              <a:buNone/>
            </a:pPr>
            <a:r>
              <a:rPr lang="en-US" sz="1000" b="1" dirty="0">
                <a:solidFill>
                  <a:srgbClr val="1A2F5A"/>
                </a:solidFill>
                <a:latin typeface="Calibri" pitchFamily="34" charset="0"/>
                <a:ea typeface="Calibri" pitchFamily="34" charset="-122"/>
                <a:cs typeface="Calibri" pitchFamily="34" charset="-120"/>
              </a:rPr>
              <a:t>
</a:t>
            </a:r>
            <a:r>
              <a:rPr lang="en-US" sz="850" dirty="0">
                <a:solidFill>
                  <a:srgbClr val="1E293B"/>
                </a:solidFill>
                <a:latin typeface="Calibri" pitchFamily="34" charset="0"/>
                <a:ea typeface="Calibri" pitchFamily="34" charset="-122"/>
                <a:cs typeface="Calibri" pitchFamily="34" charset="-120"/>
              </a:rPr>
              <a:t>Cobertura = recortar la canasta del INPC. Otro índice = cambiar de canasta y de pregunta económica.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Tipos de Inflación por Cobertura de Bienes — II: Medidas Avanzadas</a:t>
            </a:r>
            <a:endParaRPr lang="en-US" sz="2200" dirty="0"/>
          </a:p>
        </p:txBody>
      </p:sp>
      <p:sp>
        <p:nvSpPr>
          <p:cNvPr id="4" name="Shape 2"/>
          <p:cNvSpPr/>
          <p:nvPr/>
        </p:nvSpPr>
        <p:spPr>
          <a:xfrm>
            <a:off x="292608" y="932688"/>
            <a:ext cx="8558784" cy="1298448"/>
          </a:xfrm>
          <a:prstGeom prst="roundRect">
            <a:avLst>
              <a:gd name="adj" fmla="val 8451"/>
            </a:avLst>
          </a:prstGeom>
          <a:solidFill>
            <a:srgbClr val="F5F3FF"/>
          </a:solidFill>
          <a:ln/>
          <a:effectLst>
            <a:outerShdw blurRad="50800" dist="25400" dir="2700000" algn="bl" rotWithShape="0">
              <a:srgbClr val="000000">
                <a:alpha val="10000"/>
              </a:srgbClr>
            </a:outerShdw>
          </a:effectLst>
        </p:spPr>
      </p:sp>
      <p:sp>
        <p:nvSpPr>
          <p:cNvPr id="5" name="Text 3"/>
          <p:cNvSpPr/>
          <p:nvPr/>
        </p:nvSpPr>
        <p:spPr>
          <a:xfrm>
            <a:off x="438912" y="987552"/>
            <a:ext cx="8229600" cy="274320"/>
          </a:xfrm>
          <a:prstGeom prst="rect">
            <a:avLst/>
          </a:prstGeom>
          <a:noFill/>
          <a:ln/>
        </p:spPr>
        <p:txBody>
          <a:bodyPr wrap="square" rtlCol="0" anchor="ctr"/>
          <a:lstStyle/>
          <a:p>
            <a:pPr marL="0" indent="0">
              <a:buNone/>
            </a:pPr>
            <a:r>
              <a:rPr lang="en-US" sz="1300" b="1" dirty="0">
                <a:solidFill>
                  <a:srgbClr val="7C3AED"/>
                </a:solidFill>
                <a:latin typeface="Cambria" pitchFamily="34" charset="0"/>
                <a:ea typeface="Cambria" pitchFamily="34" charset="-122"/>
                <a:cs typeface="Cambria" pitchFamily="34" charset="-120"/>
              </a:rPr>
              <a:t>Core Inflation (Núcleo Inflacionario)</a:t>
            </a:r>
            <a:endParaRPr lang="en-US" sz="1300" dirty="0"/>
          </a:p>
        </p:txBody>
      </p:sp>
      <p:sp>
        <p:nvSpPr>
          <p:cNvPr id="6" name="Text 4"/>
          <p:cNvSpPr/>
          <p:nvPr/>
        </p:nvSpPr>
        <p:spPr>
          <a:xfrm>
            <a:off x="438912" y="1298448"/>
            <a:ext cx="2697480" cy="201168"/>
          </a:xfrm>
          <a:prstGeom prst="rect">
            <a:avLst/>
          </a:prstGeom>
          <a:noFill/>
          <a:ln/>
        </p:spPr>
        <p:txBody>
          <a:bodyPr wrap="square" rtlCol="0" anchor="ctr"/>
          <a:lstStyle/>
          <a:p>
            <a:pPr marL="0" indent="0">
              <a:buNone/>
            </a:pPr>
            <a:r>
              <a:rPr lang="en-US" sz="900" b="1" dirty="0">
                <a:solidFill>
                  <a:srgbClr val="7C3AED"/>
                </a:solidFill>
              </a:rPr>
              <a:t>Qué mide:</a:t>
            </a:r>
            <a:endParaRPr lang="en-US" sz="900" dirty="0"/>
          </a:p>
        </p:txBody>
      </p:sp>
      <p:sp>
        <p:nvSpPr>
          <p:cNvPr id="7" name="Text 5"/>
          <p:cNvSpPr/>
          <p:nvPr/>
        </p:nvSpPr>
        <p:spPr>
          <a:xfrm>
            <a:off x="438912" y="1499616"/>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Excluye estadísticamente los bienes más volátiles, elegidos en cada periodo según su desviación respecto a la tendencia.</a:t>
            </a:r>
            <a:endParaRPr lang="en-US" sz="950" dirty="0"/>
          </a:p>
        </p:txBody>
      </p:sp>
      <p:sp>
        <p:nvSpPr>
          <p:cNvPr id="8" name="Text 6"/>
          <p:cNvSpPr/>
          <p:nvPr/>
        </p:nvSpPr>
        <p:spPr>
          <a:xfrm>
            <a:off x="3291840" y="1252728"/>
            <a:ext cx="2697480" cy="201168"/>
          </a:xfrm>
          <a:prstGeom prst="rect">
            <a:avLst/>
          </a:prstGeom>
          <a:noFill/>
          <a:ln/>
        </p:spPr>
        <p:txBody>
          <a:bodyPr wrap="square" rtlCol="0" anchor="ctr"/>
          <a:lstStyle/>
          <a:p>
            <a:pPr marL="0" indent="0">
              <a:buNone/>
            </a:pPr>
            <a:r>
              <a:rPr lang="en-US" sz="900" b="1" dirty="0">
                <a:solidFill>
                  <a:srgbClr val="7C3AED"/>
                </a:solidFill>
              </a:rPr>
              <a:t>Para qué sirve:</a:t>
            </a:r>
            <a:endParaRPr lang="en-US" sz="900" dirty="0"/>
          </a:p>
        </p:txBody>
      </p:sp>
      <p:sp>
        <p:nvSpPr>
          <p:cNvPr id="9" name="Text 7"/>
          <p:cNvSpPr/>
          <p:nvPr/>
        </p:nvSpPr>
        <p:spPr>
          <a:xfrm>
            <a:off x="3291840" y="1408176"/>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A diferencia de la subyacente, el núcleo puede excluir bienes distintos en cada periodo. Mateos y Gaytán (1998) encontraron que el umbral óptimo para México equivale al 44% del gasto de la canasta.</a:t>
            </a:r>
            <a:endParaRPr lang="en-US" sz="950" dirty="0"/>
          </a:p>
        </p:txBody>
      </p:sp>
      <p:sp>
        <p:nvSpPr>
          <p:cNvPr id="10" name="Text 8"/>
          <p:cNvSpPr/>
          <p:nvPr/>
        </p:nvSpPr>
        <p:spPr>
          <a:xfrm>
            <a:off x="6144768" y="1298448"/>
            <a:ext cx="2697480" cy="201168"/>
          </a:xfrm>
          <a:prstGeom prst="rect">
            <a:avLst/>
          </a:prstGeom>
          <a:noFill/>
          <a:ln/>
        </p:spPr>
        <p:txBody>
          <a:bodyPr wrap="square" rtlCol="0" anchor="ctr"/>
          <a:lstStyle/>
          <a:p>
            <a:pPr marL="0" indent="0">
              <a:buNone/>
            </a:pPr>
            <a:r>
              <a:rPr lang="en-US" sz="900" b="1" dirty="0">
                <a:solidFill>
                  <a:srgbClr val="7C3AED"/>
                </a:solidFill>
              </a:rPr>
              <a:t>Referencia:</a:t>
            </a:r>
            <a:endParaRPr lang="en-US" sz="900" dirty="0"/>
          </a:p>
        </p:txBody>
      </p:sp>
      <p:sp>
        <p:nvSpPr>
          <p:cNvPr id="11" name="Text 9"/>
          <p:cNvSpPr/>
          <p:nvPr/>
        </p:nvSpPr>
        <p:spPr>
          <a:xfrm>
            <a:off x="6144768" y="1499616"/>
            <a:ext cx="2697480" cy="685800"/>
          </a:xfrm>
          <a:prstGeom prst="rect">
            <a:avLst/>
          </a:prstGeom>
          <a:noFill/>
          <a:ln/>
        </p:spPr>
        <p:txBody>
          <a:bodyPr wrap="square" rtlCol="0" anchor="t"/>
          <a:lstStyle/>
          <a:p>
            <a:pPr marL="0" indent="0">
              <a:buNone/>
            </a:pPr>
            <a:r>
              <a:rPr lang="en-US" sz="900" i="1" dirty="0">
                <a:solidFill>
                  <a:srgbClr val="7C3AED"/>
                </a:solidFill>
                <a:latin typeface="Calibri" pitchFamily="34" charset="0"/>
                <a:ea typeface="Calibri" pitchFamily="34" charset="-122"/>
                <a:cs typeface="Calibri" pitchFamily="34" charset="-120"/>
              </a:rPr>
              <a:t>Mateos &amp; Gaytán (1998) | Bryan &amp; Cecchetti (1993)</a:t>
            </a:r>
            <a:endParaRPr lang="en-US" sz="900" dirty="0"/>
          </a:p>
        </p:txBody>
      </p:sp>
      <p:sp>
        <p:nvSpPr>
          <p:cNvPr id="12" name="Shape 10"/>
          <p:cNvSpPr/>
          <p:nvPr/>
        </p:nvSpPr>
        <p:spPr>
          <a:xfrm>
            <a:off x="292608" y="2322576"/>
            <a:ext cx="8558784" cy="1298448"/>
          </a:xfrm>
          <a:prstGeom prst="roundRect">
            <a:avLst>
              <a:gd name="adj" fmla="val 8451"/>
            </a:avLst>
          </a:prstGeom>
          <a:solidFill>
            <a:srgbClr val="FFFBEB"/>
          </a:solidFill>
          <a:ln/>
          <a:effectLst>
            <a:outerShdw blurRad="50800" dist="25400" dir="2700000" algn="bl" rotWithShape="0">
              <a:srgbClr val="000000">
                <a:alpha val="10000"/>
              </a:srgbClr>
            </a:outerShdw>
          </a:effectLst>
        </p:spPr>
      </p:sp>
      <p:sp>
        <p:nvSpPr>
          <p:cNvPr id="13" name="Text 11"/>
          <p:cNvSpPr/>
          <p:nvPr/>
        </p:nvSpPr>
        <p:spPr>
          <a:xfrm>
            <a:off x="438912" y="2377440"/>
            <a:ext cx="8229600" cy="274320"/>
          </a:xfrm>
          <a:prstGeom prst="rect">
            <a:avLst/>
          </a:prstGeom>
          <a:noFill/>
          <a:ln/>
        </p:spPr>
        <p:txBody>
          <a:bodyPr wrap="square" rtlCol="0" anchor="ctr"/>
          <a:lstStyle/>
          <a:p>
            <a:pPr marL="0" indent="0">
              <a:buNone/>
            </a:pPr>
            <a:r>
              <a:rPr lang="en-US" sz="1300" b="1" dirty="0">
                <a:solidFill>
                  <a:srgbClr val="D97706"/>
                </a:solidFill>
                <a:latin typeface="Cambria" pitchFamily="34" charset="0"/>
                <a:ea typeface="Cambria" pitchFamily="34" charset="-122"/>
                <a:cs typeface="Cambria" pitchFamily="34" charset="-120"/>
              </a:rPr>
              <a:t>Median Inflation (Inflación Mediana)</a:t>
            </a:r>
            <a:endParaRPr lang="en-US" sz="1300" dirty="0"/>
          </a:p>
        </p:txBody>
      </p:sp>
      <p:sp>
        <p:nvSpPr>
          <p:cNvPr id="14" name="Text 12"/>
          <p:cNvSpPr/>
          <p:nvPr/>
        </p:nvSpPr>
        <p:spPr>
          <a:xfrm>
            <a:off x="438912" y="2688336"/>
            <a:ext cx="2697480" cy="201168"/>
          </a:xfrm>
          <a:prstGeom prst="rect">
            <a:avLst/>
          </a:prstGeom>
          <a:noFill/>
          <a:ln/>
        </p:spPr>
        <p:txBody>
          <a:bodyPr wrap="square" rtlCol="0" anchor="ctr"/>
          <a:lstStyle/>
          <a:p>
            <a:pPr marL="0" indent="0">
              <a:buNone/>
            </a:pPr>
            <a:r>
              <a:rPr lang="en-US" sz="900" b="1" dirty="0">
                <a:solidFill>
                  <a:srgbClr val="D97706"/>
                </a:solidFill>
              </a:rPr>
              <a:t>Qué mide:</a:t>
            </a:r>
            <a:endParaRPr lang="en-US" sz="900" dirty="0"/>
          </a:p>
        </p:txBody>
      </p:sp>
      <p:sp>
        <p:nvSpPr>
          <p:cNvPr id="15" name="Text 13"/>
          <p:cNvSpPr/>
          <p:nvPr/>
        </p:nvSpPr>
        <p:spPr>
          <a:xfrm>
            <a:off x="438912" y="2889504"/>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Toma el percentil 50 de la distribución de cambios de precio de todos los bienes, ponderado por gasto.</a:t>
            </a:r>
            <a:endParaRPr lang="en-US" sz="950" dirty="0"/>
          </a:p>
        </p:txBody>
      </p:sp>
      <p:sp>
        <p:nvSpPr>
          <p:cNvPr id="16" name="Text 14"/>
          <p:cNvSpPr/>
          <p:nvPr/>
        </p:nvSpPr>
        <p:spPr>
          <a:xfrm>
            <a:off x="3291840" y="2688336"/>
            <a:ext cx="2697480" cy="201168"/>
          </a:xfrm>
          <a:prstGeom prst="rect">
            <a:avLst/>
          </a:prstGeom>
          <a:noFill/>
          <a:ln/>
        </p:spPr>
        <p:txBody>
          <a:bodyPr wrap="square" rtlCol="0" anchor="ctr"/>
          <a:lstStyle/>
          <a:p>
            <a:pPr marL="0" indent="0">
              <a:buNone/>
            </a:pPr>
            <a:r>
              <a:rPr lang="en-US" sz="900" b="1" dirty="0">
                <a:solidFill>
                  <a:srgbClr val="D97706"/>
                </a:solidFill>
              </a:rPr>
              <a:t>Para qué sirve:</a:t>
            </a:r>
            <a:endParaRPr lang="en-US" sz="900" dirty="0"/>
          </a:p>
        </p:txBody>
      </p:sp>
      <p:sp>
        <p:nvSpPr>
          <p:cNvPr id="17" name="Text 15"/>
          <p:cNvSpPr/>
          <p:nvPr/>
        </p:nvSpPr>
        <p:spPr>
          <a:xfrm>
            <a:off x="3291840" y="2889504"/>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Inmune a valores extremos en ambas colas. No requiere elegir qué bienes excluir. Útil cuando la distribución de cambios de precio es asimétrica.</a:t>
            </a:r>
            <a:endParaRPr lang="en-US" sz="950" dirty="0"/>
          </a:p>
        </p:txBody>
      </p:sp>
      <p:sp>
        <p:nvSpPr>
          <p:cNvPr id="18" name="Text 16"/>
          <p:cNvSpPr/>
          <p:nvPr/>
        </p:nvSpPr>
        <p:spPr>
          <a:xfrm>
            <a:off x="6144768" y="2688336"/>
            <a:ext cx="2697480" cy="201168"/>
          </a:xfrm>
          <a:prstGeom prst="rect">
            <a:avLst/>
          </a:prstGeom>
          <a:noFill/>
          <a:ln/>
        </p:spPr>
        <p:txBody>
          <a:bodyPr wrap="square" rtlCol="0" anchor="ctr"/>
          <a:lstStyle/>
          <a:p>
            <a:pPr marL="0" indent="0">
              <a:buNone/>
            </a:pPr>
            <a:r>
              <a:rPr lang="en-US" sz="900" b="1" dirty="0">
                <a:solidFill>
                  <a:srgbClr val="D97706"/>
                </a:solidFill>
              </a:rPr>
              <a:t>Referencia:</a:t>
            </a:r>
            <a:endParaRPr lang="en-US" sz="900" dirty="0"/>
          </a:p>
        </p:txBody>
      </p:sp>
      <p:sp>
        <p:nvSpPr>
          <p:cNvPr id="19" name="Text 17"/>
          <p:cNvSpPr/>
          <p:nvPr/>
        </p:nvSpPr>
        <p:spPr>
          <a:xfrm>
            <a:off x="6144768" y="2889504"/>
            <a:ext cx="2697480" cy="685800"/>
          </a:xfrm>
          <a:prstGeom prst="rect">
            <a:avLst/>
          </a:prstGeom>
          <a:noFill/>
          <a:ln/>
        </p:spPr>
        <p:txBody>
          <a:bodyPr wrap="square" rtlCol="0" anchor="t"/>
          <a:lstStyle/>
          <a:p>
            <a:pPr marL="0" indent="0">
              <a:buNone/>
            </a:pPr>
            <a:r>
              <a:rPr lang="en-US" sz="900" i="1" dirty="0">
                <a:solidFill>
                  <a:srgbClr val="D97706"/>
                </a:solidFill>
                <a:latin typeface="Calibri" pitchFamily="34" charset="0"/>
                <a:ea typeface="Calibri" pitchFamily="34" charset="-122"/>
                <a:cs typeface="Calibri" pitchFamily="34" charset="-120"/>
              </a:rPr>
              <a:t>Bryan &amp; Cecchetti (1993) | Mateos &amp; Gaytán (1998)</a:t>
            </a:r>
            <a:endParaRPr lang="en-US" sz="900" dirty="0"/>
          </a:p>
        </p:txBody>
      </p:sp>
      <p:sp>
        <p:nvSpPr>
          <p:cNvPr id="20" name="Shape 18"/>
          <p:cNvSpPr/>
          <p:nvPr/>
        </p:nvSpPr>
        <p:spPr>
          <a:xfrm>
            <a:off x="292608" y="3712464"/>
            <a:ext cx="8558784" cy="1298448"/>
          </a:xfrm>
          <a:prstGeom prst="roundRect">
            <a:avLst>
              <a:gd name="adj" fmla="val 8451"/>
            </a:avLst>
          </a:prstGeom>
          <a:solidFill>
            <a:srgbClr val="F0FDF4"/>
          </a:solidFill>
          <a:ln/>
          <a:effectLst>
            <a:outerShdw blurRad="50800" dist="25400" dir="2700000" algn="bl" rotWithShape="0">
              <a:srgbClr val="000000">
                <a:alpha val="10000"/>
              </a:srgbClr>
            </a:outerShdw>
          </a:effectLst>
        </p:spPr>
      </p:sp>
      <p:sp>
        <p:nvSpPr>
          <p:cNvPr id="21" name="Text 19"/>
          <p:cNvSpPr/>
          <p:nvPr/>
        </p:nvSpPr>
        <p:spPr>
          <a:xfrm>
            <a:off x="438912" y="3767328"/>
            <a:ext cx="8229600" cy="274320"/>
          </a:xfrm>
          <a:prstGeom prst="rect">
            <a:avLst/>
          </a:prstGeom>
          <a:noFill/>
          <a:ln/>
        </p:spPr>
        <p:txBody>
          <a:bodyPr wrap="square" rtlCol="0" anchor="ctr"/>
          <a:lstStyle/>
          <a:p>
            <a:pPr marL="0" indent="0">
              <a:buNone/>
            </a:pPr>
            <a:r>
              <a:rPr lang="en-US" sz="1300" b="1" dirty="0">
                <a:solidFill>
                  <a:srgbClr val="16A34A"/>
                </a:solidFill>
                <a:latin typeface="Cambria" pitchFamily="34" charset="0"/>
                <a:ea typeface="Cambria" pitchFamily="34" charset="-122"/>
                <a:cs typeface="Cambria" pitchFamily="34" charset="-120"/>
              </a:rPr>
              <a:t>Trimmed Mean Inflation (Media Truncada)</a:t>
            </a:r>
            <a:endParaRPr lang="en-US" sz="1300" dirty="0"/>
          </a:p>
        </p:txBody>
      </p:sp>
      <p:sp>
        <p:nvSpPr>
          <p:cNvPr id="22" name="Text 20"/>
          <p:cNvSpPr/>
          <p:nvPr/>
        </p:nvSpPr>
        <p:spPr>
          <a:xfrm>
            <a:off x="438912" y="4078224"/>
            <a:ext cx="2697480" cy="201168"/>
          </a:xfrm>
          <a:prstGeom prst="rect">
            <a:avLst/>
          </a:prstGeom>
          <a:noFill/>
          <a:ln/>
        </p:spPr>
        <p:txBody>
          <a:bodyPr wrap="square" rtlCol="0" anchor="ctr"/>
          <a:lstStyle/>
          <a:p>
            <a:pPr marL="0" indent="0">
              <a:buNone/>
            </a:pPr>
            <a:r>
              <a:rPr lang="en-US" sz="900" b="1" dirty="0">
                <a:solidFill>
                  <a:srgbClr val="16A34A"/>
                </a:solidFill>
              </a:rPr>
              <a:t>Qué mide:</a:t>
            </a:r>
            <a:endParaRPr lang="en-US" sz="900" dirty="0"/>
          </a:p>
        </p:txBody>
      </p:sp>
      <p:sp>
        <p:nvSpPr>
          <p:cNvPr id="23" name="Text 21"/>
          <p:cNvSpPr/>
          <p:nvPr/>
        </p:nvSpPr>
        <p:spPr>
          <a:xfrm>
            <a:off x="438912" y="4279392"/>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Media de cambios de precio excluyendo simétricamente un % de la distribución en cada cola, en cada quincena.</a:t>
            </a:r>
            <a:endParaRPr lang="en-US" sz="950" dirty="0"/>
          </a:p>
        </p:txBody>
      </p:sp>
      <p:sp>
        <p:nvSpPr>
          <p:cNvPr id="24" name="Text 22"/>
          <p:cNvSpPr/>
          <p:nvPr/>
        </p:nvSpPr>
        <p:spPr>
          <a:xfrm>
            <a:off x="3291840" y="4078224"/>
            <a:ext cx="2697480" cy="201168"/>
          </a:xfrm>
          <a:prstGeom prst="rect">
            <a:avLst/>
          </a:prstGeom>
          <a:noFill/>
          <a:ln/>
        </p:spPr>
        <p:txBody>
          <a:bodyPr wrap="square" rtlCol="0" anchor="ctr"/>
          <a:lstStyle/>
          <a:p>
            <a:pPr marL="0" indent="0">
              <a:buNone/>
            </a:pPr>
            <a:r>
              <a:rPr lang="en-US" sz="900" b="1" dirty="0">
                <a:solidFill>
                  <a:srgbClr val="16A34A"/>
                </a:solidFill>
              </a:rPr>
              <a:t>Para qué sirve:</a:t>
            </a:r>
            <a:endParaRPr lang="en-US" sz="900" dirty="0"/>
          </a:p>
        </p:txBody>
      </p:sp>
      <p:sp>
        <p:nvSpPr>
          <p:cNvPr id="25" name="Text 23"/>
          <p:cNvSpPr/>
          <p:nvPr/>
        </p:nvSpPr>
        <p:spPr>
          <a:xfrm>
            <a:off x="3291840" y="4279392"/>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Más flexible que la mediana: el nivel de truncamiento óptimo se minimiza contra la tendencia. Para México: 5.5% por cola. Controla outliers sin descartar bienes por categoría.</a:t>
            </a:r>
            <a:endParaRPr lang="en-US" sz="950" dirty="0"/>
          </a:p>
        </p:txBody>
      </p:sp>
      <p:sp>
        <p:nvSpPr>
          <p:cNvPr id="26" name="Text 24"/>
          <p:cNvSpPr/>
          <p:nvPr/>
        </p:nvSpPr>
        <p:spPr>
          <a:xfrm>
            <a:off x="6144768" y="4078224"/>
            <a:ext cx="2697480" cy="201168"/>
          </a:xfrm>
          <a:prstGeom prst="rect">
            <a:avLst/>
          </a:prstGeom>
          <a:noFill/>
          <a:ln/>
        </p:spPr>
        <p:txBody>
          <a:bodyPr wrap="square" rtlCol="0" anchor="ctr"/>
          <a:lstStyle/>
          <a:p>
            <a:pPr marL="0" indent="0">
              <a:buNone/>
            </a:pPr>
            <a:r>
              <a:rPr lang="en-US" sz="900" b="1" dirty="0">
                <a:solidFill>
                  <a:srgbClr val="16A34A"/>
                </a:solidFill>
              </a:rPr>
              <a:t>Referencia:</a:t>
            </a:r>
            <a:endParaRPr lang="en-US" sz="900" dirty="0"/>
          </a:p>
        </p:txBody>
      </p:sp>
      <p:sp>
        <p:nvSpPr>
          <p:cNvPr id="27" name="Text 25"/>
          <p:cNvSpPr/>
          <p:nvPr/>
        </p:nvSpPr>
        <p:spPr>
          <a:xfrm>
            <a:off x="6144768" y="4279392"/>
            <a:ext cx="2697480" cy="685800"/>
          </a:xfrm>
          <a:prstGeom prst="rect">
            <a:avLst/>
          </a:prstGeom>
          <a:noFill/>
          <a:ln/>
        </p:spPr>
        <p:txBody>
          <a:bodyPr wrap="square" rtlCol="0" anchor="t"/>
          <a:lstStyle/>
          <a:p>
            <a:pPr marL="0" indent="0">
              <a:buNone/>
            </a:pPr>
            <a:r>
              <a:rPr lang="en-US" sz="900" i="1" dirty="0">
                <a:solidFill>
                  <a:srgbClr val="16A34A"/>
                </a:solidFill>
                <a:latin typeface="Calibri" pitchFamily="34" charset="0"/>
                <a:ea typeface="Calibri" pitchFamily="34" charset="-122"/>
                <a:cs typeface="Calibri" pitchFamily="34" charset="-120"/>
              </a:rPr>
              <a:t>Bryan, Cecchetti &amp; Wiggins (1997) | Mateos &amp; Gaytán (1998)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endParaRPr lang="en-US" sz="2200" dirty="0"/>
          </a:p>
        </p:txBody>
      </p:sp>
      <p:sp>
        <p:nvSpPr>
          <p:cNvPr id="28" name="Text 1">
            <a:extLst>
              <a:ext uri="{FF2B5EF4-FFF2-40B4-BE49-F238E27FC236}">
                <a16:creationId xmlns:a16="http://schemas.microsoft.com/office/drawing/2014/main" id="{C97C2982-B9CC-F14C-B600-9D5550B1B7CB}"/>
              </a:ext>
            </a:extLst>
          </p:cNvPr>
          <p:cNvSpPr/>
          <p:nvPr/>
        </p:nvSpPr>
        <p:spPr>
          <a:xfrm>
            <a:off x="275564" y="0"/>
            <a:ext cx="8412480" cy="841248"/>
          </a:xfrm>
          <a:prstGeom prst="rect">
            <a:avLst/>
          </a:prstGeom>
          <a:noFill/>
          <a:ln/>
        </p:spPr>
        <p:txBody>
          <a:bodyPr wrap="square" lIns="0" tIns="0" rIns="0" bIns="0" rtlCol="0" anchor="ctr"/>
          <a:lstStyle/>
          <a:p>
            <a:pPr marL="0" indent="0">
              <a:buNone/>
            </a:pPr>
            <a:r>
              <a:rPr lang="en-US" sz="2200" b="1" dirty="0" err="1">
                <a:solidFill>
                  <a:srgbClr val="FFFFFF"/>
                </a:solidFill>
                <a:latin typeface="Cambria" pitchFamily="34" charset="0"/>
                <a:ea typeface="Cambria" pitchFamily="34" charset="-122"/>
                <a:cs typeface="Cambria" pitchFamily="34" charset="-120"/>
              </a:rPr>
              <a:t>Inflación</a:t>
            </a:r>
            <a:r>
              <a:rPr lang="en-US" sz="2200" b="1" dirty="0">
                <a:solidFill>
                  <a:srgbClr val="FFFFFF"/>
                </a:solidFill>
                <a:latin typeface="Cambria" pitchFamily="34" charset="0"/>
                <a:ea typeface="Cambria" pitchFamily="34" charset="-122"/>
                <a:cs typeface="Cambria" pitchFamily="34" charset="-120"/>
              </a:rPr>
              <a:t> </a:t>
            </a:r>
            <a:r>
              <a:rPr lang="en-US" sz="2200" b="1" dirty="0" err="1">
                <a:solidFill>
                  <a:srgbClr val="FFFFFF"/>
                </a:solidFill>
                <a:latin typeface="Cambria" pitchFamily="34" charset="0"/>
                <a:ea typeface="Cambria" pitchFamily="34" charset="-122"/>
                <a:cs typeface="Cambria" pitchFamily="34" charset="-120"/>
              </a:rPr>
              <a:t>en</a:t>
            </a:r>
            <a:r>
              <a:rPr lang="en-US" sz="2200" b="1" dirty="0">
                <a:solidFill>
                  <a:srgbClr val="FFFFFF"/>
                </a:solidFill>
                <a:latin typeface="Cambria" pitchFamily="34" charset="0"/>
                <a:ea typeface="Cambria" pitchFamily="34" charset="-122"/>
                <a:cs typeface="Cambria" pitchFamily="34" charset="-120"/>
              </a:rPr>
              <a:t> México</a:t>
            </a:r>
            <a:endParaRPr lang="en-US" sz="2200" dirty="0"/>
          </a:p>
        </p:txBody>
      </p:sp>
      <p:pic>
        <p:nvPicPr>
          <p:cNvPr id="30" name="Imagen 29">
            <a:extLst>
              <a:ext uri="{FF2B5EF4-FFF2-40B4-BE49-F238E27FC236}">
                <a16:creationId xmlns:a16="http://schemas.microsoft.com/office/drawing/2014/main" id="{CA715F01-982F-0441-B39B-7C8ADE55F3C6}"/>
              </a:ext>
            </a:extLst>
          </p:cNvPr>
          <p:cNvPicPr>
            <a:picLocks noChangeAspect="1"/>
          </p:cNvPicPr>
          <p:nvPr/>
        </p:nvPicPr>
        <p:blipFill>
          <a:blip r:embed="rId3"/>
          <a:stretch>
            <a:fillRect/>
          </a:stretch>
        </p:blipFill>
        <p:spPr>
          <a:xfrm>
            <a:off x="199053" y="1177053"/>
            <a:ext cx="8579187" cy="3668853"/>
          </a:xfrm>
          <a:prstGeom prst="rect">
            <a:avLst/>
          </a:prstGeom>
        </p:spPr>
      </p:pic>
    </p:spTree>
    <p:extLst>
      <p:ext uri="{BB962C8B-B14F-4D97-AF65-F5344CB8AC3E}">
        <p14:creationId xmlns:p14="http://schemas.microsoft.com/office/powerpoint/2010/main" val="242441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Índices de Precios en México</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8595360" cy="3931920"/>
        </p:xfrm>
        <a:graphic>
          <a:graphicData uri="http://schemas.openxmlformats.org/drawingml/2006/table">
            <a:tbl>
              <a:tblPr/>
              <a:tblGrid>
                <a:gridCol w="8229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786384">
                <a:tc>
                  <a:txBody>
                    <a:bodyPr/>
                    <a:lstStyle/>
                    <a:p>
                      <a:pPr marL="0" indent="0">
                        <a:buNone/>
                      </a:pPr>
                      <a:r>
                        <a:rPr lang="en-US" sz="1100" b="1" dirty="0">
                          <a:solidFill>
                            <a:srgbClr val="FFFFFF"/>
                          </a:solidFill>
                        </a:rPr>
                        <a:t>Índice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100" b="1" dirty="0">
                          <a:solidFill>
                            <a:srgbClr val="FFFFFF"/>
                          </a:solidFill>
                        </a:rPr>
                        <a:t>Nombre completo</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100" b="1" dirty="0">
                          <a:solidFill>
                            <a:srgbClr val="FFFFFF"/>
                          </a:solidFill>
                        </a:rPr>
                        <a:t>Qué mide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100" b="1" dirty="0">
                          <a:solidFill>
                            <a:srgbClr val="FFFFFF"/>
                          </a:solidFill>
                        </a:rPr>
                        <a:t>Uso principal</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100" b="1" dirty="0">
                          <a:solidFill>
                            <a:srgbClr val="FFFFFF"/>
                          </a:solidFill>
                        </a:rPr>
                        <a:t>Responsable / freq.</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786384">
                <a:tc>
                  <a:txBody>
                    <a:bodyPr/>
                    <a:lstStyle/>
                    <a:p>
                      <a:pPr marL="0" indent="0">
                        <a:buNone/>
                      </a:pPr>
                      <a:r>
                        <a:rPr lang="en-US" sz="1000" dirty="0">
                          <a:solidFill>
                            <a:srgbClr val="1E293B"/>
                          </a:solidFill>
                        </a:rPr>
                        <a:t>INPC</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Índice Nacional de Precios al Consumidor</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Canasta de consumo de hogares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Inflación al consumidor. Uso oficial, legal y política monetaria</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INEGI — quincenal</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786384">
                <a:tc>
                  <a:txBody>
                    <a:bodyPr/>
                    <a:lstStyle/>
                    <a:p>
                      <a:pPr marL="0" indent="0">
                        <a:buNone/>
                      </a:pPr>
                      <a:r>
                        <a:rPr lang="en-US" sz="1000" dirty="0">
                          <a:solidFill>
                            <a:srgbClr val="1E293B"/>
                          </a:solidFill>
                        </a:rPr>
                        <a:t>INPP</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Índice Nacional de Precios Productor</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Bienes producidos en México para consumo interno y exportación</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Evolución de precios desde el productor; señal de inflación futura</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INEGI — mensual</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86384">
                <a:tc>
                  <a:txBody>
                    <a:bodyPr/>
                    <a:lstStyle/>
                    <a:p>
                      <a:pPr marL="0" indent="0">
                        <a:buNone/>
                      </a:pPr>
                      <a:r>
                        <a:rPr lang="en-US" sz="1000" dirty="0">
                          <a:solidFill>
                            <a:srgbClr val="1E293B"/>
                          </a:solidFill>
                        </a:rPr>
                        <a:t>INPC-CE</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Índice de Precios Comercio Exterior</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Bienes importados y exportados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Variaciones en términos de intercambio; presiones inflacionarias importadas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INEGI — mensual</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786384">
                <a:tc>
                  <a:txBody>
                    <a:bodyPr/>
                    <a:lstStyle/>
                    <a:p>
                      <a:pPr marL="0" indent="0">
                        <a:buNone/>
                      </a:pPr>
                      <a:r>
                        <a:rPr lang="en-US" sz="1000" dirty="0">
                          <a:solidFill>
                            <a:srgbClr val="1E293B"/>
                          </a:solidFill>
                        </a:rPr>
                        <a:t>INPP Sectoriales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Índices sectoriales del INPP (manufactura, agropecuario, servicios…)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Bienes y servicios de un sector económico específico</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Análisis de costos y competitividad sectorial</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INEGI — mensual</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¿Por qué el INPC es el Medidor Principal de Inflación?</a:t>
            </a:r>
            <a:endParaRPr lang="en-US" sz="2200" dirty="0"/>
          </a:p>
        </p:txBody>
      </p:sp>
      <p:sp>
        <p:nvSpPr>
          <p:cNvPr id="4" name="Shape 2"/>
          <p:cNvSpPr/>
          <p:nvPr/>
        </p:nvSpPr>
        <p:spPr>
          <a:xfrm>
            <a:off x="320040" y="960120"/>
            <a:ext cx="8503920" cy="914400"/>
          </a:xfrm>
          <a:prstGeom prst="roundRect">
            <a:avLst>
              <a:gd name="adj" fmla="val 12000"/>
            </a:avLst>
          </a:prstGeom>
          <a:solidFill>
            <a:srgbClr val="EEF2FF"/>
          </a:solidFill>
          <a:ln/>
          <a:effectLst>
            <a:outerShdw blurRad="50800" dist="25400" dir="2700000" algn="bl" rotWithShape="0">
              <a:srgbClr val="000000">
                <a:alpha val="10000"/>
              </a:srgbClr>
            </a:outerShdw>
          </a:effectLst>
        </p:spPr>
      </p:sp>
      <p:sp>
        <p:nvSpPr>
          <p:cNvPr id="5" name="Text 3"/>
          <p:cNvSpPr/>
          <p:nvPr/>
        </p:nvSpPr>
        <p:spPr>
          <a:xfrm>
            <a:off x="475488" y="1005840"/>
            <a:ext cx="8229600" cy="594360"/>
          </a:xfrm>
          <a:prstGeom prst="rect">
            <a:avLst/>
          </a:prstGeom>
          <a:noFill/>
          <a:ln/>
        </p:spPr>
        <p:txBody>
          <a:bodyPr wrap="square" rtlCol="0" anchor="ctr"/>
          <a:lstStyle/>
          <a:p>
            <a:pPr marL="0" indent="0">
              <a:buNone/>
            </a:pPr>
            <a:r>
              <a:rPr lang="en-US" sz="1150" i="1" dirty="0">
                <a:solidFill>
                  <a:srgbClr val="1A2F5A"/>
                </a:solidFill>
                <a:latin typeface="Calibri" pitchFamily="34" charset="0"/>
                <a:ea typeface="Calibri" pitchFamily="34" charset="-122"/>
                <a:cs typeface="Calibri" pitchFamily="34" charset="-120"/>
              </a:rPr>
              <a:t>"El INPC es el indicador oficial para la medición de la inflación en todo el país, y su uso es obligatorio como Información de Interés Nacional de acuerdo con la Ley del SNIEG."</a:t>
            </a:r>
            <a:endParaRPr lang="en-US" sz="1150" dirty="0"/>
          </a:p>
        </p:txBody>
      </p:sp>
      <p:sp>
        <p:nvSpPr>
          <p:cNvPr id="6" name="Text 4"/>
          <p:cNvSpPr/>
          <p:nvPr/>
        </p:nvSpPr>
        <p:spPr>
          <a:xfrm>
            <a:off x="475488" y="1664208"/>
            <a:ext cx="8229600" cy="164592"/>
          </a:xfrm>
          <a:prstGeom prst="rect">
            <a:avLst/>
          </a:prstGeom>
          <a:noFill/>
          <a:ln/>
        </p:spPr>
        <p:txBody>
          <a:bodyPr wrap="square" rtlCol="0" anchor="ctr"/>
          <a:lstStyle/>
          <a:p>
            <a:pPr marL="0" indent="0">
              <a:buNone/>
            </a:pPr>
            <a:r>
              <a:rPr lang="en-US" sz="850" i="1" dirty="0">
                <a:solidFill>
                  <a:srgbClr val="64748B"/>
                </a:solidFill>
              </a:rPr>
              <a:t>INEGI. Documento metodológico INPC 2024, p. 8</a:t>
            </a:r>
            <a:endParaRPr lang="en-US" sz="850" dirty="0"/>
          </a:p>
        </p:txBody>
      </p:sp>
      <p:sp>
        <p:nvSpPr>
          <p:cNvPr id="7" name="Shape 5"/>
          <p:cNvSpPr/>
          <p:nvPr/>
        </p:nvSpPr>
        <p:spPr>
          <a:xfrm>
            <a:off x="320040" y="1965960"/>
            <a:ext cx="4279392" cy="1298448"/>
          </a:xfrm>
          <a:prstGeom prst="roundRect">
            <a:avLst>
              <a:gd name="adj" fmla="val 8451"/>
            </a:avLst>
          </a:prstGeom>
          <a:solidFill>
            <a:srgbClr val="EEF2FF"/>
          </a:solidFill>
          <a:ln/>
          <a:effectLst>
            <a:outerShdw blurRad="50800" dist="25400" dir="2700000" algn="bl" rotWithShape="0">
              <a:srgbClr val="000000">
                <a:alpha val="10000"/>
              </a:srgbClr>
            </a:outerShdw>
          </a:effectLst>
        </p:spPr>
      </p:sp>
      <p:sp>
        <p:nvSpPr>
          <p:cNvPr id="8" name="Text 6"/>
          <p:cNvSpPr/>
          <p:nvPr/>
        </p:nvSpPr>
        <p:spPr>
          <a:xfrm>
            <a:off x="457200" y="2039112"/>
            <a:ext cx="4023360" cy="274320"/>
          </a:xfrm>
          <a:prstGeom prst="rect">
            <a:avLst/>
          </a:prstGeom>
          <a:noFill/>
          <a:ln/>
        </p:spPr>
        <p:txBody>
          <a:bodyPr wrap="square" rtlCol="0" anchor="ctr"/>
          <a:lstStyle/>
          <a:p>
            <a:pPr marL="0" indent="0">
              <a:buNone/>
            </a:pPr>
            <a:r>
              <a:rPr lang="en-US" sz="1200" b="1" dirty="0">
                <a:solidFill>
                  <a:srgbClr val="1A2F5A"/>
                </a:solidFill>
                <a:latin typeface="Cambria" pitchFamily="34" charset="0"/>
                <a:ea typeface="Cambria" pitchFamily="34" charset="-122"/>
                <a:cs typeface="Cambria" pitchFamily="34" charset="-120"/>
              </a:rPr>
              <a:t>Mide el costo de vida del ciudadano</a:t>
            </a:r>
            <a:endParaRPr lang="en-US" sz="1200" dirty="0"/>
          </a:p>
        </p:txBody>
      </p:sp>
      <p:sp>
        <p:nvSpPr>
          <p:cNvPr id="9" name="Text 7"/>
          <p:cNvSpPr/>
          <p:nvPr/>
        </p:nvSpPr>
        <p:spPr>
          <a:xfrm>
            <a:off x="457200" y="2368296"/>
            <a:ext cx="4023360" cy="841248"/>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Rastrea los bienes y servicios que compran los hogares reales, no los productores. Conecta directamente con el bienestar familiar.</a:t>
            </a:r>
            <a:endParaRPr lang="en-US" sz="1000" dirty="0"/>
          </a:p>
        </p:txBody>
      </p:sp>
      <p:sp>
        <p:nvSpPr>
          <p:cNvPr id="10" name="Shape 8"/>
          <p:cNvSpPr/>
          <p:nvPr/>
        </p:nvSpPr>
        <p:spPr>
          <a:xfrm>
            <a:off x="4727448" y="1965960"/>
            <a:ext cx="4279392" cy="1298448"/>
          </a:xfrm>
          <a:prstGeom prst="roundRect">
            <a:avLst>
              <a:gd name="adj" fmla="val 8451"/>
            </a:avLst>
          </a:prstGeom>
          <a:solidFill>
            <a:srgbClr val="E0F7F5"/>
          </a:solidFill>
          <a:ln/>
          <a:effectLst>
            <a:outerShdw blurRad="50800" dist="25400" dir="2700000" algn="bl" rotWithShape="0">
              <a:srgbClr val="000000">
                <a:alpha val="10000"/>
              </a:srgbClr>
            </a:outerShdw>
          </a:effectLst>
        </p:spPr>
      </p:sp>
      <p:sp>
        <p:nvSpPr>
          <p:cNvPr id="11" name="Text 9"/>
          <p:cNvSpPr/>
          <p:nvPr/>
        </p:nvSpPr>
        <p:spPr>
          <a:xfrm>
            <a:off x="4864608" y="2039112"/>
            <a:ext cx="4023360" cy="274320"/>
          </a:xfrm>
          <a:prstGeom prst="rect">
            <a:avLst/>
          </a:prstGeom>
          <a:noFill/>
          <a:ln/>
        </p:spPr>
        <p:txBody>
          <a:bodyPr wrap="square" rtlCol="0" anchor="ctr"/>
          <a:lstStyle/>
          <a:p>
            <a:pPr marL="0" indent="0">
              <a:buNone/>
            </a:pPr>
            <a:r>
              <a:rPr lang="en-US" sz="1200" b="1" dirty="0">
                <a:solidFill>
                  <a:srgbClr val="0B7A75"/>
                </a:solidFill>
                <a:latin typeface="Cambria" pitchFamily="34" charset="0"/>
                <a:ea typeface="Cambria" pitchFamily="34" charset="-122"/>
                <a:cs typeface="Cambria" pitchFamily="34" charset="-120"/>
              </a:rPr>
              <a:t>Mandato legal explícito</a:t>
            </a:r>
            <a:endParaRPr lang="en-US" sz="1200" dirty="0"/>
          </a:p>
        </p:txBody>
      </p:sp>
      <p:sp>
        <p:nvSpPr>
          <p:cNvPr id="12" name="Text 10"/>
          <p:cNvSpPr/>
          <p:nvPr/>
        </p:nvSpPr>
        <p:spPr>
          <a:xfrm>
            <a:off x="4864608" y="2368296"/>
            <a:ext cx="4023360" cy="841248"/>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El Art. 20-Bis del Código Fiscal de la Federación define su metodología, cobertura mínima y frecuencia. Ningún otro índice tiene este rango legal.</a:t>
            </a:r>
            <a:endParaRPr lang="en-US" sz="1000" dirty="0"/>
          </a:p>
        </p:txBody>
      </p:sp>
      <p:sp>
        <p:nvSpPr>
          <p:cNvPr id="13" name="Shape 11"/>
          <p:cNvSpPr/>
          <p:nvPr/>
        </p:nvSpPr>
        <p:spPr>
          <a:xfrm>
            <a:off x="320040" y="3383280"/>
            <a:ext cx="4279392" cy="1298448"/>
          </a:xfrm>
          <a:prstGeom prst="roundRect">
            <a:avLst>
              <a:gd name="adj" fmla="val 8451"/>
            </a:avLst>
          </a:prstGeom>
          <a:solidFill>
            <a:srgbClr val="F5F3FF"/>
          </a:solidFill>
          <a:ln/>
          <a:effectLst>
            <a:outerShdw blurRad="50800" dist="25400" dir="2700000" algn="bl" rotWithShape="0">
              <a:srgbClr val="000000">
                <a:alpha val="10000"/>
              </a:srgbClr>
            </a:outerShdw>
          </a:effectLst>
        </p:spPr>
      </p:sp>
      <p:sp>
        <p:nvSpPr>
          <p:cNvPr id="14" name="Text 12"/>
          <p:cNvSpPr/>
          <p:nvPr/>
        </p:nvSpPr>
        <p:spPr>
          <a:xfrm>
            <a:off x="457200" y="3456432"/>
            <a:ext cx="4023360" cy="274320"/>
          </a:xfrm>
          <a:prstGeom prst="rect">
            <a:avLst/>
          </a:prstGeom>
          <a:noFill/>
          <a:ln/>
        </p:spPr>
        <p:txBody>
          <a:bodyPr wrap="square" rtlCol="0" anchor="ctr"/>
          <a:lstStyle/>
          <a:p>
            <a:pPr marL="0" indent="0">
              <a:buNone/>
            </a:pPr>
            <a:r>
              <a:rPr lang="en-US" sz="1200" b="1" dirty="0">
                <a:solidFill>
                  <a:srgbClr val="7C3AED"/>
                </a:solidFill>
                <a:latin typeface="Cambria" pitchFamily="34" charset="0"/>
                <a:ea typeface="Cambria" pitchFamily="34" charset="-122"/>
                <a:cs typeface="Cambria" pitchFamily="34" charset="-120"/>
              </a:rPr>
              <a:t>Uso transversal en la economía</a:t>
            </a:r>
            <a:endParaRPr lang="en-US" sz="1200" dirty="0"/>
          </a:p>
        </p:txBody>
      </p:sp>
      <p:sp>
        <p:nvSpPr>
          <p:cNvPr id="15" name="Text 13"/>
          <p:cNvSpPr/>
          <p:nvPr/>
        </p:nvSpPr>
        <p:spPr>
          <a:xfrm>
            <a:off x="457200" y="3785616"/>
            <a:ext cx="4023360" cy="841248"/>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Actualiza la UMA, las UDI, créditos fiscales, salarios, jubilaciones, contratos privados, bonos y el Sistema de Cuentas Nacionales.</a:t>
            </a:r>
            <a:endParaRPr lang="en-US" sz="1000" dirty="0"/>
          </a:p>
        </p:txBody>
      </p:sp>
      <p:sp>
        <p:nvSpPr>
          <p:cNvPr id="16" name="Shape 14"/>
          <p:cNvSpPr/>
          <p:nvPr/>
        </p:nvSpPr>
        <p:spPr>
          <a:xfrm>
            <a:off x="4727448" y="3383280"/>
            <a:ext cx="4279392" cy="1298448"/>
          </a:xfrm>
          <a:prstGeom prst="roundRect">
            <a:avLst>
              <a:gd name="adj" fmla="val 8451"/>
            </a:avLst>
          </a:prstGeom>
          <a:solidFill>
            <a:srgbClr val="FFFBEB"/>
          </a:solidFill>
          <a:ln/>
          <a:effectLst>
            <a:outerShdw blurRad="50800" dist="25400" dir="2700000" algn="bl" rotWithShape="0">
              <a:srgbClr val="000000">
                <a:alpha val="10000"/>
              </a:srgbClr>
            </a:outerShdw>
          </a:effectLst>
        </p:spPr>
      </p:sp>
      <p:sp>
        <p:nvSpPr>
          <p:cNvPr id="17" name="Text 15"/>
          <p:cNvSpPr/>
          <p:nvPr/>
        </p:nvSpPr>
        <p:spPr>
          <a:xfrm>
            <a:off x="4864608" y="3456432"/>
            <a:ext cx="4023360" cy="274320"/>
          </a:xfrm>
          <a:prstGeom prst="rect">
            <a:avLst/>
          </a:prstGeom>
          <a:noFill/>
          <a:ln/>
        </p:spPr>
        <p:txBody>
          <a:bodyPr wrap="square" rtlCol="0" anchor="ctr"/>
          <a:lstStyle/>
          <a:p>
            <a:pPr marL="0" indent="0">
              <a:buNone/>
            </a:pPr>
            <a:r>
              <a:rPr lang="en-US" sz="1200" b="1" dirty="0">
                <a:solidFill>
                  <a:srgbClr val="D97706"/>
                </a:solidFill>
                <a:latin typeface="Cambria" pitchFamily="34" charset="0"/>
                <a:ea typeface="Cambria" pitchFamily="34" charset="-122"/>
                <a:cs typeface="Cambria" pitchFamily="34" charset="-120"/>
              </a:rPr>
              <a:t>Comparabilidad internacional</a:t>
            </a:r>
            <a:endParaRPr lang="en-US" sz="1200" dirty="0"/>
          </a:p>
        </p:txBody>
      </p:sp>
      <p:sp>
        <p:nvSpPr>
          <p:cNvPr id="18" name="Text 16"/>
          <p:cNvSpPr/>
          <p:nvPr/>
        </p:nvSpPr>
        <p:spPr>
          <a:xfrm>
            <a:off x="4864608" y="3785616"/>
            <a:ext cx="4023360" cy="841248"/>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Metodología alineada al Manual ILO/IMF/OCDE 2020. Permite comparar la inflación mexicana con la de otros países.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70408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Midiendo la inflación con datos del INEGI</a:t>
            </a:r>
            <a:endParaRPr lang="en-US" sz="2200" dirty="0"/>
          </a:p>
        </p:txBody>
      </p:sp>
      <p:sp>
        <p:nvSpPr>
          <p:cNvPr id="4" name="Shape 2"/>
          <p:cNvSpPr/>
          <p:nvPr/>
        </p:nvSpPr>
        <p:spPr>
          <a:xfrm>
            <a:off x="7498080" y="256032"/>
            <a:ext cx="1280160" cy="338328"/>
          </a:xfrm>
          <a:prstGeom prst="roundRect">
            <a:avLst>
              <a:gd name="adj" fmla="val 48649"/>
            </a:avLst>
          </a:prstGeom>
          <a:solidFill>
            <a:srgbClr val="D97706"/>
          </a:solidFill>
          <a:ln/>
        </p:spPr>
      </p:sp>
      <p:sp>
        <p:nvSpPr>
          <p:cNvPr id="5" name="Text 3"/>
          <p:cNvSpPr/>
          <p:nvPr/>
        </p:nvSpPr>
        <p:spPr>
          <a:xfrm>
            <a:off x="7498080" y="256032"/>
            <a:ext cx="1280160" cy="33832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ACTIVIDAD 1</a:t>
            </a:r>
            <a:endParaRPr lang="en-US" sz="1050" dirty="0"/>
          </a:p>
        </p:txBody>
      </p:sp>
      <p:sp>
        <p:nvSpPr>
          <p:cNvPr id="6" name="Shape 4"/>
          <p:cNvSpPr/>
          <p:nvPr/>
        </p:nvSpPr>
        <p:spPr>
          <a:xfrm>
            <a:off x="365760" y="950976"/>
            <a:ext cx="5577840" cy="530352"/>
          </a:xfrm>
          <a:prstGeom prst="roundRect">
            <a:avLst>
              <a:gd name="adj" fmla="val 10345"/>
            </a:avLst>
          </a:prstGeom>
          <a:solidFill>
            <a:srgbClr val="E0F7F5"/>
          </a:solidFill>
          <a:ln/>
        </p:spPr>
      </p:sp>
      <p:sp>
        <p:nvSpPr>
          <p:cNvPr id="7" name="Text 5"/>
          <p:cNvSpPr/>
          <p:nvPr/>
        </p:nvSpPr>
        <p:spPr>
          <a:xfrm>
            <a:off x="502920" y="950976"/>
            <a:ext cx="5349240" cy="530352"/>
          </a:xfrm>
          <a:prstGeom prst="rect">
            <a:avLst/>
          </a:prstGeom>
          <a:noFill/>
          <a:ln/>
        </p:spPr>
        <p:txBody>
          <a:bodyPr wrap="square" lIns="0" tIns="0" rIns="0" bIns="0" rtlCol="0" anchor="ctr"/>
          <a:lstStyle/>
          <a:p>
            <a:pPr marL="0" indent="0">
              <a:buNone/>
            </a:pPr>
            <a:r>
              <a:rPr lang="en-US" sz="1000" b="1" dirty="0">
                <a:solidFill>
                  <a:srgbClr val="0B7A75"/>
                </a:solidFill>
                <a:latin typeface="Calibri" pitchFamily="34" charset="0"/>
                <a:ea typeface="Calibri" pitchFamily="34" charset="-122"/>
                <a:cs typeface="Calibri" pitchFamily="34" charset="-120"/>
              </a:rPr>
              <a:t>Objetivo: </a:t>
            </a:r>
            <a:r>
              <a:rPr lang="en-US" sz="1000" dirty="0">
                <a:solidFill>
                  <a:srgbClr val="1E293B"/>
                </a:solidFill>
                <a:latin typeface="Calibri" pitchFamily="34" charset="0"/>
                <a:ea typeface="Calibri" pitchFamily="34" charset="-122"/>
                <a:cs typeface="Calibri" pitchFamily="34" charset="-120"/>
              </a:rPr>
              <a:t>calcular y comparar las medidas oficiales de inflación de México a partir de los índices que publica el INEGI.</a:t>
            </a:r>
            <a:endParaRPr lang="en-US" sz="1000" dirty="0"/>
          </a:p>
        </p:txBody>
      </p:sp>
      <p:sp>
        <p:nvSpPr>
          <p:cNvPr id="8" name="Shape 6"/>
          <p:cNvSpPr/>
          <p:nvPr/>
        </p:nvSpPr>
        <p:spPr>
          <a:xfrm>
            <a:off x="365760" y="1591056"/>
            <a:ext cx="5577840" cy="786384"/>
          </a:xfrm>
          <a:prstGeom prst="roundRect">
            <a:avLst>
              <a:gd name="adj" fmla="val 6977"/>
            </a:avLst>
          </a:prstGeom>
          <a:solidFill>
            <a:srgbClr val="EEF2FF"/>
          </a:solidFill>
          <a:ln/>
        </p:spPr>
      </p:sp>
      <p:sp>
        <p:nvSpPr>
          <p:cNvPr id="9" name="Shape 7"/>
          <p:cNvSpPr/>
          <p:nvPr/>
        </p:nvSpPr>
        <p:spPr>
          <a:xfrm>
            <a:off x="493776" y="1682496"/>
            <a:ext cx="256032" cy="256032"/>
          </a:xfrm>
          <a:prstGeom prst="ellipse">
            <a:avLst/>
          </a:prstGeom>
          <a:solidFill>
            <a:srgbClr val="1A2F5A"/>
          </a:solidFill>
          <a:ln/>
        </p:spPr>
      </p:sp>
      <p:sp>
        <p:nvSpPr>
          <p:cNvPr id="10" name="Text 8"/>
          <p:cNvSpPr/>
          <p:nvPr/>
        </p:nvSpPr>
        <p:spPr>
          <a:xfrm>
            <a:off x="493776" y="168249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841248" y="1645920"/>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Descarga los datos</a:t>
            </a:r>
            <a:endParaRPr lang="en-US" sz="1150" dirty="0"/>
          </a:p>
        </p:txBody>
      </p:sp>
      <p:sp>
        <p:nvSpPr>
          <p:cNvPr id="12" name="Text 10"/>
          <p:cNvSpPr/>
          <p:nvPr/>
        </p:nvSpPr>
        <p:spPr>
          <a:xfrm>
            <a:off x="841248" y="1920240"/>
            <a:ext cx="4974336" cy="384048"/>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Obtén del INEGI el índice general, el subyacente, el no subyacente y el INPP (Índice Nacional de Precios al Productor), de agosto 2023 a mayo 2026.</a:t>
            </a:r>
            <a:endParaRPr lang="en-US" sz="900" dirty="0"/>
          </a:p>
        </p:txBody>
      </p:sp>
      <p:sp>
        <p:nvSpPr>
          <p:cNvPr id="13" name="Shape 11"/>
          <p:cNvSpPr/>
          <p:nvPr/>
        </p:nvSpPr>
        <p:spPr>
          <a:xfrm>
            <a:off x="365760" y="2468880"/>
            <a:ext cx="5577840" cy="658368"/>
          </a:xfrm>
          <a:prstGeom prst="roundRect">
            <a:avLst>
              <a:gd name="adj" fmla="val 8333"/>
            </a:avLst>
          </a:prstGeom>
          <a:solidFill>
            <a:srgbClr val="EEF2FF"/>
          </a:solidFill>
          <a:ln/>
        </p:spPr>
      </p:sp>
      <p:sp>
        <p:nvSpPr>
          <p:cNvPr id="14" name="Shape 12"/>
          <p:cNvSpPr/>
          <p:nvPr/>
        </p:nvSpPr>
        <p:spPr>
          <a:xfrm>
            <a:off x="493776" y="2560320"/>
            <a:ext cx="256032" cy="256032"/>
          </a:xfrm>
          <a:prstGeom prst="ellipse">
            <a:avLst/>
          </a:prstGeom>
          <a:solidFill>
            <a:srgbClr val="1A2F5A"/>
          </a:solidFill>
          <a:ln/>
        </p:spPr>
      </p:sp>
      <p:sp>
        <p:nvSpPr>
          <p:cNvPr id="15" name="Text 13"/>
          <p:cNvSpPr/>
          <p:nvPr/>
        </p:nvSpPr>
        <p:spPr>
          <a:xfrm>
            <a:off x="493776" y="256032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p:nvPr/>
        </p:nvSpPr>
        <p:spPr>
          <a:xfrm>
            <a:off x="841248" y="2523744"/>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Calcula la inflación anual de las cuatro series</a:t>
            </a:r>
            <a:endParaRPr lang="en-US" sz="1150" dirty="0"/>
          </a:p>
        </p:txBody>
      </p:sp>
      <p:sp>
        <p:nvSpPr>
          <p:cNvPr id="17" name="Text 15"/>
          <p:cNvSpPr/>
          <p:nvPr/>
        </p:nvSpPr>
        <p:spPr>
          <a:xfrm>
            <a:off x="841248" y="2798064"/>
            <a:ext cx="4974336" cy="256032"/>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Variación porcentual de cada índice contra el mismo mes del año anterior.</a:t>
            </a:r>
            <a:endParaRPr lang="en-US" sz="900" dirty="0"/>
          </a:p>
        </p:txBody>
      </p:sp>
      <p:sp>
        <p:nvSpPr>
          <p:cNvPr id="18" name="Shape 16"/>
          <p:cNvSpPr/>
          <p:nvPr/>
        </p:nvSpPr>
        <p:spPr>
          <a:xfrm>
            <a:off x="365760" y="3218688"/>
            <a:ext cx="5577840" cy="749808"/>
          </a:xfrm>
          <a:prstGeom prst="roundRect">
            <a:avLst>
              <a:gd name="adj" fmla="val 7317"/>
            </a:avLst>
          </a:prstGeom>
          <a:solidFill>
            <a:srgbClr val="EEF2FF"/>
          </a:solidFill>
          <a:ln/>
        </p:spPr>
      </p:sp>
      <p:sp>
        <p:nvSpPr>
          <p:cNvPr id="19" name="Shape 17"/>
          <p:cNvSpPr/>
          <p:nvPr/>
        </p:nvSpPr>
        <p:spPr>
          <a:xfrm>
            <a:off x="493776" y="3310128"/>
            <a:ext cx="256032" cy="256032"/>
          </a:xfrm>
          <a:prstGeom prst="ellipse">
            <a:avLst/>
          </a:prstGeom>
          <a:solidFill>
            <a:srgbClr val="1A2F5A"/>
          </a:solidFill>
          <a:ln/>
        </p:spPr>
      </p:sp>
      <p:sp>
        <p:nvSpPr>
          <p:cNvPr id="20" name="Text 18"/>
          <p:cNvSpPr/>
          <p:nvPr/>
        </p:nvSpPr>
        <p:spPr>
          <a:xfrm>
            <a:off x="493776" y="331012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841248" y="3273552"/>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Grafica el comportamiento temporal</a:t>
            </a:r>
            <a:endParaRPr lang="en-US" sz="1150" dirty="0"/>
          </a:p>
        </p:txBody>
      </p:sp>
      <p:sp>
        <p:nvSpPr>
          <p:cNvPr id="22" name="Text 20"/>
          <p:cNvSpPr/>
          <p:nvPr/>
        </p:nvSpPr>
        <p:spPr>
          <a:xfrm>
            <a:off x="841248" y="3547872"/>
            <a:ext cx="4974336" cy="347472"/>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Las cuatro series de agosto 2024 a mayo 2026 en un mismo panel, con el objetivo de Banxico como referencia.</a:t>
            </a:r>
            <a:endParaRPr lang="en-US" sz="900" dirty="0"/>
          </a:p>
        </p:txBody>
      </p:sp>
      <p:sp>
        <p:nvSpPr>
          <p:cNvPr id="23" name="Shape 21"/>
          <p:cNvSpPr/>
          <p:nvPr/>
        </p:nvSpPr>
        <p:spPr>
          <a:xfrm>
            <a:off x="365760" y="4059936"/>
            <a:ext cx="5577840" cy="1042416"/>
          </a:xfrm>
          <a:prstGeom prst="roundRect">
            <a:avLst>
              <a:gd name="adj" fmla="val 5263"/>
            </a:avLst>
          </a:prstGeom>
          <a:solidFill>
            <a:srgbClr val="EEF2FF"/>
          </a:solidFill>
          <a:ln/>
        </p:spPr>
      </p:sp>
      <p:sp>
        <p:nvSpPr>
          <p:cNvPr id="24" name="Shape 22"/>
          <p:cNvSpPr/>
          <p:nvPr/>
        </p:nvSpPr>
        <p:spPr>
          <a:xfrm>
            <a:off x="493776" y="4151376"/>
            <a:ext cx="256032" cy="256032"/>
          </a:xfrm>
          <a:prstGeom prst="ellipse">
            <a:avLst/>
          </a:prstGeom>
          <a:solidFill>
            <a:srgbClr val="1A2F5A"/>
          </a:solidFill>
          <a:ln/>
        </p:spPr>
      </p:sp>
      <p:sp>
        <p:nvSpPr>
          <p:cNvPr id="25" name="Text 23"/>
          <p:cNvSpPr/>
          <p:nvPr/>
        </p:nvSpPr>
        <p:spPr>
          <a:xfrm>
            <a:off x="493776" y="415137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841248" y="4114800"/>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Respondan a las siguientes preguntas</a:t>
            </a:r>
            <a:endParaRPr lang="en-US" sz="1150" dirty="0"/>
          </a:p>
        </p:txBody>
      </p:sp>
      <p:sp>
        <p:nvSpPr>
          <p:cNvPr id="27" name="Text 25"/>
          <p:cNvSpPr/>
          <p:nvPr/>
        </p:nvSpPr>
        <p:spPr>
          <a:xfrm>
            <a:off x="841248" y="4389120"/>
            <a:ext cx="4974336" cy="640080"/>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¿Qué información se logra obtener al comparar estas variaciones? ¿Los movimientos del INPP anticipan a los del INPC o al revés, y qué explicaría ese orden? </a:t>
            </a:r>
            <a:endParaRPr lang="en-US" sz="900" dirty="0"/>
          </a:p>
        </p:txBody>
      </p:sp>
      <p:sp>
        <p:nvSpPr>
          <p:cNvPr id="28" name="Shape 26"/>
          <p:cNvSpPr/>
          <p:nvPr/>
        </p:nvSpPr>
        <p:spPr>
          <a:xfrm>
            <a:off x="6144768" y="950976"/>
            <a:ext cx="2633472" cy="4059936"/>
          </a:xfrm>
          <a:prstGeom prst="roundRect">
            <a:avLst>
              <a:gd name="adj" fmla="val 2083"/>
            </a:avLst>
          </a:prstGeom>
          <a:solidFill>
            <a:srgbClr val="FFFBEB"/>
          </a:solidFill>
          <a:ln/>
        </p:spPr>
      </p:sp>
      <p:sp>
        <p:nvSpPr>
          <p:cNvPr id="29" name="Text 27"/>
          <p:cNvSpPr/>
          <p:nvPr/>
        </p:nvSpPr>
        <p:spPr>
          <a:xfrm>
            <a:off x="6309360" y="1060704"/>
            <a:ext cx="2331720" cy="274320"/>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Detalles</a:t>
            </a:r>
            <a:endParaRPr lang="en-US" sz="1200" dirty="0"/>
          </a:p>
        </p:txBody>
      </p:sp>
      <p:sp>
        <p:nvSpPr>
          <p:cNvPr id="30" name="Text 28"/>
          <p:cNvSpPr/>
          <p:nvPr/>
        </p:nvSpPr>
        <p:spPr>
          <a:xfrm>
            <a:off x="6309360" y="1353312"/>
            <a:ext cx="2331720" cy="3566160"/>
          </a:xfrm>
          <a:prstGeom prst="rect">
            <a:avLst/>
          </a:prstGeom>
          <a:noFill/>
          <a:ln/>
        </p:spPr>
        <p:txBody>
          <a:bodyPr wrap="square" lIns="0" tIns="0" rIns="0" bIns="0" rtlCol="0" anchor="t"/>
          <a:lstStyle/>
          <a:p>
            <a:pPr marL="0" indent="0">
              <a:spcAft>
                <a:spcPts val="600"/>
              </a:spcAft>
              <a:buNone/>
            </a:pPr>
            <a:r>
              <a:rPr lang="en-US" sz="950" b="1" dirty="0">
                <a:solidFill>
                  <a:srgbClr val="1E293B"/>
                </a:solidFill>
                <a:latin typeface="Calibri" pitchFamily="34" charset="0"/>
                <a:ea typeface="Calibri" pitchFamily="34" charset="-122"/>
                <a:cs typeface="Calibri" pitchFamily="34" charset="-120"/>
              </a:rPr>
              <a:t>Periodo: </a:t>
            </a:r>
            <a:r>
              <a:rPr lang="en-US" sz="950" dirty="0">
                <a:solidFill>
                  <a:srgbClr val="1E293B"/>
                </a:solidFill>
                <a:latin typeface="Calibri" pitchFamily="34" charset="0"/>
                <a:ea typeface="Calibri" pitchFamily="34" charset="-122"/>
                <a:cs typeface="Calibri" pitchFamily="34" charset="-120"/>
              </a:rPr>
              <a:t>descarga desde agosto 2023: la inflación anual de agosto 2024 usa el índice de un año antes
</a:t>
            </a:r>
            <a:r>
              <a:rPr lang="en-US" sz="950" b="1" dirty="0">
                <a:solidFill>
                  <a:srgbClr val="1E293B"/>
                </a:solidFill>
                <a:latin typeface="Calibri" pitchFamily="34" charset="0"/>
                <a:ea typeface="Calibri" pitchFamily="34" charset="-122"/>
                <a:cs typeface="Calibri" pitchFamily="34" charset="-120"/>
              </a:rPr>
              <a:t>Fuente: </a:t>
            </a:r>
            <a:r>
              <a:rPr lang="en-US" sz="950" dirty="0">
                <a:solidFill>
                  <a:srgbClr val="1E293B"/>
                </a:solidFill>
                <a:latin typeface="Calibri" pitchFamily="34" charset="0"/>
                <a:ea typeface="Calibri" pitchFamily="34" charset="-122"/>
                <a:cs typeface="Calibri" pitchFamily="34" charset="-120"/>
              </a:rPr>
              <a:t>INEGI (INPC e INPP)
</a:t>
            </a:r>
            <a:r>
              <a:rPr lang="en-US" sz="950" b="1" dirty="0">
                <a:solidFill>
                  <a:srgbClr val="1E293B"/>
                </a:solidFill>
                <a:latin typeface="Calibri" pitchFamily="34" charset="0"/>
                <a:ea typeface="Calibri" pitchFamily="34" charset="-122"/>
                <a:cs typeface="Calibri" pitchFamily="34" charset="-120"/>
              </a:rPr>
              <a:t>Herramienta: </a:t>
            </a:r>
            <a:r>
              <a:rPr lang="en-US" sz="950" dirty="0">
                <a:solidFill>
                  <a:srgbClr val="1E293B"/>
                </a:solidFill>
                <a:latin typeface="Calibri" pitchFamily="34" charset="0"/>
                <a:ea typeface="Calibri" pitchFamily="34" charset="-122"/>
                <a:cs typeface="Calibri" pitchFamily="34" charset="-120"/>
              </a:rPr>
              <a:t>R
</a:t>
            </a:r>
            <a:r>
              <a:rPr lang="en-US" sz="950" b="1" dirty="0">
                <a:solidFill>
                  <a:srgbClr val="1E293B"/>
                </a:solidFill>
                <a:latin typeface="Calibri" pitchFamily="34" charset="0"/>
                <a:ea typeface="Calibri" pitchFamily="34" charset="-122"/>
                <a:cs typeface="Calibri" pitchFamily="34" charset="-120"/>
              </a:rPr>
              <a:t>Entregables: </a:t>
            </a:r>
            <a:r>
              <a:rPr lang="en-US" sz="950" dirty="0">
                <a:solidFill>
                  <a:srgbClr val="1E293B"/>
                </a:solidFill>
                <a:latin typeface="Calibri" pitchFamily="34" charset="0"/>
                <a:ea typeface="Calibri" pitchFamily="34" charset="-122"/>
                <a:cs typeface="Calibri" pitchFamily="34" charset="-120"/>
              </a:rPr>
              <a:t>script + pdf que contenga la tabla con las variaciones de cada índice en el periodo, la gráfica y las respuestas a las preguntas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1A2F5A"/>
        </a:solidFill>
        <a:effectLst/>
      </p:bgPr>
    </p:bg>
    <p:spTree>
      <p:nvGrpSpPr>
        <p:cNvPr id="1" name=""/>
        <p:cNvGrpSpPr/>
        <p:nvPr/>
      </p:nvGrpSpPr>
      <p:grpSpPr>
        <a:xfrm>
          <a:off x="0" y="0"/>
          <a:ext cx="0" cy="0"/>
          <a:chOff x="0" y="0"/>
          <a:chExt cx="0" cy="0"/>
        </a:xfrm>
      </p:grpSpPr>
      <p:sp>
        <p:nvSpPr>
          <p:cNvPr id="2" name="Text 0"/>
          <p:cNvSpPr/>
          <p:nvPr/>
        </p:nvSpPr>
        <p:spPr>
          <a:xfrm>
            <a:off x="457200" y="658368"/>
            <a:ext cx="8229600" cy="365760"/>
          </a:xfrm>
          <a:prstGeom prst="rect">
            <a:avLst/>
          </a:prstGeom>
          <a:noFill/>
          <a:ln/>
        </p:spPr>
        <p:txBody>
          <a:bodyPr wrap="square" lIns="0" tIns="0" rIns="0" bIns="0" rtlCol="0" anchor="ctr"/>
          <a:lstStyle/>
          <a:p>
            <a:pPr marL="0" indent="0" algn="ctr">
              <a:buNone/>
            </a:pPr>
            <a:r>
              <a:rPr lang="en-US" sz="1300" b="1" kern="0" spc="300" dirty="0">
                <a:solidFill>
                  <a:srgbClr val="D1E8FF"/>
                </a:solidFill>
                <a:latin typeface="Calibri" pitchFamily="34" charset="0"/>
                <a:ea typeface="Calibri" pitchFamily="34" charset="-122"/>
                <a:cs typeface="Calibri" pitchFamily="34" charset="-120"/>
              </a:rPr>
              <a:t>DE LA MEDICIÓN A LA CONSTRUCCIÓN</a:t>
            </a:r>
            <a:endParaRPr lang="en-US" sz="1300" dirty="0"/>
          </a:p>
        </p:txBody>
      </p:sp>
      <p:sp>
        <p:nvSpPr>
          <p:cNvPr id="3" name="Text 1"/>
          <p:cNvSpPr/>
          <p:nvPr/>
        </p:nvSpPr>
        <p:spPr>
          <a:xfrm>
            <a:off x="457200" y="1234440"/>
            <a:ext cx="8229600" cy="502920"/>
          </a:xfrm>
          <a:prstGeom prst="rect">
            <a:avLst/>
          </a:prstGeom>
          <a:noFill/>
          <a:ln/>
        </p:spPr>
        <p:txBody>
          <a:bodyPr wrap="square" lIns="0" tIns="0" rIns="0" bIns="0" rtlCol="0" anchor="ctr"/>
          <a:lstStyle/>
          <a:p>
            <a:pPr marL="0" indent="0" algn="ctr">
              <a:buNone/>
            </a:pPr>
            <a:r>
              <a:rPr lang="en-US" sz="1800" i="1" dirty="0">
                <a:solidFill>
                  <a:srgbClr val="D1E8FF"/>
                </a:solidFill>
                <a:latin typeface="Cambria" pitchFamily="34" charset="0"/>
                <a:ea typeface="Cambria" pitchFamily="34" charset="-122"/>
                <a:cs typeface="Cambria" pitchFamily="34" charset="-120"/>
              </a:rPr>
              <a:t>Ya sabemos medir la inflación…</a:t>
            </a:r>
            <a:endParaRPr lang="en-US" sz="1800" dirty="0"/>
          </a:p>
        </p:txBody>
      </p:sp>
      <p:sp>
        <p:nvSpPr>
          <p:cNvPr id="4" name="Shape 2"/>
          <p:cNvSpPr/>
          <p:nvPr/>
        </p:nvSpPr>
        <p:spPr>
          <a:xfrm>
            <a:off x="1005840" y="1965960"/>
            <a:ext cx="7132320" cy="841248"/>
          </a:xfrm>
          <a:prstGeom prst="roundRect">
            <a:avLst>
              <a:gd name="adj" fmla="val 8696"/>
            </a:avLst>
          </a:prstGeom>
          <a:solidFill>
            <a:srgbClr val="142040"/>
          </a:solidFill>
          <a:ln/>
        </p:spPr>
      </p:sp>
      <p:sp>
        <p:nvSpPr>
          <p:cNvPr id="5" name="Text 3"/>
          <p:cNvSpPr/>
          <p:nvPr/>
        </p:nvSpPr>
        <p:spPr>
          <a:xfrm>
            <a:off x="1005840" y="1965960"/>
            <a:ext cx="7132320" cy="84124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¿Pero cómo se construye el INPC?</a:t>
            </a:r>
            <a:endParaRPr lang="en-US" sz="2400" dirty="0"/>
          </a:p>
        </p:txBody>
      </p:sp>
      <p:sp>
        <p:nvSpPr>
          <p:cNvPr id="6" name="Shape 4"/>
          <p:cNvSpPr/>
          <p:nvPr/>
        </p:nvSpPr>
        <p:spPr>
          <a:xfrm>
            <a:off x="1005840" y="2990088"/>
            <a:ext cx="7132320" cy="841248"/>
          </a:xfrm>
          <a:prstGeom prst="roundRect">
            <a:avLst>
              <a:gd name="adj" fmla="val 8696"/>
            </a:avLst>
          </a:prstGeom>
          <a:solidFill>
            <a:srgbClr val="142040"/>
          </a:solidFill>
          <a:ln/>
        </p:spPr>
      </p:sp>
      <p:sp>
        <p:nvSpPr>
          <p:cNvPr id="7" name="Text 5"/>
          <p:cNvSpPr/>
          <p:nvPr/>
        </p:nvSpPr>
        <p:spPr>
          <a:xfrm>
            <a:off x="1280160" y="2990088"/>
            <a:ext cx="6583680" cy="84124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a:t>
            </a:r>
            <a:r>
              <a:rPr lang="en-US" sz="1900" b="1" dirty="0" err="1">
                <a:solidFill>
                  <a:srgbClr val="FFFFFF"/>
                </a:solidFill>
                <a:latin typeface="Cambria" pitchFamily="34" charset="0"/>
                <a:ea typeface="Cambria" pitchFamily="34" charset="-122"/>
                <a:cs typeface="Cambria" pitchFamily="34" charset="-120"/>
              </a:rPr>
              <a:t>Qué</a:t>
            </a:r>
            <a:r>
              <a:rPr lang="en-US" sz="1900" b="1" dirty="0">
                <a:solidFill>
                  <a:srgbClr val="FFFFFF"/>
                </a:solidFill>
                <a:latin typeface="Cambria" pitchFamily="34" charset="0"/>
                <a:ea typeface="Cambria" pitchFamily="34" charset="-122"/>
                <a:cs typeface="Cambria" pitchFamily="34" charset="-120"/>
              </a:rPr>
              <a:t> </a:t>
            </a:r>
            <a:r>
              <a:rPr lang="en-US" sz="1900" b="1" dirty="0" err="1">
                <a:solidFill>
                  <a:srgbClr val="FFFFFF"/>
                </a:solidFill>
                <a:latin typeface="Cambria" pitchFamily="34" charset="0"/>
                <a:ea typeface="Cambria" pitchFamily="34" charset="-122"/>
                <a:cs typeface="Cambria" pitchFamily="34" charset="-120"/>
              </a:rPr>
              <a:t>elementos</a:t>
            </a:r>
            <a:r>
              <a:rPr lang="en-US" sz="1900" b="1" dirty="0">
                <a:solidFill>
                  <a:srgbClr val="FFFFFF"/>
                </a:solidFill>
                <a:latin typeface="Cambria" pitchFamily="34" charset="0"/>
                <a:ea typeface="Cambria" pitchFamily="34" charset="-122"/>
                <a:cs typeface="Cambria" pitchFamily="34" charset="-120"/>
              </a:rPr>
              <a:t> lo </a:t>
            </a:r>
            <a:r>
              <a:rPr lang="en-US" sz="1900" b="1" dirty="0" err="1">
                <a:solidFill>
                  <a:srgbClr val="FFFFFF"/>
                </a:solidFill>
                <a:latin typeface="Cambria" pitchFamily="34" charset="0"/>
                <a:ea typeface="Cambria" pitchFamily="34" charset="-122"/>
                <a:cs typeface="Cambria" pitchFamily="34" charset="-120"/>
              </a:rPr>
              <a:t>componen</a:t>
            </a:r>
            <a:r>
              <a:rPr lang="en-US" sz="1900" b="1" dirty="0">
                <a:solidFill>
                  <a:srgbClr val="FFFFFF"/>
                </a:solidFill>
                <a:latin typeface="Cambria" pitchFamily="34" charset="0"/>
                <a:ea typeface="Cambria" pitchFamily="34" charset="-122"/>
                <a:cs typeface="Cambria" pitchFamily="34" charset="-120"/>
              </a:rPr>
              <a:t>?</a:t>
            </a:r>
            <a:endParaRPr lang="en-US" sz="1900" dirty="0"/>
          </a:p>
        </p:txBody>
      </p:sp>
      <p:sp>
        <p:nvSpPr>
          <p:cNvPr id="8" name="Text 6"/>
          <p:cNvSpPr/>
          <p:nvPr/>
        </p:nvSpPr>
        <p:spPr>
          <a:xfrm>
            <a:off x="457200" y="4160520"/>
            <a:ext cx="8229600" cy="365760"/>
          </a:xfrm>
          <a:prstGeom prst="rect">
            <a:avLst/>
          </a:prstGeom>
          <a:noFill/>
          <a:ln/>
        </p:spPr>
        <p:txBody>
          <a:bodyPr wrap="square" lIns="0" tIns="0" rIns="0" bIns="0" rtlCol="0" anchor="ctr"/>
          <a:lstStyle/>
          <a:p>
            <a:pPr marL="0" indent="0" algn="ctr">
              <a:buNone/>
            </a:pPr>
            <a:r>
              <a:rPr lang="en-US" sz="1250" i="1" dirty="0">
                <a:solidFill>
                  <a:srgbClr val="7A9ABD"/>
                </a:solidFill>
                <a:latin typeface="Calibri" pitchFamily="34" charset="0"/>
                <a:ea typeface="Calibri" pitchFamily="34" charset="-122"/>
                <a:cs typeface="Calibri" pitchFamily="34" charset="-120"/>
              </a:rPr>
              <a:t>Para responderlo, iremos desagregando el índice: de lo general a lo particular.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Principales Características del INPC 2024 vs. 2018</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8595360" cy="4032504"/>
        </p:xfrm>
        <a:graphic>
          <a:graphicData uri="http://schemas.openxmlformats.org/drawingml/2006/table">
            <a:tbl>
              <a:tblPr/>
              <a:tblGrid>
                <a:gridCol w="31089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448056">
                <a:tc>
                  <a:txBody>
                    <a:bodyPr/>
                    <a:lstStyle/>
                    <a:p>
                      <a:pPr marL="0" indent="0">
                        <a:buNone/>
                      </a:pPr>
                      <a:r>
                        <a:rPr lang="en-US" sz="1100" b="1" dirty="0">
                          <a:solidFill>
                            <a:srgbClr val="FFFFFF"/>
                          </a:solidFill>
                        </a:rPr>
                        <a:t>Característica</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100" b="1" dirty="0">
                          <a:solidFill>
                            <a:srgbClr val="FFFFFF"/>
                          </a:solidFill>
                        </a:rPr>
                        <a:t>INPC 2018</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7A75"/>
                    </a:solidFill>
                  </a:tcPr>
                </a:tc>
                <a:tc>
                  <a:txBody>
                    <a:bodyPr/>
                    <a:lstStyle/>
                    <a:p>
                      <a:pPr marL="0" indent="0">
                        <a:buNone/>
                      </a:pPr>
                      <a:r>
                        <a:rPr lang="en-US" sz="1100" b="1" dirty="0">
                          <a:solidFill>
                            <a:srgbClr val="FFFFFF"/>
                          </a:solidFill>
                        </a:rPr>
                        <a:t>INPC 2024</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C2410C"/>
                    </a:solidFill>
                  </a:tcPr>
                </a:tc>
                <a:extLst>
                  <a:ext uri="{0D108BD9-81ED-4DB2-BD59-A6C34878D82A}">
                    <a16:rowId xmlns:a16="http://schemas.microsoft.com/office/drawing/2014/main" val="10000"/>
                  </a:ext>
                </a:extLst>
              </a:tr>
              <a:tr h="448056">
                <a:tc>
                  <a:txBody>
                    <a:bodyPr/>
                    <a:lstStyle/>
                    <a:p>
                      <a:pPr marL="0" indent="0">
                        <a:buNone/>
                      </a:pPr>
                      <a:r>
                        <a:rPr lang="en-US" sz="1050" dirty="0">
                          <a:solidFill>
                            <a:srgbClr val="1E293B"/>
                          </a:solidFill>
                        </a:rPr>
                        <a:t>Periodo base</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dirty="0">
                          <a:solidFill>
                            <a:srgbClr val="1E293B"/>
                          </a:solidFill>
                        </a:rPr>
                        <a:t>2ª quincena julio 2018 = 100</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b="1" dirty="0">
                          <a:solidFill>
                            <a:srgbClr val="1A2F5A"/>
                          </a:solidFill>
                        </a:rPr>
                        <a:t>2ª quincena julio 2018 = 100</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448056">
                <a:tc>
                  <a:txBody>
                    <a:bodyPr/>
                    <a:lstStyle/>
                    <a:p>
                      <a:pPr marL="0" indent="0">
                        <a:buNone/>
                      </a:pPr>
                      <a:r>
                        <a:rPr lang="en-US" sz="1050" dirty="0">
                          <a:solidFill>
                            <a:srgbClr val="1E293B"/>
                          </a:solidFill>
                        </a:rPr>
                        <a:t>Canasta</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299 genéricos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b="1" dirty="0">
                          <a:solidFill>
                            <a:srgbClr val="1A2F5A"/>
                          </a:solidFill>
                        </a:rPr>
                        <a:t>292 genéricos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8056">
                <a:tc>
                  <a:txBody>
                    <a:bodyPr/>
                    <a:lstStyle/>
                    <a:p>
                      <a:pPr marL="0" indent="0">
                        <a:buNone/>
                      </a:pPr>
                      <a:r>
                        <a:rPr lang="en-US" sz="1050" dirty="0">
                          <a:solidFill>
                            <a:srgbClr val="1E293B"/>
                          </a:solidFill>
                        </a:rPr>
                        <a:t>Subgenéricos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dirty="0">
                          <a:solidFill>
                            <a:srgbClr val="1E293B"/>
                          </a:solidFill>
                        </a:rPr>
                        <a:t>14 genéricos con 38 subgenéricos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b="1" dirty="0">
                          <a:solidFill>
                            <a:srgbClr val="1A2F5A"/>
                          </a:solidFill>
                        </a:rPr>
                        <a:t>14 genéricos con 38 subgenéricos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448056">
                <a:tc>
                  <a:txBody>
                    <a:bodyPr/>
                    <a:lstStyle/>
                    <a:p>
                      <a:pPr marL="0" indent="0">
                        <a:buNone/>
                      </a:pPr>
                      <a:r>
                        <a:rPr lang="en-US" sz="1050" dirty="0">
                          <a:solidFill>
                            <a:srgbClr val="1E293B"/>
                          </a:solidFill>
                        </a:rPr>
                        <a:t>Clasificación principal</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CCIF 1999-ONU (4 dígitos)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b="1" dirty="0">
                          <a:solidFill>
                            <a:srgbClr val="1A2F5A"/>
                          </a:solidFill>
                        </a:rPr>
                        <a:t>CCIF 2018 (4 dígitos)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8056">
                <a:tc>
                  <a:txBody>
                    <a:bodyPr/>
                    <a:lstStyle/>
                    <a:p>
                      <a:pPr marL="0" indent="0">
                        <a:buNone/>
                      </a:pPr>
                      <a:r>
                        <a:rPr lang="en-US" sz="1050" dirty="0">
                          <a:solidFill>
                            <a:srgbClr val="1E293B"/>
                          </a:solidFill>
                        </a:rPr>
                        <a:t>Fuente ponderadores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dirty="0">
                          <a:solidFill>
                            <a:srgbClr val="1E293B"/>
                          </a:solidFill>
                        </a:rPr>
                        <a:t>ENGASTO 2012-13 y ENIGH 2014</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b="1" dirty="0">
                          <a:solidFill>
                            <a:srgbClr val="1A2F5A"/>
                          </a:solidFill>
                        </a:rPr>
                        <a:t>ENIGH Estacional 2022</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448056">
                <a:tc>
                  <a:txBody>
                    <a:bodyPr/>
                    <a:lstStyle/>
                    <a:p>
                      <a:pPr marL="0" indent="0">
                        <a:buNone/>
                      </a:pPr>
                      <a:r>
                        <a:rPr lang="en-US" sz="1050" dirty="0">
                          <a:solidFill>
                            <a:srgbClr val="1E293B"/>
                          </a:solidFill>
                        </a:rPr>
                        <a:t>Ciudades / áreas geográficas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55</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b="1" dirty="0">
                          <a:solidFill>
                            <a:srgbClr val="1A2F5A"/>
                          </a:solidFill>
                        </a:rPr>
                        <a:t>55</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8056">
                <a:tc>
                  <a:txBody>
                    <a:bodyPr/>
                    <a:lstStyle/>
                    <a:p>
                      <a:pPr marL="0" indent="0">
                        <a:buNone/>
                      </a:pPr>
                      <a:r>
                        <a:rPr lang="en-US" sz="1050" dirty="0">
                          <a:solidFill>
                            <a:srgbClr val="1E293B"/>
                          </a:solidFill>
                        </a:rPr>
                        <a:t>Diseño muestral</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dirty="0">
                          <a:solidFill>
                            <a:srgbClr val="1E293B"/>
                          </a:solidFill>
                        </a:rPr>
                        <a:t>248 probabilísticos | 51 no prob.</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b="1" dirty="0">
                          <a:solidFill>
                            <a:srgbClr val="1A2F5A"/>
                          </a:solidFill>
                        </a:rPr>
                        <a:t>235 probabilísticos | 57 no prob.</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448056">
                <a:tc>
                  <a:txBody>
                    <a:bodyPr/>
                    <a:lstStyle/>
                    <a:p>
                      <a:pPr marL="0" indent="0">
                        <a:buNone/>
                      </a:pPr>
                      <a:r>
                        <a:rPr lang="en-US" sz="1050" dirty="0">
                          <a:solidFill>
                            <a:srgbClr val="1E293B"/>
                          </a:solidFill>
                        </a:rPr>
                        <a:t>Metodología de encadenamiento</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No</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b="1" dirty="0">
                          <a:solidFill>
                            <a:srgbClr val="1A2F5A"/>
                          </a:solidFill>
                        </a:rPr>
                        <a:t>Sí — Índice de Laspeyres encadenado</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Metodología: Índice de Laspeyres</a:t>
            </a:r>
            <a:endParaRPr lang="en-US" sz="2200" dirty="0"/>
          </a:p>
        </p:txBody>
      </p:sp>
      <p:sp>
        <p:nvSpPr>
          <p:cNvPr id="4" name="Shape 2"/>
          <p:cNvSpPr/>
          <p:nvPr/>
        </p:nvSpPr>
        <p:spPr>
          <a:xfrm>
            <a:off x="320040" y="960120"/>
            <a:ext cx="8503920" cy="658368"/>
          </a:xfrm>
          <a:prstGeom prst="roundRect">
            <a:avLst>
              <a:gd name="adj" fmla="val 16667"/>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5" name="Text 3"/>
          <p:cNvSpPr/>
          <p:nvPr/>
        </p:nvSpPr>
        <p:spPr>
          <a:xfrm>
            <a:off x="475488" y="1005840"/>
            <a:ext cx="8229600" cy="566928"/>
          </a:xfrm>
          <a:prstGeom prst="rect">
            <a:avLst/>
          </a:prstGeom>
          <a:noFill/>
          <a:ln/>
        </p:spPr>
        <p:txBody>
          <a:bodyPr wrap="square" rtlCol="0" anchor="t"/>
          <a:lstStyle/>
          <a:p>
            <a:pPr marL="0" indent="0">
              <a:buNone/>
            </a:pPr>
            <a:r>
              <a:rPr lang="en-US" sz="1100" b="1" dirty="0">
                <a:solidFill>
                  <a:srgbClr val="1A2F5A"/>
                </a:solidFill>
                <a:latin typeface="Calibri" pitchFamily="34" charset="0"/>
                <a:ea typeface="Calibri" pitchFamily="34" charset="-122"/>
                <a:cs typeface="Calibri" pitchFamily="34" charset="-120"/>
              </a:rPr>
              <a:t>Base legal: </a:t>
            </a:r>
            <a:r>
              <a:rPr lang="en-US" sz="1100" dirty="0">
                <a:solidFill>
                  <a:srgbClr val="1E293B"/>
                </a:solidFill>
                <a:latin typeface="Calibri" pitchFamily="34" charset="0"/>
                <a:ea typeface="Calibri" pitchFamily="34" charset="-122"/>
                <a:cs typeface="Calibri" pitchFamily="34" charset="-120"/>
              </a:rPr>
              <a:t>El Código Fiscal de la Federación (Art. 20-Bis, frac. V) establece que el INPC se calculará utilizando la fórmula de Laspeyres. Define al INPC como un índice que calcula la variación del costo de una canasta compuesta por n bienes y servicios, con cantidades fijas del periodo base.</a:t>
            </a:r>
            <a:endParaRPr lang="en-US" sz="1100" dirty="0"/>
          </a:p>
        </p:txBody>
      </p:sp>
      <p:sp>
        <p:nvSpPr>
          <p:cNvPr id="7" name="Text 5"/>
          <p:cNvSpPr/>
          <p:nvPr/>
        </p:nvSpPr>
        <p:spPr>
          <a:xfrm>
            <a:off x="411480" y="1764792"/>
            <a:ext cx="8394192" cy="685800"/>
          </a:xfrm>
          <a:prstGeom prst="rect">
            <a:avLst/>
          </a:prstGeom>
          <a:noFill/>
          <a:ln/>
        </p:spPr>
        <p:txBody>
          <a:bodyPr wrap="square" rtlCol="0" anchor="ctr"/>
          <a:lstStyle/>
          <a:p>
            <a:pPr marL="0" indent="0" algn="ctr">
              <a:buNone/>
            </a:pPr>
            <a:endParaRPr lang="en-US" sz="1500" dirty="0"/>
          </a:p>
        </p:txBody>
      </p:sp>
      <p:sp>
        <p:nvSpPr>
          <p:cNvPr id="8" name="Shape 6"/>
          <p:cNvSpPr/>
          <p:nvPr/>
        </p:nvSpPr>
        <p:spPr>
          <a:xfrm>
            <a:off x="320040" y="2615184"/>
            <a:ext cx="8503920" cy="1389888"/>
          </a:xfrm>
          <a:prstGeom prst="roundRect">
            <a:avLst>
              <a:gd name="adj" fmla="val 7895"/>
            </a:avLst>
          </a:prstGeom>
          <a:solidFill>
            <a:srgbClr val="F1F5F9"/>
          </a:solidFill>
          <a:ln/>
          <a:effectLst>
            <a:outerShdw blurRad="50800" dist="25400" dir="2700000" algn="bl" rotWithShape="0">
              <a:srgbClr val="000000">
                <a:alpha val="10000"/>
              </a:srgbClr>
            </a:outerShdw>
          </a:effectLst>
        </p:spPr>
      </p:sp>
      <p:sp>
        <p:nvSpPr>
          <p:cNvPr id="9" name="Text 7"/>
          <p:cNvSpPr/>
          <p:nvPr/>
        </p:nvSpPr>
        <p:spPr>
          <a:xfrm>
            <a:off x="475488" y="2670048"/>
            <a:ext cx="8229600" cy="256032"/>
          </a:xfrm>
          <a:prstGeom prst="rect">
            <a:avLst/>
          </a:prstGeom>
          <a:noFill/>
          <a:ln/>
        </p:spPr>
        <p:txBody>
          <a:bodyPr wrap="square" rtlCol="0" anchor="ctr"/>
          <a:lstStyle/>
          <a:p>
            <a:pPr marL="0" indent="0">
              <a:buNone/>
            </a:pPr>
            <a:r>
              <a:rPr lang="en-US" sz="1100" b="1" dirty="0">
                <a:solidFill>
                  <a:srgbClr val="1A2F5A"/>
                </a:solidFill>
              </a:rPr>
              <a:t>Componentes de la fórmula:</a:t>
            </a:r>
            <a:endParaRPr lang="en-US" sz="1100" dirty="0"/>
          </a:p>
        </p:txBody>
      </p:sp>
      <p:sp>
        <p:nvSpPr>
          <p:cNvPr id="10" name="Text 8"/>
          <p:cNvSpPr/>
          <p:nvPr/>
        </p:nvSpPr>
        <p:spPr>
          <a:xfrm>
            <a:off x="1207008" y="2944368"/>
            <a:ext cx="3429000" cy="310896"/>
          </a:xfrm>
          <a:prstGeom prst="rect">
            <a:avLst/>
          </a:prstGeom>
          <a:noFill/>
          <a:ln/>
        </p:spPr>
        <p:txBody>
          <a:bodyPr wrap="square" rtlCol="0" anchor="ctr"/>
          <a:lstStyle/>
          <a:p>
            <a:pPr marL="0" indent="0">
              <a:buNone/>
            </a:pPr>
            <a:r>
              <a:rPr sz="950">
                <a:solidFill>
                  <a:srgbClr val="1E293B"/>
                </a:solidFill>
                <a:latin typeface="Calibri"/>
              </a:rPr>
              <a:t>Índice Laspeyres del periodo t respecto al periodo base 0</a:t>
            </a:r>
            <a:endParaRPr lang="en-US" sz="1000" dirty="0"/>
          </a:p>
        </p:txBody>
      </p:sp>
      <p:sp>
        <p:nvSpPr>
          <p:cNvPr id="11" name="Text 9"/>
          <p:cNvSpPr/>
          <p:nvPr/>
        </p:nvSpPr>
        <p:spPr>
          <a:xfrm>
            <a:off x="1207008" y="3273552"/>
            <a:ext cx="3429000" cy="310896"/>
          </a:xfrm>
          <a:prstGeom prst="rect">
            <a:avLst/>
          </a:prstGeom>
          <a:noFill/>
          <a:ln/>
        </p:spPr>
        <p:txBody>
          <a:bodyPr wrap="square" rtlCol="0" anchor="ctr"/>
          <a:lstStyle/>
          <a:p>
            <a:pPr marL="0" indent="0">
              <a:buNone/>
            </a:pPr>
            <a:r>
              <a:rPr sz="950">
                <a:solidFill>
                  <a:srgbClr val="1E293B"/>
                </a:solidFill>
                <a:latin typeface="Calibri"/>
              </a:rPr>
              <a:t>Precio del bien i en el periodo corriente t</a:t>
            </a:r>
            <a:endParaRPr lang="en-US" sz="1000" dirty="0"/>
          </a:p>
        </p:txBody>
      </p:sp>
      <p:sp>
        <p:nvSpPr>
          <p:cNvPr id="12" name="Text 10"/>
          <p:cNvSpPr/>
          <p:nvPr/>
        </p:nvSpPr>
        <p:spPr>
          <a:xfrm>
            <a:off x="1207008" y="3602736"/>
            <a:ext cx="3429000" cy="310896"/>
          </a:xfrm>
          <a:prstGeom prst="rect">
            <a:avLst/>
          </a:prstGeom>
          <a:noFill/>
          <a:ln/>
        </p:spPr>
        <p:txBody>
          <a:bodyPr wrap="square" rtlCol="0" anchor="ctr"/>
          <a:lstStyle/>
          <a:p>
            <a:pPr marL="0" indent="0">
              <a:buNone/>
            </a:pPr>
            <a:r>
              <a:rPr sz="950">
                <a:solidFill>
                  <a:srgbClr val="1E293B"/>
                </a:solidFill>
                <a:latin typeface="Calibri"/>
              </a:rPr>
              <a:t>Precio del bien i en el periodo de referencia (base)</a:t>
            </a:r>
            <a:endParaRPr lang="en-US" sz="1000" dirty="0"/>
          </a:p>
        </p:txBody>
      </p:sp>
      <p:sp>
        <p:nvSpPr>
          <p:cNvPr id="13" name="Text 11"/>
          <p:cNvSpPr/>
          <p:nvPr/>
        </p:nvSpPr>
        <p:spPr>
          <a:xfrm>
            <a:off x="5504688" y="2944368"/>
            <a:ext cx="3429000" cy="310896"/>
          </a:xfrm>
          <a:prstGeom prst="rect">
            <a:avLst/>
          </a:prstGeom>
          <a:noFill/>
          <a:ln/>
        </p:spPr>
        <p:txBody>
          <a:bodyPr wrap="square" rtlCol="0" anchor="ctr"/>
          <a:lstStyle/>
          <a:p>
            <a:pPr marL="0" indent="0">
              <a:buNone/>
            </a:pPr>
            <a:r>
              <a:rPr sz="950">
                <a:solidFill>
                  <a:srgbClr val="1E293B"/>
                </a:solidFill>
                <a:latin typeface="Calibri"/>
              </a:rPr>
              <a:t>Cantidad consumida del bien i en el periodo base</a:t>
            </a:r>
            <a:endParaRPr lang="en-US" sz="1000" dirty="0"/>
          </a:p>
        </p:txBody>
      </p:sp>
      <p:sp>
        <p:nvSpPr>
          <p:cNvPr id="14" name="Text 12"/>
          <p:cNvSpPr/>
          <p:nvPr/>
        </p:nvSpPr>
        <p:spPr>
          <a:xfrm>
            <a:off x="5504688" y="3273552"/>
            <a:ext cx="3429000" cy="310896"/>
          </a:xfrm>
          <a:prstGeom prst="rect">
            <a:avLst/>
          </a:prstGeom>
          <a:noFill/>
          <a:ln/>
        </p:spPr>
        <p:txBody>
          <a:bodyPr wrap="square" rtlCol="0" anchor="ctr"/>
          <a:lstStyle/>
          <a:p>
            <a:pPr marL="0" indent="0">
              <a:buNone/>
            </a:pPr>
            <a:r>
              <a:rPr sz="950">
                <a:solidFill>
                  <a:srgbClr val="1E293B"/>
                </a:solidFill>
                <a:latin typeface="Calibri"/>
              </a:rPr>
              <a:t>Participación del gasto del bien i en el periodo base (ponderador)</a:t>
            </a:r>
            <a:endParaRPr lang="en-US" sz="1000" dirty="0"/>
          </a:p>
        </p:txBody>
      </p:sp>
      <p:sp>
        <p:nvSpPr>
          <p:cNvPr id="15" name="Shape 13"/>
          <p:cNvSpPr/>
          <p:nvPr/>
        </p:nvSpPr>
        <p:spPr>
          <a:xfrm>
            <a:off x="320040" y="4078224"/>
            <a:ext cx="8503920" cy="777240"/>
          </a:xfrm>
          <a:prstGeom prst="roundRect">
            <a:avLst>
              <a:gd name="adj" fmla="val 14118"/>
            </a:avLst>
          </a:prstGeom>
          <a:solidFill>
            <a:srgbClr val="FFF1F2"/>
          </a:solidFill>
          <a:ln/>
          <a:effectLst>
            <a:outerShdw blurRad="50800" dist="25400" dir="2700000" algn="bl" rotWithShape="0">
              <a:srgbClr val="000000">
                <a:alpha val="10000"/>
              </a:srgbClr>
            </a:outerShdw>
          </a:effectLst>
        </p:spPr>
      </p:sp>
      <p:sp>
        <p:nvSpPr>
          <p:cNvPr id="16" name="Text 14"/>
          <p:cNvSpPr/>
          <p:nvPr/>
        </p:nvSpPr>
        <p:spPr>
          <a:xfrm>
            <a:off x="475488" y="4123944"/>
            <a:ext cx="8229600" cy="685800"/>
          </a:xfrm>
          <a:prstGeom prst="rect">
            <a:avLst/>
          </a:prstGeom>
          <a:noFill/>
          <a:ln/>
        </p:spPr>
        <p:txBody>
          <a:bodyPr wrap="square" rtlCol="0" anchor="t"/>
          <a:lstStyle/>
          <a:p>
            <a:pPr marL="0" indent="0">
              <a:buNone/>
            </a:pPr>
            <a:r>
              <a:rPr lang="en-US" sz="1050" b="1" dirty="0">
                <a:solidFill>
                  <a:srgbClr val="E11D48"/>
                </a:solidFill>
                <a:latin typeface="Calibri" pitchFamily="34" charset="0"/>
                <a:ea typeface="Calibri" pitchFamily="34" charset="-122"/>
                <a:cs typeface="Calibri" pitchFamily="34" charset="-120"/>
              </a:rPr>
              <a:t>Supuesto implícito: </a:t>
            </a:r>
            <a:r>
              <a:rPr lang="en-US" sz="1050" dirty="0">
                <a:solidFill>
                  <a:srgbClr val="1E293B"/>
                </a:solidFill>
                <a:latin typeface="Calibri" pitchFamily="34" charset="0"/>
                <a:ea typeface="Calibri" pitchFamily="34" charset="-122"/>
                <a:cs typeface="Calibri" pitchFamily="34" charset="-120"/>
              </a:rPr>
              <a:t>el </a:t>
            </a:r>
            <a:r>
              <a:rPr lang="en-US" sz="1050" dirty="0" err="1">
                <a:solidFill>
                  <a:srgbClr val="1E293B"/>
                </a:solidFill>
                <a:latin typeface="Calibri" pitchFamily="34" charset="0"/>
                <a:ea typeface="Calibri" pitchFamily="34" charset="-122"/>
                <a:cs typeface="Calibri" pitchFamily="34" charset="-120"/>
              </a:rPr>
              <a:t>consumidor</a:t>
            </a:r>
            <a:r>
              <a:rPr lang="en-US" sz="1050" dirty="0">
                <a:solidFill>
                  <a:srgbClr val="1E293B"/>
                </a:solidFill>
                <a:latin typeface="Calibri" pitchFamily="34" charset="0"/>
                <a:ea typeface="Calibri" pitchFamily="34" charset="-122"/>
                <a:cs typeface="Calibri" pitchFamily="34" charset="-120"/>
              </a:rPr>
              <a:t> no sustituye entre genéricos ante cambios en </a:t>
            </a:r>
            <a:r>
              <a:rPr lang="en-US" sz="1050" dirty="0" err="1">
                <a:solidFill>
                  <a:srgbClr val="1E293B"/>
                </a:solidFill>
                <a:latin typeface="Calibri" pitchFamily="34" charset="0"/>
                <a:ea typeface="Calibri" pitchFamily="34" charset="-122"/>
                <a:cs typeface="Calibri" pitchFamily="34" charset="-120"/>
              </a:rPr>
              <a:t>precios</a:t>
            </a:r>
            <a:r>
              <a:rPr lang="en-US" sz="1050" dirty="0">
                <a:solidFill>
                  <a:srgbClr val="1E293B"/>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relativos</a:t>
            </a:r>
            <a:r>
              <a:rPr lang="en-US" sz="1050" dirty="0">
                <a:solidFill>
                  <a:srgbClr val="1E293B"/>
                </a:solidFill>
                <a:latin typeface="Calibri" pitchFamily="34" charset="0"/>
                <a:ea typeface="Calibri" pitchFamily="34" charset="-122"/>
                <a:cs typeface="Calibri" pitchFamily="34" charset="-120"/>
              </a:rPr>
              <a:t>. Las cantidades del periodo base permanecen fijas. Las elasticidades cruzadas de demanda entre genéricos son cero.</a:t>
            </a:r>
            <a:endParaRPr lang="en-US" sz="1050" dirty="0"/>
          </a:p>
        </p:txBody>
      </p:sp>
      <p:pic>
        <p:nvPicPr>
          <p:cNvPr id="17" name="Picture 16" descr="v12_laspeyres.png"/>
          <p:cNvPicPr>
            <a:picLocks noChangeAspect="1"/>
          </p:cNvPicPr>
          <p:nvPr/>
        </p:nvPicPr>
        <p:blipFill>
          <a:blip r:embed="rId3"/>
          <a:stretch>
            <a:fillRect/>
          </a:stretch>
        </p:blipFill>
        <p:spPr>
          <a:xfrm>
            <a:off x="2271817" y="1764792"/>
            <a:ext cx="4673519" cy="685800"/>
          </a:xfrm>
          <a:prstGeom prst="rect">
            <a:avLst/>
          </a:prstGeom>
        </p:spPr>
      </p:pic>
      <p:pic>
        <p:nvPicPr>
          <p:cNvPr id="18" name="Picture 17" descr="c13_pl.png"/>
          <p:cNvPicPr>
            <a:picLocks noChangeAspect="1"/>
          </p:cNvPicPr>
          <p:nvPr/>
        </p:nvPicPr>
        <p:blipFill>
          <a:blip r:embed="rId4"/>
          <a:stretch>
            <a:fillRect/>
          </a:stretch>
        </p:blipFill>
        <p:spPr>
          <a:xfrm>
            <a:off x="493776" y="3008376"/>
            <a:ext cx="251655" cy="182880"/>
          </a:xfrm>
          <a:prstGeom prst="rect">
            <a:avLst/>
          </a:prstGeom>
        </p:spPr>
      </p:pic>
      <p:pic>
        <p:nvPicPr>
          <p:cNvPr id="19" name="Picture 18" descr="c13_pt.png"/>
          <p:cNvPicPr>
            <a:picLocks noChangeAspect="1"/>
          </p:cNvPicPr>
          <p:nvPr/>
        </p:nvPicPr>
        <p:blipFill>
          <a:blip r:embed="rId5"/>
          <a:stretch>
            <a:fillRect/>
          </a:stretch>
        </p:blipFill>
        <p:spPr>
          <a:xfrm>
            <a:off x="493776" y="3337560"/>
            <a:ext cx="154004" cy="182880"/>
          </a:xfrm>
          <a:prstGeom prst="rect">
            <a:avLst/>
          </a:prstGeom>
        </p:spPr>
      </p:pic>
      <p:pic>
        <p:nvPicPr>
          <p:cNvPr id="20" name="Picture 19" descr="c13_p0.png"/>
          <p:cNvPicPr>
            <a:picLocks noChangeAspect="1"/>
          </p:cNvPicPr>
          <p:nvPr/>
        </p:nvPicPr>
        <p:blipFill>
          <a:blip r:embed="rId6"/>
          <a:stretch>
            <a:fillRect/>
          </a:stretch>
        </p:blipFill>
        <p:spPr>
          <a:xfrm>
            <a:off x="493776" y="3666744"/>
            <a:ext cx="165387" cy="182880"/>
          </a:xfrm>
          <a:prstGeom prst="rect">
            <a:avLst/>
          </a:prstGeom>
        </p:spPr>
      </p:pic>
      <p:pic>
        <p:nvPicPr>
          <p:cNvPr id="21" name="Picture 20" descr="c13_q0.png"/>
          <p:cNvPicPr>
            <a:picLocks noChangeAspect="1"/>
          </p:cNvPicPr>
          <p:nvPr/>
        </p:nvPicPr>
        <p:blipFill>
          <a:blip r:embed="rId7"/>
          <a:stretch>
            <a:fillRect/>
          </a:stretch>
        </p:blipFill>
        <p:spPr>
          <a:xfrm>
            <a:off x="4791456" y="3008376"/>
            <a:ext cx="152665" cy="182880"/>
          </a:xfrm>
          <a:prstGeom prst="rect">
            <a:avLst/>
          </a:prstGeom>
        </p:spPr>
      </p:pic>
      <p:pic>
        <p:nvPicPr>
          <p:cNvPr id="22" name="Picture 21" descr="c13_w0.png"/>
          <p:cNvPicPr>
            <a:picLocks noChangeAspect="1"/>
          </p:cNvPicPr>
          <p:nvPr/>
        </p:nvPicPr>
        <p:blipFill>
          <a:blip r:embed="rId8"/>
          <a:stretch>
            <a:fillRect/>
          </a:stretch>
        </p:blipFill>
        <p:spPr>
          <a:xfrm>
            <a:off x="4791456" y="3337560"/>
            <a:ext cx="178109" cy="1828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Metodología: Índices Encadenados (Novedad INPC 2024)</a:t>
            </a:r>
            <a:endParaRPr lang="en-US" sz="2200" dirty="0"/>
          </a:p>
        </p:txBody>
      </p:sp>
      <p:sp>
        <p:nvSpPr>
          <p:cNvPr id="4" name="Shape 2"/>
          <p:cNvSpPr/>
          <p:nvPr/>
        </p:nvSpPr>
        <p:spPr>
          <a:xfrm>
            <a:off x="320040" y="960120"/>
            <a:ext cx="8503920" cy="685800"/>
          </a:xfrm>
          <a:prstGeom prst="roundRect">
            <a:avLst>
              <a:gd name="adj" fmla="val 16000"/>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5" name="Text 3"/>
          <p:cNvSpPr/>
          <p:nvPr/>
        </p:nvSpPr>
        <p:spPr>
          <a:xfrm>
            <a:off x="475488" y="1005840"/>
            <a:ext cx="8229600" cy="594360"/>
          </a:xfrm>
          <a:prstGeom prst="rect">
            <a:avLst/>
          </a:prstGeom>
          <a:noFill/>
          <a:ln/>
        </p:spPr>
        <p:txBody>
          <a:bodyPr wrap="square" rtlCol="0" anchor="t"/>
          <a:lstStyle/>
          <a:p>
            <a:pPr marL="0" indent="0">
              <a:buNone/>
            </a:pPr>
            <a:r>
              <a:rPr lang="en-US" sz="1050" b="1" dirty="0">
                <a:solidFill>
                  <a:srgbClr val="1A2F5A"/>
                </a:solidFill>
                <a:latin typeface="Calibri" pitchFamily="34" charset="0"/>
                <a:ea typeface="Calibri" pitchFamily="34" charset="-122"/>
                <a:cs typeface="Calibri" pitchFamily="34" charset="-120"/>
              </a:rPr>
              <a:t>¿Qué es? </a:t>
            </a:r>
            <a:r>
              <a:rPr lang="en-US" sz="1050" dirty="0">
                <a:solidFill>
                  <a:srgbClr val="1E293B"/>
                </a:solidFill>
                <a:latin typeface="Calibri" pitchFamily="34" charset="0"/>
                <a:ea typeface="Calibri" pitchFamily="34" charset="-122"/>
                <a:cs typeface="Calibri" pitchFamily="34" charset="-120"/>
              </a:rPr>
              <a:t>Permite actualizar la canasta y ponderadores con mayor frecuencia sin romper la continuidad histórica de la serie. Entre cada periodo de encadenamiento el índice se calcula como Laspeyres de base y ponderaciones fijas.</a:t>
            </a:r>
            <a:endParaRPr lang="en-US" sz="1050" dirty="0"/>
          </a:p>
        </p:txBody>
      </p:sp>
      <p:sp>
        <p:nvSpPr>
          <p:cNvPr id="6" name="Shape 4"/>
          <p:cNvSpPr/>
          <p:nvPr/>
        </p:nvSpPr>
        <p:spPr>
          <a:xfrm>
            <a:off x="295348" y="1746504"/>
            <a:ext cx="8503920" cy="1024128"/>
          </a:xfrm>
          <a:prstGeom prst="roundRect">
            <a:avLst>
              <a:gd name="adj" fmla="val 10714"/>
            </a:avLst>
          </a:prstGeom>
          <a:solidFill>
            <a:srgbClr val="E0F7F5"/>
          </a:solidFill>
          <a:ln/>
          <a:effectLst>
            <a:outerShdw blurRad="50800" dist="25400" dir="2700000" algn="bl" rotWithShape="0">
              <a:srgbClr val="000000">
                <a:alpha val="10000"/>
              </a:srgbClr>
            </a:outerShdw>
          </a:effectLst>
        </p:spPr>
        <p:txBody>
          <a:bodyPr/>
          <a:lstStyle/>
          <a:p>
            <a:endParaRPr/>
          </a:p>
        </p:txBody>
      </p:sp>
      <p:sp>
        <p:nvSpPr>
          <p:cNvPr id="7" name="Shape 5"/>
          <p:cNvSpPr/>
          <p:nvPr/>
        </p:nvSpPr>
        <p:spPr>
          <a:xfrm>
            <a:off x="384048" y="1819656"/>
            <a:ext cx="347472" cy="347472"/>
          </a:xfrm>
          <a:prstGeom prst="roundRect">
            <a:avLst>
              <a:gd name="adj" fmla="val 21053"/>
            </a:avLst>
          </a:prstGeom>
          <a:solidFill>
            <a:srgbClr val="0B7A75"/>
          </a:solidFill>
          <a:ln/>
        </p:spPr>
        <p:txBody>
          <a:bodyPr/>
          <a:lstStyle/>
          <a:p>
            <a:endParaRPr/>
          </a:p>
        </p:txBody>
      </p:sp>
      <p:sp>
        <p:nvSpPr>
          <p:cNvPr id="8" name="Text 6"/>
          <p:cNvSpPr/>
          <p:nvPr/>
        </p:nvSpPr>
        <p:spPr>
          <a:xfrm>
            <a:off x="384048" y="181965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9" name="Text 7"/>
          <p:cNvSpPr/>
          <p:nvPr/>
        </p:nvSpPr>
        <p:spPr>
          <a:xfrm>
            <a:off x="804672" y="1828800"/>
            <a:ext cx="7909560" cy="274320"/>
          </a:xfrm>
          <a:prstGeom prst="rect">
            <a:avLst/>
          </a:prstGeom>
          <a:noFill/>
          <a:ln/>
        </p:spPr>
        <p:txBody>
          <a:bodyPr wrap="square" rtlCol="0" anchor="ctr"/>
          <a:lstStyle/>
          <a:p>
            <a:pPr marL="0" indent="0">
              <a:buNone/>
            </a:pPr>
            <a:r>
              <a:rPr lang="en-US" sz="1150" b="1" dirty="0">
                <a:solidFill>
                  <a:srgbClr val="0B7A75"/>
                </a:solidFill>
                <a:latin typeface="Cambria" pitchFamily="34" charset="0"/>
                <a:ea typeface="Cambria" pitchFamily="34" charset="-122"/>
                <a:cs typeface="Cambria" pitchFamily="34" charset="-120"/>
              </a:rPr>
              <a:t>Obtener el factor de encadenamiento</a:t>
            </a:r>
            <a:endParaRPr lang="en-US" sz="1150" dirty="0"/>
          </a:p>
        </p:txBody>
      </p:sp>
      <p:sp>
        <p:nvSpPr>
          <p:cNvPr id="11" name="Text 9"/>
          <p:cNvSpPr/>
          <p:nvPr/>
        </p:nvSpPr>
        <p:spPr>
          <a:xfrm>
            <a:off x="841248" y="2176272"/>
            <a:ext cx="3913632" cy="292608"/>
          </a:xfrm>
          <a:prstGeom prst="rect">
            <a:avLst/>
          </a:prstGeom>
          <a:noFill/>
          <a:ln/>
        </p:spPr>
        <p:txBody>
          <a:bodyPr wrap="square" lIns="0" tIns="0" rIns="0" bIns="0" rtlCol="0" anchor="ctr"/>
          <a:lstStyle/>
          <a:p>
            <a:pPr marL="0" indent="0" algn="ctr">
              <a:buNone/>
            </a:pPr>
            <a:endParaRPr lang="en-US" sz="950" dirty="0"/>
          </a:p>
        </p:txBody>
      </p:sp>
      <p:sp>
        <p:nvSpPr>
          <p:cNvPr id="12" name="Text 10"/>
          <p:cNvSpPr/>
          <p:nvPr/>
        </p:nvSpPr>
        <p:spPr>
          <a:xfrm>
            <a:off x="4892040" y="2032207"/>
            <a:ext cx="3767328" cy="548640"/>
          </a:xfrm>
          <a:prstGeom prst="rect">
            <a:avLst/>
          </a:prstGeom>
          <a:noFill/>
          <a:ln/>
        </p:spPr>
        <p:txBody>
          <a:bodyPr wrap="square" rtlCol="0" anchor="t"/>
          <a:lstStyle/>
          <a:p>
            <a:pPr marL="0" indent="0">
              <a:buNone/>
            </a:pPr>
            <a:r>
              <a:rPr lang="en-US" sz="920" dirty="0">
                <a:solidFill>
                  <a:srgbClr val="1E293B"/>
                </a:solidFill>
                <a:latin typeface="Calibri" pitchFamily="34" charset="0"/>
                <a:ea typeface="Calibri" pitchFamily="34" charset="-122"/>
                <a:cs typeface="Calibri" pitchFamily="34" charset="-120"/>
              </a:rPr>
              <a:t>Se calcula una sola vez en el periodo de empalme (2ª quincena julio 2024). Usa el valor del índice calculado con los ponderadores anteriores (ENGASTO 2012). Se mantiene fijo hasta la siguiente actualización.</a:t>
            </a:r>
            <a:endParaRPr lang="en-US" sz="920" dirty="0"/>
          </a:p>
        </p:txBody>
      </p:sp>
      <p:sp>
        <p:nvSpPr>
          <p:cNvPr id="13" name="Shape 11"/>
          <p:cNvSpPr/>
          <p:nvPr/>
        </p:nvSpPr>
        <p:spPr>
          <a:xfrm>
            <a:off x="320040" y="2834640"/>
            <a:ext cx="8503920" cy="1024128"/>
          </a:xfrm>
          <a:prstGeom prst="roundRect">
            <a:avLst>
              <a:gd name="adj" fmla="val 10714"/>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14" name="Shape 12"/>
          <p:cNvSpPr/>
          <p:nvPr/>
        </p:nvSpPr>
        <p:spPr>
          <a:xfrm>
            <a:off x="384048" y="2916936"/>
            <a:ext cx="347472" cy="347472"/>
          </a:xfrm>
          <a:prstGeom prst="roundRect">
            <a:avLst>
              <a:gd name="adj" fmla="val 21053"/>
            </a:avLst>
          </a:prstGeom>
          <a:solidFill>
            <a:srgbClr val="1A2F5A"/>
          </a:solidFill>
          <a:ln/>
        </p:spPr>
        <p:txBody>
          <a:bodyPr/>
          <a:lstStyle/>
          <a:p>
            <a:endParaRPr/>
          </a:p>
        </p:txBody>
      </p:sp>
      <p:sp>
        <p:nvSpPr>
          <p:cNvPr id="15" name="Text 13"/>
          <p:cNvSpPr/>
          <p:nvPr/>
        </p:nvSpPr>
        <p:spPr>
          <a:xfrm>
            <a:off x="384048" y="29169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6" name="Text 14"/>
          <p:cNvSpPr/>
          <p:nvPr/>
        </p:nvSpPr>
        <p:spPr>
          <a:xfrm>
            <a:off x="804672" y="2926080"/>
            <a:ext cx="7909560" cy="274320"/>
          </a:xfrm>
          <a:prstGeom prst="rect">
            <a:avLst/>
          </a:prstGeom>
          <a:noFill/>
          <a:ln/>
        </p:spPr>
        <p:txBody>
          <a:bodyPr wrap="square" rtlCol="0" anchor="ctr"/>
          <a:lstStyle/>
          <a:p>
            <a:pPr marL="0" indent="0">
              <a:buNone/>
            </a:pPr>
            <a:r>
              <a:rPr lang="en-US" sz="1150" b="1" dirty="0">
                <a:solidFill>
                  <a:srgbClr val="1A2F5A"/>
                </a:solidFill>
                <a:latin typeface="Cambria" pitchFamily="34" charset="0"/>
                <a:ea typeface="Cambria" pitchFamily="34" charset="-122"/>
                <a:cs typeface="Cambria" pitchFamily="34" charset="-120"/>
              </a:rPr>
              <a:t>Calcular el índice encadenado</a:t>
            </a:r>
            <a:endParaRPr lang="en-US" sz="1150" dirty="0"/>
          </a:p>
        </p:txBody>
      </p:sp>
      <p:sp>
        <p:nvSpPr>
          <p:cNvPr id="18" name="Text 16"/>
          <p:cNvSpPr/>
          <p:nvPr/>
        </p:nvSpPr>
        <p:spPr>
          <a:xfrm>
            <a:off x="841248" y="3273552"/>
            <a:ext cx="3913632" cy="292608"/>
          </a:xfrm>
          <a:prstGeom prst="rect">
            <a:avLst/>
          </a:prstGeom>
          <a:noFill/>
          <a:ln/>
        </p:spPr>
        <p:txBody>
          <a:bodyPr wrap="square" lIns="0" tIns="0" rIns="0" bIns="0" rtlCol="0" anchor="ctr"/>
          <a:lstStyle/>
          <a:p>
            <a:pPr marL="0" indent="0" algn="ctr">
              <a:buNone/>
            </a:pPr>
            <a:endParaRPr lang="en-US" sz="950" dirty="0"/>
          </a:p>
        </p:txBody>
      </p:sp>
      <p:sp>
        <p:nvSpPr>
          <p:cNvPr id="19" name="Text 17"/>
          <p:cNvSpPr/>
          <p:nvPr/>
        </p:nvSpPr>
        <p:spPr>
          <a:xfrm>
            <a:off x="4892040" y="3099816"/>
            <a:ext cx="3767328" cy="548640"/>
          </a:xfrm>
          <a:prstGeom prst="rect">
            <a:avLst/>
          </a:prstGeom>
          <a:noFill/>
          <a:ln/>
        </p:spPr>
        <p:txBody>
          <a:bodyPr wrap="square" rtlCol="0" anchor="t"/>
          <a:lstStyle/>
          <a:p>
            <a:pPr marL="0" indent="0">
              <a:buNone/>
            </a:pPr>
            <a:r>
              <a:rPr lang="en-US" sz="920" dirty="0">
                <a:solidFill>
                  <a:srgbClr val="1E293B"/>
                </a:solidFill>
                <a:latin typeface="Calibri" pitchFamily="34" charset="0"/>
                <a:ea typeface="Calibri" pitchFamily="34" charset="-122"/>
                <a:cs typeface="Calibri" pitchFamily="34" charset="-120"/>
              </a:rPr>
              <a:t>El índice de la nueva canasta (ponderadores ENIGH 2022) se multiplica por el factor de encadenamiento. Garantiza que la serie mantiene la base julio 2018=100 y la continuidad histórica.</a:t>
            </a:r>
            <a:endParaRPr lang="en-US" sz="920" dirty="0"/>
          </a:p>
        </p:txBody>
      </p:sp>
      <p:sp>
        <p:nvSpPr>
          <p:cNvPr id="20" name="Shape 18"/>
          <p:cNvSpPr/>
          <p:nvPr/>
        </p:nvSpPr>
        <p:spPr>
          <a:xfrm>
            <a:off x="320040" y="3931920"/>
            <a:ext cx="8503920" cy="1024128"/>
          </a:xfrm>
          <a:prstGeom prst="roundRect">
            <a:avLst>
              <a:gd name="adj" fmla="val 10714"/>
            </a:avLst>
          </a:prstGeom>
          <a:solidFill>
            <a:srgbClr val="FFF1F2"/>
          </a:solidFill>
          <a:ln/>
          <a:effectLst>
            <a:outerShdw blurRad="50800" dist="25400" dir="2700000" algn="bl" rotWithShape="0">
              <a:srgbClr val="000000">
                <a:alpha val="10000"/>
              </a:srgbClr>
            </a:outerShdw>
          </a:effectLst>
        </p:spPr>
        <p:txBody>
          <a:bodyPr/>
          <a:lstStyle/>
          <a:p>
            <a:endParaRPr/>
          </a:p>
        </p:txBody>
      </p:sp>
      <p:sp>
        <p:nvSpPr>
          <p:cNvPr id="21" name="Shape 19"/>
          <p:cNvSpPr/>
          <p:nvPr/>
        </p:nvSpPr>
        <p:spPr>
          <a:xfrm>
            <a:off x="384048" y="4014216"/>
            <a:ext cx="347472" cy="347472"/>
          </a:xfrm>
          <a:prstGeom prst="roundRect">
            <a:avLst>
              <a:gd name="adj" fmla="val 21053"/>
            </a:avLst>
          </a:prstGeom>
          <a:solidFill>
            <a:srgbClr val="E11D48"/>
          </a:solidFill>
          <a:ln/>
        </p:spPr>
        <p:txBody>
          <a:bodyPr/>
          <a:lstStyle/>
          <a:p>
            <a:endParaRPr/>
          </a:p>
        </p:txBody>
      </p:sp>
      <p:sp>
        <p:nvSpPr>
          <p:cNvPr id="22" name="Text 20"/>
          <p:cNvSpPr/>
          <p:nvPr/>
        </p:nvSpPr>
        <p:spPr>
          <a:xfrm>
            <a:off x="384048" y="40142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23" name="Text 21"/>
          <p:cNvSpPr/>
          <p:nvPr/>
        </p:nvSpPr>
        <p:spPr>
          <a:xfrm>
            <a:off x="804672" y="4023360"/>
            <a:ext cx="7909560" cy="274320"/>
          </a:xfrm>
          <a:prstGeom prst="rect">
            <a:avLst/>
          </a:prstGeom>
          <a:noFill/>
          <a:ln/>
        </p:spPr>
        <p:txBody>
          <a:bodyPr wrap="square" rtlCol="0" anchor="ctr"/>
          <a:lstStyle/>
          <a:p>
            <a:pPr marL="0" indent="0">
              <a:buNone/>
            </a:pPr>
            <a:r>
              <a:rPr lang="en-US" sz="1150" b="1" dirty="0">
                <a:solidFill>
                  <a:srgbClr val="E11D48"/>
                </a:solidFill>
                <a:latin typeface="Cambria" pitchFamily="34" charset="0"/>
                <a:ea typeface="Cambria" pitchFamily="34" charset="-122"/>
                <a:cs typeface="Cambria" pitchFamily="34" charset="-120"/>
              </a:rPr>
              <a:t>Consecuencia: pérdida de aditividad</a:t>
            </a:r>
            <a:endParaRPr lang="en-US" sz="1150" dirty="0"/>
          </a:p>
        </p:txBody>
      </p:sp>
      <p:sp>
        <p:nvSpPr>
          <p:cNvPr id="25" name="Text 23"/>
          <p:cNvSpPr/>
          <p:nvPr/>
        </p:nvSpPr>
        <p:spPr>
          <a:xfrm>
            <a:off x="841248" y="4370832"/>
            <a:ext cx="3913632" cy="292608"/>
          </a:xfrm>
          <a:prstGeom prst="rect">
            <a:avLst/>
          </a:prstGeom>
          <a:noFill/>
          <a:ln/>
        </p:spPr>
        <p:txBody>
          <a:bodyPr wrap="square" lIns="0" tIns="0" rIns="0" bIns="0" rtlCol="0" anchor="ctr"/>
          <a:lstStyle/>
          <a:p>
            <a:pPr marL="0" indent="0" algn="ctr">
              <a:buNone/>
            </a:pPr>
            <a:endParaRPr lang="en-US" sz="950" dirty="0"/>
          </a:p>
        </p:txBody>
      </p:sp>
      <p:sp>
        <p:nvSpPr>
          <p:cNvPr id="26" name="Text 24"/>
          <p:cNvSpPr/>
          <p:nvPr/>
        </p:nvSpPr>
        <p:spPr>
          <a:xfrm>
            <a:off x="4892040" y="4192057"/>
            <a:ext cx="3767328" cy="548640"/>
          </a:xfrm>
          <a:prstGeom prst="rect">
            <a:avLst/>
          </a:prstGeom>
          <a:noFill/>
          <a:ln/>
        </p:spPr>
        <p:txBody>
          <a:bodyPr wrap="square" rtlCol="0" anchor="t"/>
          <a:lstStyle/>
          <a:p>
            <a:pPr marL="0" indent="0">
              <a:buNone/>
            </a:pPr>
            <a:r>
              <a:rPr lang="en-US" sz="920" dirty="0">
                <a:solidFill>
                  <a:srgbClr val="1E293B"/>
                </a:solidFill>
                <a:latin typeface="Calibri" pitchFamily="34" charset="0"/>
                <a:ea typeface="Calibri" pitchFamily="34" charset="-122"/>
                <a:cs typeface="Calibri" pitchFamily="34" charset="-120"/>
              </a:rPr>
              <a:t>Los componentes ponderados (Subyacente + No subyacente) ya no suman exactamente el INPC General. Para recalcular índices superiores se usa el factor θ = 1/f_h para hacer aditivos los subíndices temporalmente.</a:t>
            </a:r>
            <a:endParaRPr lang="en-US" sz="920" dirty="0"/>
          </a:p>
        </p:txBody>
      </p:sp>
      <p:pic>
        <p:nvPicPr>
          <p:cNvPr id="27" name="Picture 26" descr="v13_factor.png"/>
          <p:cNvPicPr>
            <a:picLocks noChangeAspect="1"/>
          </p:cNvPicPr>
          <p:nvPr/>
        </p:nvPicPr>
        <p:blipFill>
          <a:blip r:embed="rId3"/>
          <a:stretch>
            <a:fillRect/>
          </a:stretch>
        </p:blipFill>
        <p:spPr>
          <a:xfrm>
            <a:off x="1150829" y="2121408"/>
            <a:ext cx="1697527" cy="512064"/>
          </a:xfrm>
          <a:prstGeom prst="rect">
            <a:avLst/>
          </a:prstGeom>
        </p:spPr>
      </p:pic>
      <p:pic>
        <p:nvPicPr>
          <p:cNvPr id="28" name="Picture 27" descr="v13_encadenado.png"/>
          <p:cNvPicPr>
            <a:picLocks noChangeAspect="1"/>
          </p:cNvPicPr>
          <p:nvPr/>
        </p:nvPicPr>
        <p:blipFill>
          <a:blip r:embed="rId4"/>
          <a:stretch>
            <a:fillRect/>
          </a:stretch>
        </p:blipFill>
        <p:spPr>
          <a:xfrm>
            <a:off x="1086495" y="3247728"/>
            <a:ext cx="3000313" cy="400727"/>
          </a:xfrm>
          <a:prstGeom prst="rect">
            <a:avLst/>
          </a:prstGeom>
        </p:spPr>
      </p:pic>
      <p:pic>
        <p:nvPicPr>
          <p:cNvPr id="29" name="Picture 28" descr="v13_ejemplo.png"/>
          <p:cNvPicPr>
            <a:picLocks noChangeAspect="1"/>
          </p:cNvPicPr>
          <p:nvPr/>
        </p:nvPicPr>
        <p:blipFill>
          <a:blip r:embed="rId5"/>
          <a:stretch>
            <a:fillRect/>
          </a:stretch>
        </p:blipFill>
        <p:spPr>
          <a:xfrm>
            <a:off x="868510" y="4443984"/>
            <a:ext cx="3678798" cy="1952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Los Genéricos: Unidad Básica del INPC</a:t>
            </a:r>
            <a:endParaRPr lang="en-US" sz="2200" dirty="0"/>
          </a:p>
        </p:txBody>
      </p:sp>
      <p:sp>
        <p:nvSpPr>
          <p:cNvPr id="4" name="Shape 2"/>
          <p:cNvSpPr/>
          <p:nvPr/>
        </p:nvSpPr>
        <p:spPr>
          <a:xfrm>
            <a:off x="320040" y="960120"/>
            <a:ext cx="8503920" cy="777240"/>
          </a:xfrm>
          <a:prstGeom prst="roundRect">
            <a:avLst>
              <a:gd name="adj" fmla="val 14118"/>
            </a:avLst>
          </a:prstGeom>
          <a:solidFill>
            <a:srgbClr val="EEF2FF"/>
          </a:solidFill>
          <a:ln/>
          <a:effectLst>
            <a:outerShdw blurRad="50800" dist="25400" dir="2700000" algn="bl" rotWithShape="0">
              <a:srgbClr val="000000">
                <a:alpha val="10000"/>
              </a:srgbClr>
            </a:outerShdw>
          </a:effectLst>
        </p:spPr>
      </p:sp>
      <p:sp>
        <p:nvSpPr>
          <p:cNvPr id="5" name="Text 3"/>
          <p:cNvSpPr/>
          <p:nvPr/>
        </p:nvSpPr>
        <p:spPr>
          <a:xfrm>
            <a:off x="475488" y="1005840"/>
            <a:ext cx="8229600" cy="685800"/>
          </a:xfrm>
          <a:prstGeom prst="rect">
            <a:avLst/>
          </a:prstGeom>
          <a:noFill/>
          <a:ln/>
        </p:spPr>
        <p:txBody>
          <a:bodyPr wrap="square" rtlCol="0" anchor="t"/>
          <a:lstStyle/>
          <a:p>
            <a:pPr marL="0" indent="0">
              <a:buNone/>
            </a:pPr>
            <a:r>
              <a:rPr lang="en-US" sz="1150" b="1" dirty="0">
                <a:solidFill>
                  <a:srgbClr val="1A2F5A"/>
                </a:solidFill>
                <a:latin typeface="Calibri" pitchFamily="34" charset="0"/>
                <a:ea typeface="Calibri" pitchFamily="34" charset="-122"/>
                <a:cs typeface="Calibri" pitchFamily="34" charset="-120"/>
              </a:rPr>
              <a:t>Genérico: </a:t>
            </a:r>
            <a:r>
              <a:rPr lang="en-US" sz="1150" dirty="0">
                <a:solidFill>
                  <a:srgbClr val="1E293B"/>
                </a:solidFill>
                <a:latin typeface="Calibri" pitchFamily="34" charset="0"/>
                <a:ea typeface="Calibri" pitchFamily="34" charset="-122"/>
                <a:cs typeface="Calibri" pitchFamily="34" charset="-120"/>
              </a:rPr>
              <a:t>conjunto de bienes o servicios relativamente homogéneos con un uso final común. Es la categoría primaria para la cual se dispone de datos de gasto y ponderación propia, con la que se calculan los índices según la fórmula de Laspeyres.</a:t>
            </a:r>
            <a:endParaRPr lang="en-US" sz="1150" dirty="0"/>
          </a:p>
        </p:txBody>
      </p:sp>
      <p:sp>
        <p:nvSpPr>
          <p:cNvPr id="6" name="Shape 4"/>
          <p:cNvSpPr/>
          <p:nvPr/>
        </p:nvSpPr>
        <p:spPr>
          <a:xfrm>
            <a:off x="320040" y="1828800"/>
            <a:ext cx="5138928" cy="2999232"/>
          </a:xfrm>
          <a:prstGeom prst="roundRect">
            <a:avLst>
              <a:gd name="adj" fmla="val 3659"/>
            </a:avLst>
          </a:prstGeom>
          <a:solidFill>
            <a:srgbClr val="E0F7F5"/>
          </a:solidFill>
          <a:ln/>
          <a:effectLst>
            <a:outerShdw blurRad="50800" dist="25400" dir="2700000" algn="bl" rotWithShape="0">
              <a:srgbClr val="000000">
                <a:alpha val="10000"/>
              </a:srgbClr>
            </a:outerShdw>
          </a:effectLst>
        </p:spPr>
      </p:sp>
      <p:sp>
        <p:nvSpPr>
          <p:cNvPr id="7" name="Text 5"/>
          <p:cNvSpPr/>
          <p:nvPr/>
        </p:nvSpPr>
        <p:spPr>
          <a:xfrm>
            <a:off x="475488" y="1892808"/>
            <a:ext cx="4846320" cy="292608"/>
          </a:xfrm>
          <a:prstGeom prst="rect">
            <a:avLst/>
          </a:prstGeom>
          <a:noFill/>
          <a:ln/>
        </p:spPr>
        <p:txBody>
          <a:bodyPr wrap="square" rtlCol="0" anchor="ctr"/>
          <a:lstStyle/>
          <a:p>
            <a:pPr marL="0" indent="0">
              <a:buNone/>
            </a:pPr>
            <a:r>
              <a:rPr lang="en-US" sz="1300" b="1" dirty="0">
                <a:solidFill>
                  <a:srgbClr val="0B7A75"/>
                </a:solidFill>
                <a:latin typeface="Cambria" pitchFamily="34" charset="0"/>
                <a:ea typeface="Cambria" pitchFamily="34" charset="-122"/>
                <a:cs typeface="Cambria" pitchFamily="34" charset="-120"/>
              </a:rPr>
              <a:t>Ejemplo: Genérico 'Carne de res'</a:t>
            </a:r>
            <a:endParaRPr lang="en-US" sz="1300" dirty="0"/>
          </a:p>
        </p:txBody>
      </p:sp>
      <p:sp>
        <p:nvSpPr>
          <p:cNvPr id="8" name="Text 6"/>
          <p:cNvSpPr/>
          <p:nvPr/>
        </p:nvSpPr>
        <p:spPr>
          <a:xfrm>
            <a:off x="475488" y="2231136"/>
            <a:ext cx="4846320" cy="658368"/>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Agrupa bajo un mismo índice elemental distintas especificaciones (cortes, presentaciones, marcas) que comparten ser carne de res para consumo del hogar. No se mide el precio de cada corte por separado.</a:t>
            </a:r>
            <a:endParaRPr lang="en-US" sz="1050" dirty="0"/>
          </a:p>
        </p:txBody>
      </p:sp>
      <p:sp>
        <p:nvSpPr>
          <p:cNvPr id="9" name="Shape 7"/>
          <p:cNvSpPr/>
          <p:nvPr/>
        </p:nvSpPr>
        <p:spPr>
          <a:xfrm>
            <a:off x="384048" y="2944368"/>
            <a:ext cx="4956048" cy="804672"/>
          </a:xfrm>
          <a:prstGeom prst="roundRect">
            <a:avLst>
              <a:gd name="adj" fmla="val 13636"/>
            </a:avLst>
          </a:prstGeom>
          <a:solidFill>
            <a:srgbClr val="FFFFFF"/>
          </a:solidFill>
          <a:ln/>
        </p:spPr>
      </p:sp>
      <p:sp>
        <p:nvSpPr>
          <p:cNvPr id="10" name="Text 8"/>
          <p:cNvSpPr/>
          <p:nvPr/>
        </p:nvSpPr>
        <p:spPr>
          <a:xfrm>
            <a:off x="502920" y="2999232"/>
            <a:ext cx="4773168" cy="685800"/>
          </a:xfrm>
          <a:prstGeom prst="rect">
            <a:avLst/>
          </a:prstGeom>
          <a:noFill/>
          <a:ln/>
        </p:spPr>
        <p:txBody>
          <a:bodyPr wrap="square" rtlCol="0" anchor="t"/>
          <a:lstStyle/>
          <a:p>
            <a:pPr marL="0" indent="0">
              <a:buNone/>
            </a:pPr>
            <a:r>
              <a:rPr lang="en-US" sz="1000" b="1" dirty="0">
                <a:solidFill>
                  <a:srgbClr val="0B7A75"/>
                </a:solidFill>
                <a:latin typeface="Calibri" pitchFamily="34" charset="0"/>
                <a:ea typeface="Calibri" pitchFamily="34" charset="-122"/>
                <a:cs typeface="Calibri" pitchFamily="34" charset="-120"/>
              </a:rPr>
              <a:t>Especificación: </a:t>
            </a:r>
            <a:r>
              <a:rPr lang="en-US" sz="1000" i="1" dirty="0">
                <a:solidFill>
                  <a:srgbClr val="1E293B"/>
                </a:solidFill>
                <a:latin typeface="Calibri" pitchFamily="34" charset="0"/>
                <a:ea typeface="Calibri" pitchFamily="34" charset="-122"/>
                <a:cs typeface="Calibri" pitchFamily="34" charset="-120"/>
              </a:rPr>
              <a:t>"Bistec de res, granel, calidad estándar, precio menudeo con IVA, en carnicería de mercado público, 1 kg"</a:t>
            </a:r>
            <a:endParaRPr lang="en-US" sz="1000" dirty="0"/>
          </a:p>
        </p:txBody>
      </p:sp>
      <p:sp>
        <p:nvSpPr>
          <p:cNvPr id="11" name="Text 9"/>
          <p:cNvSpPr/>
          <p:nvPr/>
        </p:nvSpPr>
        <p:spPr>
          <a:xfrm>
            <a:off x="438912" y="4078224"/>
            <a:ext cx="4846320" cy="438912"/>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El índice del genérico agrega muchas especificaciones así, en distintos puntos de venta y en las 55 ciudades.</a:t>
            </a:r>
            <a:endParaRPr lang="en-US" sz="1000" dirty="0"/>
          </a:p>
        </p:txBody>
      </p:sp>
      <p:sp>
        <p:nvSpPr>
          <p:cNvPr id="13" name="Shape 11"/>
          <p:cNvSpPr/>
          <p:nvPr/>
        </p:nvSpPr>
        <p:spPr>
          <a:xfrm>
            <a:off x="5669280" y="1828800"/>
            <a:ext cx="2852928" cy="658368"/>
          </a:xfrm>
          <a:prstGeom prst="roundRect">
            <a:avLst>
              <a:gd name="adj" fmla="val 16667"/>
            </a:avLst>
          </a:prstGeom>
          <a:solidFill>
            <a:srgbClr val="1A2F5A"/>
          </a:solidFill>
          <a:ln/>
          <a:effectLst>
            <a:outerShdw blurRad="50800" dist="25400" dir="2700000" algn="bl" rotWithShape="0">
              <a:srgbClr val="000000">
                <a:alpha val="10000"/>
              </a:srgbClr>
            </a:outerShdw>
          </a:effectLst>
        </p:spPr>
      </p:sp>
      <p:sp>
        <p:nvSpPr>
          <p:cNvPr id="14" name="Text 12"/>
          <p:cNvSpPr/>
          <p:nvPr/>
        </p:nvSpPr>
        <p:spPr>
          <a:xfrm>
            <a:off x="5669280" y="1865376"/>
            <a:ext cx="1371600" cy="585216"/>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292</a:t>
            </a:r>
            <a:endParaRPr lang="en-US" sz="2600" dirty="0"/>
          </a:p>
        </p:txBody>
      </p:sp>
      <p:sp>
        <p:nvSpPr>
          <p:cNvPr id="15" name="Text 13"/>
          <p:cNvSpPr/>
          <p:nvPr/>
        </p:nvSpPr>
        <p:spPr>
          <a:xfrm>
            <a:off x="7040880" y="1920240"/>
            <a:ext cx="1371600" cy="502920"/>
          </a:xfrm>
          <a:prstGeom prst="rect">
            <a:avLst/>
          </a:prstGeom>
          <a:noFill/>
          <a:ln/>
        </p:spPr>
        <p:txBody>
          <a:bodyPr wrap="square" rtlCol="0" anchor="ctr"/>
          <a:lstStyle/>
          <a:p>
            <a:pPr marL="0" indent="0">
              <a:buNone/>
            </a:pPr>
            <a:r>
              <a:rPr lang="en-US" sz="1050" dirty="0">
                <a:solidFill>
                  <a:srgbClr val="D1E8FF"/>
                </a:solidFill>
              </a:rPr>
              <a:t>genéricos</a:t>
            </a:r>
            <a:endParaRPr lang="en-US" sz="1050" dirty="0"/>
          </a:p>
          <a:p>
            <a:pPr marL="0" indent="0">
              <a:buNone/>
            </a:pPr>
            <a:r>
              <a:rPr lang="en-US" sz="1050" dirty="0">
                <a:solidFill>
                  <a:srgbClr val="D1E8FF"/>
                </a:solidFill>
              </a:rPr>
              <a:t>2024</a:t>
            </a:r>
            <a:endParaRPr lang="en-US" sz="1050" dirty="0"/>
          </a:p>
        </p:txBody>
      </p:sp>
      <p:sp>
        <p:nvSpPr>
          <p:cNvPr id="16" name="Shape 14"/>
          <p:cNvSpPr/>
          <p:nvPr/>
        </p:nvSpPr>
        <p:spPr>
          <a:xfrm>
            <a:off x="5669280" y="2578608"/>
            <a:ext cx="2852928" cy="658368"/>
          </a:xfrm>
          <a:prstGeom prst="roundRect">
            <a:avLst>
              <a:gd name="adj" fmla="val 16667"/>
            </a:avLst>
          </a:prstGeom>
          <a:solidFill>
            <a:srgbClr val="0B7A75"/>
          </a:solidFill>
          <a:ln/>
          <a:effectLst>
            <a:outerShdw blurRad="50800" dist="25400" dir="2700000" algn="bl" rotWithShape="0">
              <a:srgbClr val="000000">
                <a:alpha val="10000"/>
              </a:srgbClr>
            </a:outerShdw>
          </a:effectLst>
        </p:spPr>
      </p:sp>
      <p:sp>
        <p:nvSpPr>
          <p:cNvPr id="17" name="Text 15"/>
          <p:cNvSpPr/>
          <p:nvPr/>
        </p:nvSpPr>
        <p:spPr>
          <a:xfrm>
            <a:off x="5669280" y="2615184"/>
            <a:ext cx="1371600" cy="585216"/>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123K</a:t>
            </a:r>
            <a:endParaRPr lang="en-US" sz="2600" dirty="0"/>
          </a:p>
        </p:txBody>
      </p:sp>
      <p:sp>
        <p:nvSpPr>
          <p:cNvPr id="18" name="Text 16"/>
          <p:cNvSpPr/>
          <p:nvPr/>
        </p:nvSpPr>
        <p:spPr>
          <a:xfrm>
            <a:off x="7040880" y="2670048"/>
            <a:ext cx="1371600" cy="502920"/>
          </a:xfrm>
          <a:prstGeom prst="rect">
            <a:avLst/>
          </a:prstGeom>
          <a:noFill/>
          <a:ln/>
        </p:spPr>
        <p:txBody>
          <a:bodyPr wrap="square" rtlCol="0" anchor="ctr"/>
          <a:lstStyle/>
          <a:p>
            <a:pPr marL="0" indent="0">
              <a:buNone/>
            </a:pPr>
            <a:r>
              <a:rPr lang="en-US" sz="1050" dirty="0">
                <a:solidFill>
                  <a:srgbClr val="D1E8FF"/>
                </a:solidFill>
              </a:rPr>
              <a:t>especif.</a:t>
            </a:r>
            <a:endParaRPr lang="en-US" sz="1050" dirty="0"/>
          </a:p>
          <a:p>
            <a:pPr marL="0" indent="0">
              <a:buNone/>
            </a:pPr>
            <a:r>
              <a:rPr lang="en-US" sz="1050" dirty="0">
                <a:solidFill>
                  <a:srgbClr val="D1E8FF"/>
                </a:solidFill>
              </a:rPr>
              <a:t>cotizadas</a:t>
            </a:r>
            <a:endParaRPr lang="en-US" sz="1050" dirty="0"/>
          </a:p>
        </p:txBody>
      </p:sp>
      <p:sp>
        <p:nvSpPr>
          <p:cNvPr id="19" name="Shape 17"/>
          <p:cNvSpPr/>
          <p:nvPr/>
        </p:nvSpPr>
        <p:spPr>
          <a:xfrm>
            <a:off x="5669280" y="3328416"/>
            <a:ext cx="2852928" cy="658368"/>
          </a:xfrm>
          <a:prstGeom prst="roundRect">
            <a:avLst>
              <a:gd name="adj" fmla="val 16667"/>
            </a:avLst>
          </a:prstGeom>
          <a:solidFill>
            <a:srgbClr val="1A2F5A"/>
          </a:solidFill>
          <a:ln/>
          <a:effectLst>
            <a:outerShdw blurRad="50800" dist="25400" dir="2700000" algn="bl" rotWithShape="0">
              <a:srgbClr val="000000">
                <a:alpha val="10000"/>
              </a:srgbClr>
            </a:outerShdw>
          </a:effectLst>
        </p:spPr>
      </p:sp>
      <p:sp>
        <p:nvSpPr>
          <p:cNvPr id="20" name="Text 18"/>
          <p:cNvSpPr/>
          <p:nvPr/>
        </p:nvSpPr>
        <p:spPr>
          <a:xfrm>
            <a:off x="5669280" y="3364992"/>
            <a:ext cx="1371600" cy="585216"/>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341K</a:t>
            </a:r>
            <a:endParaRPr lang="en-US" sz="2600" dirty="0"/>
          </a:p>
        </p:txBody>
      </p:sp>
      <p:sp>
        <p:nvSpPr>
          <p:cNvPr id="21" name="Text 19"/>
          <p:cNvSpPr/>
          <p:nvPr/>
        </p:nvSpPr>
        <p:spPr>
          <a:xfrm>
            <a:off x="7040880" y="3419856"/>
            <a:ext cx="1371600" cy="502920"/>
          </a:xfrm>
          <a:prstGeom prst="rect">
            <a:avLst/>
          </a:prstGeom>
          <a:noFill/>
          <a:ln/>
        </p:spPr>
        <p:txBody>
          <a:bodyPr wrap="square" rtlCol="0" anchor="ctr"/>
          <a:lstStyle/>
          <a:p>
            <a:pPr marL="0" indent="0">
              <a:buNone/>
            </a:pPr>
            <a:r>
              <a:rPr lang="en-US" sz="1050" dirty="0">
                <a:solidFill>
                  <a:srgbClr val="D1E8FF"/>
                </a:solidFill>
              </a:rPr>
              <a:t>cotizaciones</a:t>
            </a:r>
            <a:endParaRPr lang="en-US" sz="1050" dirty="0"/>
          </a:p>
          <a:p>
            <a:pPr marL="0" indent="0">
              <a:buNone/>
            </a:pPr>
            <a:r>
              <a:rPr lang="en-US" sz="1050" dirty="0">
                <a:solidFill>
                  <a:srgbClr val="D1E8FF"/>
                </a:solidFill>
              </a:rPr>
              <a:t>mensuales</a:t>
            </a:r>
            <a:endParaRPr lang="en-US" sz="1050" dirty="0"/>
          </a:p>
        </p:txBody>
      </p:sp>
      <p:sp>
        <p:nvSpPr>
          <p:cNvPr id="22" name="Shape 20"/>
          <p:cNvSpPr/>
          <p:nvPr/>
        </p:nvSpPr>
        <p:spPr>
          <a:xfrm>
            <a:off x="5669280" y="4078224"/>
            <a:ext cx="2852928" cy="658368"/>
          </a:xfrm>
          <a:prstGeom prst="roundRect">
            <a:avLst>
              <a:gd name="adj" fmla="val 16667"/>
            </a:avLst>
          </a:prstGeom>
          <a:solidFill>
            <a:srgbClr val="0B7A75"/>
          </a:solidFill>
          <a:ln/>
          <a:effectLst>
            <a:outerShdw blurRad="50800" dist="25400" dir="2700000" algn="bl" rotWithShape="0">
              <a:srgbClr val="000000">
                <a:alpha val="10000"/>
              </a:srgbClr>
            </a:outerShdw>
          </a:effectLst>
        </p:spPr>
      </p:sp>
      <p:sp>
        <p:nvSpPr>
          <p:cNvPr id="23" name="Text 21"/>
          <p:cNvSpPr/>
          <p:nvPr/>
        </p:nvSpPr>
        <p:spPr>
          <a:xfrm>
            <a:off x="5669280" y="4114800"/>
            <a:ext cx="1371600" cy="585216"/>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55</a:t>
            </a:r>
            <a:endParaRPr lang="en-US" sz="2600" dirty="0"/>
          </a:p>
        </p:txBody>
      </p:sp>
      <p:sp>
        <p:nvSpPr>
          <p:cNvPr id="24" name="Text 22"/>
          <p:cNvSpPr/>
          <p:nvPr/>
        </p:nvSpPr>
        <p:spPr>
          <a:xfrm>
            <a:off x="7040880" y="4169664"/>
            <a:ext cx="1371600" cy="502920"/>
          </a:xfrm>
          <a:prstGeom prst="rect">
            <a:avLst/>
          </a:prstGeom>
          <a:noFill/>
          <a:ln/>
        </p:spPr>
        <p:txBody>
          <a:bodyPr wrap="square" rtlCol="0" anchor="ctr"/>
          <a:lstStyle/>
          <a:p>
            <a:pPr marL="0" indent="0">
              <a:buNone/>
            </a:pPr>
            <a:r>
              <a:rPr lang="en-US" sz="1050" dirty="0">
                <a:solidFill>
                  <a:srgbClr val="D1E8FF"/>
                </a:solidFill>
              </a:rPr>
              <a:t>áreas</a:t>
            </a:r>
            <a:endParaRPr lang="en-US" sz="1050" dirty="0"/>
          </a:p>
          <a:p>
            <a:pPr marL="0" indent="0">
              <a:buNone/>
            </a:pPr>
            <a:r>
              <a:rPr lang="en-US" sz="1050" dirty="0">
                <a:solidFill>
                  <a:srgbClr val="D1E8FF"/>
                </a:solidFill>
              </a:rPr>
              <a:t>geográficas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Construcción desde genéricos</a:t>
            </a:r>
            <a:endParaRPr lang="en-US" sz="2200" dirty="0"/>
          </a:p>
        </p:txBody>
      </p:sp>
      <p:sp>
        <p:nvSpPr>
          <p:cNvPr id="4" name="Shape 2"/>
          <p:cNvSpPr/>
          <p:nvPr/>
        </p:nvSpPr>
        <p:spPr>
          <a:xfrm>
            <a:off x="365760" y="1005840"/>
            <a:ext cx="4480560" cy="896112"/>
          </a:xfrm>
          <a:prstGeom prst="roundRect">
            <a:avLst>
              <a:gd name="adj" fmla="val 6122"/>
            </a:avLst>
          </a:prstGeom>
          <a:solidFill>
            <a:srgbClr val="1A2F5A"/>
          </a:solidFill>
          <a:ln/>
        </p:spPr>
      </p:sp>
      <p:sp>
        <p:nvSpPr>
          <p:cNvPr id="5" name="Text 3"/>
          <p:cNvSpPr/>
          <p:nvPr/>
        </p:nvSpPr>
        <p:spPr>
          <a:xfrm>
            <a:off x="530352" y="1005840"/>
            <a:ext cx="4151376" cy="8961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Índices genéricos nacionales — 292
</a:t>
            </a:r>
            <a:r>
              <a:rPr lang="en-US" sz="950" dirty="0">
                <a:solidFill>
                  <a:srgbClr val="D1E8FF"/>
                </a:solidFill>
                <a:latin typeface="Calibri" pitchFamily="34" charset="0"/>
                <a:ea typeface="Calibri" pitchFamily="34" charset="-122"/>
                <a:cs typeface="Calibri" pitchFamily="34" charset="-120"/>
              </a:rPr>
              <a:t>El punto de partida: un índice de precios por cada genérico de la canasta, a nivel nacional.</a:t>
            </a:r>
            <a:endParaRPr lang="en-US" sz="1300" dirty="0"/>
          </a:p>
        </p:txBody>
      </p:sp>
      <p:sp>
        <p:nvSpPr>
          <p:cNvPr id="6" name="Shape 4"/>
          <p:cNvSpPr/>
          <p:nvPr/>
        </p:nvSpPr>
        <p:spPr>
          <a:xfrm>
            <a:off x="365760" y="2121408"/>
            <a:ext cx="4480560" cy="822960"/>
          </a:xfrm>
          <a:prstGeom prst="roundRect">
            <a:avLst>
              <a:gd name="adj" fmla="val 6667"/>
            </a:avLst>
          </a:prstGeom>
          <a:solidFill>
            <a:srgbClr val="EEF2FF"/>
          </a:solidFill>
          <a:ln/>
        </p:spPr>
      </p:sp>
      <p:sp>
        <p:nvSpPr>
          <p:cNvPr id="7" name="Text 5"/>
          <p:cNvSpPr/>
          <p:nvPr/>
        </p:nvSpPr>
        <p:spPr>
          <a:xfrm>
            <a:off x="530352" y="2121408"/>
            <a:ext cx="4151376" cy="822960"/>
          </a:xfrm>
          <a:prstGeom prst="rect">
            <a:avLst/>
          </a:prstGeom>
          <a:noFill/>
          <a:ln/>
        </p:spPr>
        <p:txBody>
          <a:bodyPr wrap="square" lIns="0" tIns="0" rIns="0" bIns="0" rtlCol="0" anchor="ctr"/>
          <a:lstStyle/>
          <a:p>
            <a:pPr marL="0" indent="0">
              <a:buNone/>
            </a:pPr>
            <a:r>
              <a:rPr lang="en-US" sz="1200" b="1" dirty="0">
                <a:solidFill>
                  <a:srgbClr val="1A2F5A"/>
                </a:solidFill>
                <a:latin typeface="Calibri" pitchFamily="34" charset="0"/>
                <a:ea typeface="Calibri" pitchFamily="34" charset="-122"/>
                <a:cs typeface="Calibri" pitchFamily="34" charset="-120"/>
              </a:rPr>
              <a:t>Generación de ponderadores
</a:t>
            </a:r>
            <a:r>
              <a:rPr lang="en-US" sz="950" dirty="0">
                <a:solidFill>
                  <a:srgbClr val="1E293B"/>
                </a:solidFill>
                <a:latin typeface="Calibri" pitchFamily="34" charset="0"/>
                <a:ea typeface="Calibri" pitchFamily="34" charset="-122"/>
                <a:cs typeface="Calibri" pitchFamily="34" charset="-120"/>
              </a:rPr>
              <a:t>Con la ENIGH Estacional 2022 se calcula el peso de cada genérico: su participación en el gasto total de los hogares (ω_k).</a:t>
            </a:r>
            <a:endParaRPr lang="en-US" sz="1200" dirty="0"/>
          </a:p>
        </p:txBody>
      </p:sp>
      <p:sp>
        <p:nvSpPr>
          <p:cNvPr id="8" name="Shape 6"/>
          <p:cNvSpPr/>
          <p:nvPr/>
        </p:nvSpPr>
        <p:spPr>
          <a:xfrm>
            <a:off x="365760" y="3145536"/>
            <a:ext cx="4480560" cy="822960"/>
          </a:xfrm>
          <a:prstGeom prst="roundRect">
            <a:avLst>
              <a:gd name="adj" fmla="val 6667"/>
            </a:avLst>
          </a:prstGeom>
          <a:solidFill>
            <a:srgbClr val="EEF2FF"/>
          </a:solidFill>
          <a:ln/>
        </p:spPr>
      </p:sp>
      <p:sp>
        <p:nvSpPr>
          <p:cNvPr id="9" name="Text 7"/>
          <p:cNvSpPr/>
          <p:nvPr/>
        </p:nvSpPr>
        <p:spPr>
          <a:xfrm>
            <a:off x="530352" y="3145536"/>
            <a:ext cx="4151376" cy="822960"/>
          </a:xfrm>
          <a:prstGeom prst="rect">
            <a:avLst/>
          </a:prstGeom>
          <a:noFill/>
          <a:ln/>
        </p:spPr>
        <p:txBody>
          <a:bodyPr wrap="square" lIns="0" tIns="0" rIns="0" bIns="0" rtlCol="0" anchor="ctr"/>
          <a:lstStyle/>
          <a:p>
            <a:pPr marL="0" indent="0">
              <a:buNone/>
            </a:pPr>
            <a:r>
              <a:rPr lang="en-US" sz="1200" b="1" dirty="0">
                <a:solidFill>
                  <a:srgbClr val="1A2F5A"/>
                </a:solidFill>
                <a:latin typeface="Calibri" pitchFamily="34" charset="0"/>
                <a:ea typeface="Calibri" pitchFamily="34" charset="-122"/>
                <a:cs typeface="Calibri" pitchFamily="34" charset="-120"/>
              </a:rPr>
              <a:t>Construcción del INPC por Laspeyres
</a:t>
            </a:r>
            <a:r>
              <a:rPr lang="en-US" sz="950" dirty="0">
                <a:solidFill>
                  <a:srgbClr val="1E293B"/>
                </a:solidFill>
                <a:latin typeface="Calibri" pitchFamily="34" charset="0"/>
                <a:ea typeface="Calibri" pitchFamily="34" charset="-122"/>
                <a:cs typeface="Calibri" pitchFamily="34" charset="-120"/>
              </a:rPr>
              <a:t>Media aritmética ponderada de los 292 índices:  INPC = Σ ω_k · I_k, con ponderadores fijos del periodo base.</a:t>
            </a:r>
            <a:endParaRPr lang="en-US" sz="1200" dirty="0"/>
          </a:p>
        </p:txBody>
      </p:sp>
      <p:sp>
        <p:nvSpPr>
          <p:cNvPr id="10" name="Shape 8"/>
          <p:cNvSpPr/>
          <p:nvPr/>
        </p:nvSpPr>
        <p:spPr>
          <a:xfrm>
            <a:off x="365760" y="4169664"/>
            <a:ext cx="4480560" cy="822960"/>
          </a:xfrm>
          <a:prstGeom prst="roundRect">
            <a:avLst>
              <a:gd name="adj" fmla="val 6667"/>
            </a:avLst>
          </a:prstGeom>
          <a:solidFill>
            <a:srgbClr val="EEF2FF"/>
          </a:solidFill>
          <a:ln/>
        </p:spPr>
      </p:sp>
      <p:sp>
        <p:nvSpPr>
          <p:cNvPr id="11" name="Text 9"/>
          <p:cNvSpPr/>
          <p:nvPr/>
        </p:nvSpPr>
        <p:spPr>
          <a:xfrm>
            <a:off x="530352" y="4169664"/>
            <a:ext cx="4151376" cy="822960"/>
          </a:xfrm>
          <a:prstGeom prst="rect">
            <a:avLst/>
          </a:prstGeom>
          <a:noFill/>
          <a:ln/>
        </p:spPr>
        <p:txBody>
          <a:bodyPr wrap="square" lIns="0" tIns="0" rIns="0" bIns="0" rtlCol="0" anchor="ctr"/>
          <a:lstStyle/>
          <a:p>
            <a:pPr marL="0" indent="0">
              <a:buNone/>
            </a:pPr>
            <a:r>
              <a:rPr lang="en-US" sz="1200" b="1" dirty="0">
                <a:solidFill>
                  <a:srgbClr val="1A2F5A"/>
                </a:solidFill>
                <a:latin typeface="Calibri" pitchFamily="34" charset="0"/>
                <a:ea typeface="Calibri" pitchFamily="34" charset="-122"/>
                <a:cs typeface="Calibri" pitchFamily="34" charset="-120"/>
              </a:rPr>
              <a:t>Encadenamiento
</a:t>
            </a:r>
            <a:r>
              <a:rPr lang="en-US" sz="950" dirty="0">
                <a:solidFill>
                  <a:srgbClr val="1E293B"/>
                </a:solidFill>
                <a:latin typeface="Calibri" pitchFamily="34" charset="0"/>
                <a:ea typeface="Calibri" pitchFamily="34" charset="-122"/>
                <a:cs typeface="Calibri" pitchFamily="34" charset="-120"/>
              </a:rPr>
              <a:t>El factor f_h empalma la serie con la base 2Q julio 2018 = 100 y garantiza su continuidad histórica.</a:t>
            </a:r>
            <a:endParaRPr lang="en-US" sz="1200" dirty="0"/>
          </a:p>
        </p:txBody>
      </p:sp>
      <p:sp>
        <p:nvSpPr>
          <p:cNvPr id="12" name="Shape 10"/>
          <p:cNvSpPr/>
          <p:nvPr/>
        </p:nvSpPr>
        <p:spPr>
          <a:xfrm>
            <a:off x="2523744" y="1911096"/>
            <a:ext cx="164592" cy="201168"/>
          </a:xfrm>
          <a:prstGeom prst="downArrow">
            <a:avLst/>
          </a:prstGeom>
          <a:solidFill>
            <a:srgbClr val="64748B"/>
          </a:solidFill>
          <a:ln/>
        </p:spPr>
      </p:sp>
      <p:sp>
        <p:nvSpPr>
          <p:cNvPr id="13" name="Shape 11"/>
          <p:cNvSpPr/>
          <p:nvPr/>
        </p:nvSpPr>
        <p:spPr>
          <a:xfrm>
            <a:off x="2523744" y="2953512"/>
            <a:ext cx="164592" cy="201168"/>
          </a:xfrm>
          <a:prstGeom prst="downArrow">
            <a:avLst/>
          </a:prstGeom>
          <a:solidFill>
            <a:srgbClr val="64748B"/>
          </a:solidFill>
          <a:ln/>
        </p:spPr>
      </p:sp>
      <p:sp>
        <p:nvSpPr>
          <p:cNvPr id="14" name="Shape 12"/>
          <p:cNvSpPr/>
          <p:nvPr/>
        </p:nvSpPr>
        <p:spPr>
          <a:xfrm>
            <a:off x="2523744" y="3977640"/>
            <a:ext cx="164592" cy="201168"/>
          </a:xfrm>
          <a:prstGeom prst="downArrow">
            <a:avLst/>
          </a:prstGeom>
          <a:solidFill>
            <a:srgbClr val="64748B"/>
          </a:solidFill>
          <a:ln/>
        </p:spPr>
      </p:sp>
      <p:sp>
        <p:nvSpPr>
          <p:cNvPr id="15" name="Shape 13"/>
          <p:cNvSpPr/>
          <p:nvPr/>
        </p:nvSpPr>
        <p:spPr>
          <a:xfrm>
            <a:off x="5138928" y="1005840"/>
            <a:ext cx="3639312" cy="3986784"/>
          </a:xfrm>
          <a:prstGeom prst="roundRect">
            <a:avLst>
              <a:gd name="adj" fmla="val 1508"/>
            </a:avLst>
          </a:prstGeom>
          <a:solidFill>
            <a:srgbClr val="FFFBEB"/>
          </a:solidFill>
          <a:ln/>
        </p:spPr>
      </p:sp>
      <p:sp>
        <p:nvSpPr>
          <p:cNvPr id="16" name="Text 14"/>
          <p:cNvSpPr/>
          <p:nvPr/>
        </p:nvSpPr>
        <p:spPr>
          <a:xfrm>
            <a:off x="5321808" y="1133856"/>
            <a:ext cx="3291840" cy="475488"/>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Los 292 genéricos se pueden clasificar de distintas formas</a:t>
            </a:r>
            <a:endParaRPr lang="en-US" sz="1200" dirty="0"/>
          </a:p>
        </p:txBody>
      </p:sp>
      <p:sp>
        <p:nvSpPr>
          <p:cNvPr id="17" name="Shape 15"/>
          <p:cNvSpPr/>
          <p:nvPr/>
        </p:nvSpPr>
        <p:spPr>
          <a:xfrm>
            <a:off x="5321808" y="1719072"/>
            <a:ext cx="3273552" cy="548640"/>
          </a:xfrm>
          <a:prstGeom prst="roundRect">
            <a:avLst>
              <a:gd name="adj" fmla="val 8333"/>
            </a:avLst>
          </a:prstGeom>
          <a:solidFill>
            <a:srgbClr val="FFFFFF"/>
          </a:solidFill>
          <a:ln/>
        </p:spPr>
      </p:sp>
      <p:sp>
        <p:nvSpPr>
          <p:cNvPr id="18" name="Text 16"/>
          <p:cNvSpPr/>
          <p:nvPr/>
        </p:nvSpPr>
        <p:spPr>
          <a:xfrm>
            <a:off x="5468112" y="1719072"/>
            <a:ext cx="2999232" cy="548640"/>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CCIF 2018 (COICOP)
</a:t>
            </a:r>
            <a:r>
              <a:rPr lang="en-US" sz="900" dirty="0">
                <a:solidFill>
                  <a:srgbClr val="64748B"/>
                </a:solidFill>
                <a:latin typeface="Calibri" pitchFamily="34" charset="0"/>
                <a:ea typeface="Calibri" pitchFamily="34" charset="-122"/>
                <a:cs typeface="Calibri" pitchFamily="34" charset="-120"/>
              </a:rPr>
              <a:t>13 divisiones — comparabilidad internacional</a:t>
            </a:r>
            <a:endParaRPr lang="en-US" sz="1050" dirty="0"/>
          </a:p>
        </p:txBody>
      </p:sp>
      <p:sp>
        <p:nvSpPr>
          <p:cNvPr id="19" name="Shape 17"/>
          <p:cNvSpPr/>
          <p:nvPr/>
        </p:nvSpPr>
        <p:spPr>
          <a:xfrm>
            <a:off x="5321808" y="2359152"/>
            <a:ext cx="3273552" cy="548640"/>
          </a:xfrm>
          <a:prstGeom prst="roundRect">
            <a:avLst>
              <a:gd name="adj" fmla="val 8333"/>
            </a:avLst>
          </a:prstGeom>
          <a:solidFill>
            <a:srgbClr val="FFFFFF"/>
          </a:solidFill>
          <a:ln/>
        </p:spPr>
      </p:sp>
      <p:sp>
        <p:nvSpPr>
          <p:cNvPr id="20" name="Text 18"/>
          <p:cNvSpPr/>
          <p:nvPr/>
        </p:nvSpPr>
        <p:spPr>
          <a:xfrm>
            <a:off x="5468112" y="2359152"/>
            <a:ext cx="2999232" cy="548640"/>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Objeto del Gasto
</a:t>
            </a:r>
            <a:r>
              <a:rPr lang="en-US" sz="900" dirty="0">
                <a:solidFill>
                  <a:srgbClr val="64748B"/>
                </a:solidFill>
                <a:latin typeface="Calibri" pitchFamily="34" charset="0"/>
                <a:ea typeface="Calibri" pitchFamily="34" charset="-122"/>
                <a:cs typeface="Calibri" pitchFamily="34" charset="-120"/>
              </a:rPr>
              <a:t>8 grupos — clasificación tradicional de México</a:t>
            </a:r>
            <a:endParaRPr lang="en-US" sz="1050" dirty="0"/>
          </a:p>
        </p:txBody>
      </p:sp>
      <p:sp>
        <p:nvSpPr>
          <p:cNvPr id="21" name="Shape 19"/>
          <p:cNvSpPr/>
          <p:nvPr/>
        </p:nvSpPr>
        <p:spPr>
          <a:xfrm>
            <a:off x="5321808" y="2999232"/>
            <a:ext cx="3273552" cy="548640"/>
          </a:xfrm>
          <a:prstGeom prst="roundRect">
            <a:avLst>
              <a:gd name="adj" fmla="val 8333"/>
            </a:avLst>
          </a:prstGeom>
          <a:solidFill>
            <a:srgbClr val="FFFFFF"/>
          </a:solidFill>
          <a:ln/>
        </p:spPr>
      </p:sp>
      <p:sp>
        <p:nvSpPr>
          <p:cNvPr id="22" name="Text 20"/>
          <p:cNvSpPr/>
          <p:nvPr/>
        </p:nvSpPr>
        <p:spPr>
          <a:xfrm>
            <a:off x="5468112" y="2999232"/>
            <a:ext cx="2999232" cy="548640"/>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SCIAN 2023
</a:t>
            </a:r>
            <a:r>
              <a:rPr lang="en-US" sz="900" dirty="0">
                <a:solidFill>
                  <a:srgbClr val="64748B"/>
                </a:solidFill>
                <a:latin typeface="Calibri" pitchFamily="34" charset="0"/>
                <a:ea typeface="Calibri" pitchFamily="34" charset="-122"/>
                <a:cs typeface="Calibri" pitchFamily="34" charset="-120"/>
              </a:rPr>
              <a:t>17 sectores y 88 ramas — origen industrial</a:t>
            </a:r>
            <a:endParaRPr lang="en-US" sz="1050" dirty="0"/>
          </a:p>
        </p:txBody>
      </p:sp>
      <p:sp>
        <p:nvSpPr>
          <p:cNvPr id="23" name="Shape 21"/>
          <p:cNvSpPr/>
          <p:nvPr/>
        </p:nvSpPr>
        <p:spPr>
          <a:xfrm>
            <a:off x="5321808" y="3639312"/>
            <a:ext cx="3273552" cy="548640"/>
          </a:xfrm>
          <a:prstGeom prst="roundRect">
            <a:avLst>
              <a:gd name="adj" fmla="val 8333"/>
            </a:avLst>
          </a:prstGeom>
          <a:solidFill>
            <a:srgbClr val="FFFFFF"/>
          </a:solidFill>
          <a:ln/>
        </p:spPr>
      </p:sp>
      <p:sp>
        <p:nvSpPr>
          <p:cNvPr id="24" name="Text 22"/>
          <p:cNvSpPr/>
          <p:nvPr/>
        </p:nvSpPr>
        <p:spPr>
          <a:xfrm>
            <a:off x="5468112" y="3639312"/>
            <a:ext cx="2999232" cy="548640"/>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Durabilidad
</a:t>
            </a:r>
            <a:r>
              <a:rPr lang="en-US" sz="900" dirty="0">
                <a:solidFill>
                  <a:srgbClr val="64748B"/>
                </a:solidFill>
                <a:latin typeface="Calibri" pitchFamily="34" charset="0"/>
                <a:ea typeface="Calibri" pitchFamily="34" charset="-122"/>
                <a:cs typeface="Calibri" pitchFamily="34" charset="-120"/>
              </a:rPr>
              <a:t>4 categorías — no duraderos, semi, duraderos y servicios</a:t>
            </a:r>
            <a:endParaRPr lang="en-US" sz="1050" dirty="0"/>
          </a:p>
        </p:txBody>
      </p:sp>
      <p:sp>
        <p:nvSpPr>
          <p:cNvPr id="25" name="Shape 23"/>
          <p:cNvSpPr/>
          <p:nvPr/>
        </p:nvSpPr>
        <p:spPr>
          <a:xfrm>
            <a:off x="5321808" y="4279392"/>
            <a:ext cx="3273552" cy="548640"/>
          </a:xfrm>
          <a:prstGeom prst="roundRect">
            <a:avLst>
              <a:gd name="adj" fmla="val 8333"/>
            </a:avLst>
          </a:prstGeom>
          <a:solidFill>
            <a:srgbClr val="FFFFFF"/>
          </a:solidFill>
          <a:ln/>
        </p:spPr>
      </p:sp>
      <p:sp>
        <p:nvSpPr>
          <p:cNvPr id="26" name="Text 24"/>
          <p:cNvSpPr/>
          <p:nvPr/>
        </p:nvSpPr>
        <p:spPr>
          <a:xfrm>
            <a:off x="5468112" y="4279392"/>
            <a:ext cx="2999232" cy="548640"/>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Componentes
</a:t>
            </a:r>
            <a:r>
              <a:rPr lang="en-US" sz="900" dirty="0">
                <a:solidFill>
                  <a:srgbClr val="64748B"/>
                </a:solidFill>
                <a:latin typeface="Calibri" pitchFamily="34" charset="0"/>
                <a:ea typeface="Calibri" pitchFamily="34" charset="-122"/>
                <a:cs typeface="Calibri" pitchFamily="34" charset="-120"/>
              </a:rPr>
              <a:t>Subyacente: 238 genéricos · No subyacente: 54</a:t>
            </a:r>
            <a:endParaRPr lang="en-US" sz="1050" dirty="0"/>
          </a:p>
        </p:txBody>
      </p:sp>
      <p:sp>
        <p:nvSpPr>
          <p:cNvPr id="27" name="Shape 25"/>
          <p:cNvSpPr/>
          <p:nvPr/>
        </p:nvSpPr>
        <p:spPr>
          <a:xfrm>
            <a:off x="4864608" y="1353312"/>
            <a:ext cx="256032" cy="182880"/>
          </a:xfrm>
          <a:prstGeom prst="rightArrow">
            <a:avLst/>
          </a:prstGeom>
          <a:solidFill>
            <a:srgbClr val="64748B"/>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Clasificación de la Canasta — CCIF 2018</a:t>
            </a:r>
            <a:endParaRPr lang="en-US" sz="2200" dirty="0"/>
          </a:p>
        </p:txBody>
      </p:sp>
      <p:sp>
        <p:nvSpPr>
          <p:cNvPr id="4" name="Text 2"/>
          <p:cNvSpPr/>
          <p:nvPr/>
        </p:nvSpPr>
        <p:spPr>
          <a:xfrm>
            <a:off x="320040" y="932688"/>
            <a:ext cx="8503920" cy="47548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Clasificación del Consumo Individual por Finalidades de la ONU (COICOP). Es el clasificador principal del INPC 2024 y el vínculo para comparabilidad internacional. El INPC adoptó la versión 2018 (antes usaba la de 1999). Se usan 13 de las 15 divisiones.</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463040"/>
          <a:ext cx="7589520" cy="3456432"/>
        </p:xfrm>
        <a:graphic>
          <a:graphicData uri="http://schemas.openxmlformats.org/drawingml/2006/table">
            <a:tbl>
              <a:tblPr/>
              <a:tblGrid>
                <a:gridCol w="5029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46888">
                <a:tc>
                  <a:txBody>
                    <a:bodyPr/>
                    <a:lstStyle/>
                    <a:p>
                      <a:pPr marL="0" indent="0">
                        <a:buNone/>
                      </a:pPr>
                      <a:r>
                        <a:rPr lang="en-US" sz="1000" b="1" dirty="0">
                          <a:solidFill>
                            <a:srgbClr val="FFFFFF"/>
                          </a:solidFill>
                        </a:rPr>
                        <a:t>Div.</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Nombre de la División</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Genéricos</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Ponderador</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246888">
                <a:tc>
                  <a:txBody>
                    <a:bodyPr/>
                    <a:lstStyle/>
                    <a:p>
                      <a:pPr marL="0" indent="0">
                        <a:buNone/>
                      </a:pPr>
                      <a:r>
                        <a:rPr lang="en-US" sz="950" dirty="0">
                          <a:solidFill>
                            <a:srgbClr val="1E293B"/>
                          </a:solidFill>
                        </a:rPr>
                        <a:t>01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Alimentos y bebidas no alcohólicas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102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22.04%</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246888">
                <a:tc>
                  <a:txBody>
                    <a:bodyPr/>
                    <a:lstStyle/>
                    <a:p>
                      <a:pPr marL="0" indent="0">
                        <a:buNone/>
                      </a:pPr>
                      <a:r>
                        <a:rPr lang="en-US" sz="950" dirty="0">
                          <a:solidFill>
                            <a:srgbClr val="1E293B"/>
                          </a:solidFill>
                        </a:rPr>
                        <a:t>02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Bebidas alcohólicas y tabaco</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2.29%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buNone/>
                      </a:pPr>
                      <a:r>
                        <a:rPr lang="en-US" sz="950" dirty="0">
                          <a:solidFill>
                            <a:srgbClr val="1E293B"/>
                          </a:solidFill>
                        </a:rPr>
                        <a:t>03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Ropa y calzado</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28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4.26%</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246888">
                <a:tc>
                  <a:txBody>
                    <a:bodyPr/>
                    <a:lstStyle/>
                    <a:p>
                      <a:pPr marL="0" indent="0">
                        <a:buNone/>
                      </a:pPr>
                      <a:r>
                        <a:rPr lang="en-US" sz="950" dirty="0">
                          <a:solidFill>
                            <a:srgbClr val="1E293B"/>
                          </a:solidFill>
                        </a:rPr>
                        <a:t>04</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Vivienda, agua, electricidad y gas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20.88%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6888">
                <a:tc>
                  <a:txBody>
                    <a:bodyPr/>
                    <a:lstStyle/>
                    <a:p>
                      <a:pPr marL="0" indent="0">
                        <a:buNone/>
                      </a:pPr>
                      <a:r>
                        <a:rPr lang="en-US" sz="950" dirty="0">
                          <a:solidFill>
                            <a:srgbClr val="1E293B"/>
                          </a:solidFill>
                        </a:rPr>
                        <a:t>05</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Mobiliario, equipo doméstico y mantenimiento</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37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5.34%</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246888">
                <a:tc>
                  <a:txBody>
                    <a:bodyPr/>
                    <a:lstStyle/>
                    <a:p>
                      <a:pPr marL="0" indent="0">
                        <a:buNone/>
                      </a:pPr>
                      <a:r>
                        <a:rPr lang="en-US" sz="950" dirty="0">
                          <a:solidFill>
                            <a:srgbClr val="1E293B"/>
                          </a:solidFill>
                        </a:rPr>
                        <a:t>06</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Salud</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22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4.13%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46888">
                <a:tc>
                  <a:txBody>
                    <a:bodyPr/>
                    <a:lstStyle/>
                    <a:p>
                      <a:pPr marL="0" indent="0">
                        <a:buNone/>
                      </a:pPr>
                      <a:r>
                        <a:rPr lang="en-US" sz="950" dirty="0">
                          <a:solidFill>
                            <a:srgbClr val="1E293B"/>
                          </a:solidFill>
                        </a:rPr>
                        <a:t>07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Transporte</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22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13.48%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246888">
                <a:tc>
                  <a:txBody>
                    <a:bodyPr/>
                    <a:lstStyle/>
                    <a:p>
                      <a:pPr marL="0" indent="0">
                        <a:buNone/>
                      </a:pPr>
                      <a:r>
                        <a:rPr lang="en-US" sz="950" dirty="0">
                          <a:solidFill>
                            <a:srgbClr val="1E293B"/>
                          </a:solidFill>
                        </a:rPr>
                        <a:t>08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Información y comunicación</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10</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4.74%</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46888">
                <a:tc>
                  <a:txBody>
                    <a:bodyPr/>
                    <a:lstStyle/>
                    <a:p>
                      <a:pPr marL="0" indent="0">
                        <a:buNone/>
                      </a:pPr>
                      <a:r>
                        <a:rPr lang="en-US" sz="950" dirty="0">
                          <a:solidFill>
                            <a:srgbClr val="1E293B"/>
                          </a:solidFill>
                        </a:rPr>
                        <a:t>09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Recreación, deporte y cultura</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18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2.53%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9"/>
                  </a:ext>
                </a:extLst>
              </a:tr>
              <a:tr h="246888">
                <a:tc>
                  <a:txBody>
                    <a:bodyPr/>
                    <a:lstStyle/>
                    <a:p>
                      <a:pPr marL="0" indent="0">
                        <a:buNone/>
                      </a:pPr>
                      <a:r>
                        <a:rPr lang="en-US" sz="950" dirty="0">
                          <a:solidFill>
                            <a:srgbClr val="1E293B"/>
                          </a:solidFill>
                        </a:rPr>
                        <a:t>10</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Servicios educativos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2.49%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46888">
                <a:tc>
                  <a:txBody>
                    <a:bodyPr/>
                    <a:lstStyle/>
                    <a:p>
                      <a:pPr marL="0" indent="0">
                        <a:buNone/>
                      </a:pPr>
                      <a:r>
                        <a:rPr lang="en-US" sz="950" dirty="0">
                          <a:solidFill>
                            <a:srgbClr val="1E293B"/>
                          </a:solidFill>
                        </a:rPr>
                        <a:t>11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Restaurantes y servicios de alojamiento</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11.55%</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11"/>
                  </a:ext>
                </a:extLst>
              </a:tr>
              <a:tr h="246888">
                <a:tc>
                  <a:txBody>
                    <a:bodyPr/>
                    <a:lstStyle/>
                    <a:p>
                      <a:pPr marL="0" indent="0">
                        <a:buNone/>
                      </a:pPr>
                      <a:r>
                        <a:rPr lang="en-US" sz="950" dirty="0">
                          <a:solidFill>
                            <a:srgbClr val="1E293B"/>
                          </a:solidFill>
                        </a:rPr>
                        <a:t>12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Seguros y servicios financieros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0.24%</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46888">
                <a:tc>
                  <a:txBody>
                    <a:bodyPr/>
                    <a:lstStyle/>
                    <a:p>
                      <a:pPr marL="0" indent="0">
                        <a:buNone/>
                      </a:pPr>
                      <a:r>
                        <a:rPr lang="en-US" sz="950" dirty="0">
                          <a:solidFill>
                            <a:srgbClr val="1E293B"/>
                          </a:solidFill>
                        </a:rPr>
                        <a:t>13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Cuidado personal, protección social y bienes diversos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21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6.03%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Clasificación de la Canasta — Objeto del Gasto</a:t>
            </a:r>
            <a:endParaRPr lang="en-US" sz="2200" dirty="0"/>
          </a:p>
        </p:txBody>
      </p:sp>
      <p:sp>
        <p:nvSpPr>
          <p:cNvPr id="4" name="Text 2"/>
          <p:cNvSpPr/>
          <p:nvPr/>
        </p:nvSpPr>
        <p:spPr>
          <a:xfrm>
            <a:off x="320040" y="932688"/>
            <a:ext cx="8503920" cy="53035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Asocia los productos por su origen industrial. Es la clasificación tradicional de México, usada históricamente en la publicación del INPC. Estructura jerárquica en 5 niveles: 8 Grupos → 17 Subgrupos → 36 Subsubgrupos → 76 Conjuntos genéricos → 292 Genéricos.</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508760"/>
          <a:ext cx="6858000" cy="3621024"/>
        </p:xfrm>
        <a:graphic>
          <a:graphicData uri="http://schemas.openxmlformats.org/drawingml/2006/table">
            <a:tbl>
              <a:tblPr/>
              <a:tblGrid>
                <a:gridCol w="384048">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1078992">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02336">
                <a:tc>
                  <a:txBody>
                    <a:bodyPr/>
                    <a:lstStyle/>
                    <a:p>
                      <a:pPr marL="0" indent="0">
                        <a:buNone/>
                      </a:pPr>
                      <a:r>
                        <a:rPr lang="en-US" sz="1100" b="1" dirty="0">
                          <a:solidFill>
                            <a:srgbClr val="FFFFFF"/>
                          </a:solidFill>
                        </a:rPr>
                        <a:t>#</a:t>
                      </a:r>
                      <a:endParaRPr lang="en-US" sz="11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0B7A75"/>
                    </a:solidFill>
                  </a:tcPr>
                </a:tc>
                <a:tc>
                  <a:txBody>
                    <a:bodyPr/>
                    <a:lstStyle/>
                    <a:p>
                      <a:pPr marL="0" indent="0">
                        <a:buNone/>
                      </a:pPr>
                      <a:r>
                        <a:rPr lang="en-US" sz="1100" b="1" dirty="0">
                          <a:solidFill>
                            <a:srgbClr val="FFFFFF"/>
                          </a:solidFill>
                        </a:rPr>
                        <a:t>Grupo</a:t>
                      </a:r>
                      <a:endParaRPr lang="en-US" sz="11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0B7A75"/>
                    </a:solidFill>
                  </a:tcPr>
                </a:tc>
                <a:tc>
                  <a:txBody>
                    <a:bodyPr/>
                    <a:lstStyle/>
                    <a:p>
                      <a:pPr marL="0" indent="0">
                        <a:buNone/>
                      </a:pPr>
                      <a:r>
                        <a:rPr lang="en-US" sz="1100" b="1" dirty="0">
                          <a:solidFill>
                            <a:srgbClr val="FFFFFF"/>
                          </a:solidFill>
                        </a:rPr>
                        <a:t>Genéricos</a:t>
                      </a:r>
                      <a:endParaRPr lang="en-US" sz="11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0B7A75"/>
                    </a:solidFill>
                  </a:tcPr>
                </a:tc>
                <a:tc>
                  <a:txBody>
                    <a:bodyPr/>
                    <a:lstStyle/>
                    <a:p>
                      <a:pPr marL="0" indent="0">
                        <a:buNone/>
                      </a:pPr>
                      <a:r>
                        <a:rPr lang="en-US" sz="1100" b="1" dirty="0">
                          <a:solidFill>
                            <a:srgbClr val="FFFFFF"/>
                          </a:solidFill>
                        </a:rPr>
                        <a:t>Ponderador</a:t>
                      </a:r>
                      <a:endParaRPr lang="en-US" sz="11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0B7A75"/>
                    </a:solidFill>
                  </a:tcPr>
                </a:tc>
                <a:extLst>
                  <a:ext uri="{0D108BD9-81ED-4DB2-BD59-A6C34878D82A}">
                    <a16:rowId xmlns:a16="http://schemas.microsoft.com/office/drawing/2014/main" val="10000"/>
                  </a:ext>
                </a:extLst>
              </a:tr>
              <a:tr h="402336">
                <a:tc>
                  <a:txBody>
                    <a:bodyPr/>
                    <a:lstStyle/>
                    <a:p>
                      <a:pPr marL="0" indent="0">
                        <a:buNone/>
                      </a:pPr>
                      <a:r>
                        <a:rPr lang="en-US" sz="1050" dirty="0">
                          <a:solidFill>
                            <a:srgbClr val="1E293B"/>
                          </a:solidFill>
                        </a:rPr>
                        <a:t>1</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Alimentos, bebidas y tabaco</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114</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27.87%</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extLst>
                  <a:ext uri="{0D108BD9-81ED-4DB2-BD59-A6C34878D82A}">
                    <a16:rowId xmlns:a16="http://schemas.microsoft.com/office/drawing/2014/main" val="10001"/>
                  </a:ext>
                </a:extLst>
              </a:tr>
              <a:tr h="402336">
                <a:tc>
                  <a:txBody>
                    <a:bodyPr/>
                    <a:lstStyle/>
                    <a:p>
                      <a:pPr marL="0" indent="0">
                        <a:buNone/>
                      </a:pPr>
                      <a:r>
                        <a:rPr lang="en-US" sz="1050" dirty="0">
                          <a:solidFill>
                            <a:srgbClr val="1E293B"/>
                          </a:solidFill>
                        </a:rPr>
                        <a:t>2</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Ropa, calzado y accesorios</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30</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4.41%</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050" dirty="0">
                          <a:solidFill>
                            <a:srgbClr val="1E293B"/>
                          </a:solidFill>
                        </a:rPr>
                        <a:t>3</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Vivienda</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12</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23.79%</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extLst>
                  <a:ext uri="{0D108BD9-81ED-4DB2-BD59-A6C34878D82A}">
                    <a16:rowId xmlns:a16="http://schemas.microsoft.com/office/drawing/2014/main" val="10003"/>
                  </a:ext>
                </a:extLst>
              </a:tr>
              <a:tr h="402336">
                <a:tc>
                  <a:txBody>
                    <a:bodyPr/>
                    <a:lstStyle/>
                    <a:p>
                      <a:pPr marL="0" indent="0">
                        <a:buNone/>
                      </a:pPr>
                      <a:r>
                        <a:rPr lang="en-US" sz="1050" dirty="0">
                          <a:solidFill>
                            <a:srgbClr val="1E293B"/>
                          </a:solidFill>
                        </a:rPr>
                        <a:t>4</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Muebles, aparatos y accesorios domésticos</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40</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4.96%</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050" dirty="0">
                          <a:solidFill>
                            <a:srgbClr val="1E293B"/>
                          </a:solidFill>
                        </a:rPr>
                        <a:t>5</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Salud y cuidado personal</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37</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9.50%</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extLst>
                  <a:ext uri="{0D108BD9-81ED-4DB2-BD59-A6C34878D82A}">
                    <a16:rowId xmlns:a16="http://schemas.microsoft.com/office/drawing/2014/main" val="10005"/>
                  </a:ext>
                </a:extLst>
              </a:tr>
              <a:tr h="402336">
                <a:tc>
                  <a:txBody>
                    <a:bodyPr/>
                    <a:lstStyle/>
                    <a:p>
                      <a:pPr marL="0" indent="0">
                        <a:buNone/>
                      </a:pPr>
                      <a:r>
                        <a:rPr lang="en-US" sz="1050" dirty="0">
                          <a:solidFill>
                            <a:srgbClr val="1E293B"/>
                          </a:solidFill>
                        </a:rPr>
                        <a:t>6</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Transporte</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23</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13.72%</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buNone/>
                      </a:pPr>
                      <a:r>
                        <a:rPr lang="en-US" sz="1050" dirty="0">
                          <a:solidFill>
                            <a:srgbClr val="1E293B"/>
                          </a:solidFill>
                        </a:rPr>
                        <a:t>7</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Educación y esparcimiento</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31</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7.29%</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extLst>
                  <a:ext uri="{0D108BD9-81ED-4DB2-BD59-A6C34878D82A}">
                    <a16:rowId xmlns:a16="http://schemas.microsoft.com/office/drawing/2014/main" val="10007"/>
                  </a:ext>
                </a:extLst>
              </a:tr>
              <a:tr h="402336">
                <a:tc>
                  <a:txBody>
                    <a:bodyPr/>
                    <a:lstStyle/>
                    <a:p>
                      <a:pPr marL="0" indent="0">
                        <a:buNone/>
                      </a:pPr>
                      <a:r>
                        <a:rPr lang="en-US" sz="1050" dirty="0">
                          <a:solidFill>
                            <a:srgbClr val="1E293B"/>
                          </a:solidFill>
                        </a:rPr>
                        <a:t>8</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Otros servicios</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5</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8.46%</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hape 3"/>
          <p:cNvSpPr/>
          <p:nvPr/>
        </p:nvSpPr>
        <p:spPr>
          <a:xfrm>
            <a:off x="7360920" y="1508760"/>
            <a:ext cx="1481328" cy="3566160"/>
          </a:xfrm>
          <a:prstGeom prst="roundRect">
            <a:avLst>
              <a:gd name="adj" fmla="val 7407"/>
            </a:avLst>
          </a:prstGeom>
          <a:solidFill>
            <a:srgbClr val="EEF2FF"/>
          </a:solidFill>
          <a:ln/>
          <a:effectLst>
            <a:outerShdw blurRad="50800" dist="25400" dir="2700000" algn="bl" rotWithShape="0">
              <a:srgbClr val="000000">
                <a:alpha val="10000"/>
              </a:srgbClr>
            </a:outerShdw>
          </a:effectLst>
        </p:spPr>
      </p:sp>
      <p:sp>
        <p:nvSpPr>
          <p:cNvPr id="7" name="Text 4"/>
          <p:cNvSpPr/>
          <p:nvPr/>
        </p:nvSpPr>
        <p:spPr>
          <a:xfrm>
            <a:off x="7424928" y="1572768"/>
            <a:ext cx="1353312" cy="274320"/>
          </a:xfrm>
          <a:prstGeom prst="rect">
            <a:avLst/>
          </a:prstGeom>
          <a:noFill/>
          <a:ln/>
        </p:spPr>
        <p:txBody>
          <a:bodyPr wrap="square" rtlCol="0" anchor="ctr"/>
          <a:lstStyle/>
          <a:p>
            <a:pPr marL="0" indent="0">
              <a:buNone/>
            </a:pPr>
            <a:r>
              <a:rPr lang="en-US" sz="1000" b="1" dirty="0">
                <a:solidFill>
                  <a:srgbClr val="1A2F5A"/>
                </a:solidFill>
              </a:rPr>
              <a:t>Jerarquía:</a:t>
            </a:r>
            <a:endParaRPr lang="en-US" sz="1000" dirty="0"/>
          </a:p>
        </p:txBody>
      </p:sp>
      <p:sp>
        <p:nvSpPr>
          <p:cNvPr id="8" name="Shape 5"/>
          <p:cNvSpPr/>
          <p:nvPr/>
        </p:nvSpPr>
        <p:spPr>
          <a:xfrm>
            <a:off x="7424928" y="1883664"/>
            <a:ext cx="1325880" cy="502920"/>
          </a:xfrm>
          <a:prstGeom prst="roundRect">
            <a:avLst>
              <a:gd name="adj" fmla="val 12727"/>
            </a:avLst>
          </a:prstGeom>
          <a:solidFill>
            <a:srgbClr val="1A2F5A"/>
          </a:solidFill>
          <a:ln/>
        </p:spPr>
      </p:sp>
      <p:sp>
        <p:nvSpPr>
          <p:cNvPr id="9" name="Text 6"/>
          <p:cNvSpPr/>
          <p:nvPr/>
        </p:nvSpPr>
        <p:spPr>
          <a:xfrm>
            <a:off x="7424928" y="1883664"/>
            <a:ext cx="1325880" cy="502920"/>
          </a:xfrm>
          <a:prstGeom prst="rect">
            <a:avLst/>
          </a:prstGeom>
          <a:noFill/>
          <a:ln/>
        </p:spPr>
        <p:txBody>
          <a:bodyPr wrap="square" lIns="0" tIns="0" rIns="0" bIns="0" rtlCol="0" anchor="ctr"/>
          <a:lstStyle/>
          <a:p>
            <a:pPr marL="0" indent="0" algn="ctr">
              <a:buNone/>
            </a:pPr>
            <a:r>
              <a:rPr lang="en-US" sz="950" b="1" dirty="0">
                <a:solidFill>
                  <a:srgbClr val="FFFFFF"/>
                </a:solidFill>
              </a:rPr>
              <a:t>8 Grupos</a:t>
            </a:r>
            <a:endParaRPr lang="en-US" sz="950" dirty="0"/>
          </a:p>
        </p:txBody>
      </p:sp>
      <p:sp>
        <p:nvSpPr>
          <p:cNvPr id="10" name="Shape 7"/>
          <p:cNvSpPr/>
          <p:nvPr/>
        </p:nvSpPr>
        <p:spPr>
          <a:xfrm>
            <a:off x="7424928" y="2505456"/>
            <a:ext cx="1325880" cy="502920"/>
          </a:xfrm>
          <a:prstGeom prst="roundRect">
            <a:avLst>
              <a:gd name="adj" fmla="val 12727"/>
            </a:avLst>
          </a:prstGeom>
          <a:solidFill>
            <a:srgbClr val="0B7A75"/>
          </a:solidFill>
          <a:ln/>
        </p:spPr>
      </p:sp>
      <p:sp>
        <p:nvSpPr>
          <p:cNvPr id="11" name="Text 8"/>
          <p:cNvSpPr/>
          <p:nvPr/>
        </p:nvSpPr>
        <p:spPr>
          <a:xfrm>
            <a:off x="7424928" y="2505456"/>
            <a:ext cx="1325880" cy="502920"/>
          </a:xfrm>
          <a:prstGeom prst="rect">
            <a:avLst/>
          </a:prstGeom>
          <a:noFill/>
          <a:ln/>
        </p:spPr>
        <p:txBody>
          <a:bodyPr wrap="square" lIns="0" tIns="0" rIns="0" bIns="0" rtlCol="0" anchor="ctr"/>
          <a:lstStyle/>
          <a:p>
            <a:pPr marL="0" indent="0" algn="ctr">
              <a:buNone/>
            </a:pPr>
            <a:r>
              <a:rPr lang="en-US" sz="950" b="1" dirty="0">
                <a:solidFill>
                  <a:srgbClr val="FFFFFF"/>
                </a:solidFill>
              </a:rPr>
              <a:t>17 Subgrupos</a:t>
            </a:r>
            <a:endParaRPr lang="en-US" sz="950" dirty="0"/>
          </a:p>
        </p:txBody>
      </p:sp>
      <p:sp>
        <p:nvSpPr>
          <p:cNvPr id="12" name="Shape 9"/>
          <p:cNvSpPr/>
          <p:nvPr/>
        </p:nvSpPr>
        <p:spPr>
          <a:xfrm>
            <a:off x="7424928" y="3127248"/>
            <a:ext cx="1325880" cy="502920"/>
          </a:xfrm>
          <a:prstGeom prst="roundRect">
            <a:avLst>
              <a:gd name="adj" fmla="val 12727"/>
            </a:avLst>
          </a:prstGeom>
          <a:solidFill>
            <a:srgbClr val="7C3AED"/>
          </a:solidFill>
          <a:ln/>
        </p:spPr>
      </p:sp>
      <p:sp>
        <p:nvSpPr>
          <p:cNvPr id="13" name="Text 10"/>
          <p:cNvSpPr/>
          <p:nvPr/>
        </p:nvSpPr>
        <p:spPr>
          <a:xfrm>
            <a:off x="7424928" y="3127248"/>
            <a:ext cx="1325880" cy="502920"/>
          </a:xfrm>
          <a:prstGeom prst="rect">
            <a:avLst/>
          </a:prstGeom>
          <a:noFill/>
          <a:ln/>
        </p:spPr>
        <p:txBody>
          <a:bodyPr wrap="square" lIns="0" tIns="0" rIns="0" bIns="0" rtlCol="0" anchor="ctr"/>
          <a:lstStyle/>
          <a:p>
            <a:pPr marL="0" indent="0" algn="ctr">
              <a:buNone/>
            </a:pPr>
            <a:r>
              <a:rPr lang="en-US" sz="950" b="1" dirty="0">
                <a:solidFill>
                  <a:srgbClr val="FFFFFF"/>
                </a:solidFill>
              </a:rPr>
              <a:t>36 Sub-subgrupos</a:t>
            </a:r>
            <a:endParaRPr lang="en-US" sz="950" dirty="0"/>
          </a:p>
        </p:txBody>
      </p:sp>
      <p:sp>
        <p:nvSpPr>
          <p:cNvPr id="14" name="Shape 11"/>
          <p:cNvSpPr/>
          <p:nvPr/>
        </p:nvSpPr>
        <p:spPr>
          <a:xfrm>
            <a:off x="7424928" y="3749040"/>
            <a:ext cx="1325880" cy="502920"/>
          </a:xfrm>
          <a:prstGeom prst="roundRect">
            <a:avLst>
              <a:gd name="adj" fmla="val 12727"/>
            </a:avLst>
          </a:prstGeom>
          <a:solidFill>
            <a:srgbClr val="D97706"/>
          </a:solidFill>
          <a:ln/>
        </p:spPr>
      </p:sp>
      <p:sp>
        <p:nvSpPr>
          <p:cNvPr id="5" name="Text 12"/>
          <p:cNvSpPr/>
          <p:nvPr/>
        </p:nvSpPr>
        <p:spPr>
          <a:xfrm>
            <a:off x="7424928" y="3749040"/>
            <a:ext cx="1325880" cy="502920"/>
          </a:xfrm>
          <a:prstGeom prst="rect">
            <a:avLst/>
          </a:prstGeom>
          <a:noFill/>
          <a:ln/>
        </p:spPr>
        <p:txBody>
          <a:bodyPr wrap="square" lIns="0" tIns="0" rIns="0" bIns="0" rtlCol="0" anchor="ctr"/>
          <a:lstStyle/>
          <a:p>
            <a:pPr marL="0" indent="0" algn="ctr">
              <a:buNone/>
            </a:pPr>
            <a:r>
              <a:rPr lang="en-US" sz="950" b="1" dirty="0">
                <a:solidFill>
                  <a:srgbClr val="FFFFFF"/>
                </a:solidFill>
              </a:rPr>
              <a:t>76 Conj. genéricos</a:t>
            </a:r>
            <a:endParaRPr lang="en-US" sz="950" dirty="0"/>
          </a:p>
        </p:txBody>
      </p:sp>
      <p:sp>
        <p:nvSpPr>
          <p:cNvPr id="16" name="Shape 13"/>
          <p:cNvSpPr/>
          <p:nvPr/>
        </p:nvSpPr>
        <p:spPr>
          <a:xfrm>
            <a:off x="7424928" y="4370832"/>
            <a:ext cx="1325880" cy="502920"/>
          </a:xfrm>
          <a:prstGeom prst="roundRect">
            <a:avLst>
              <a:gd name="adj" fmla="val 12727"/>
            </a:avLst>
          </a:prstGeom>
          <a:solidFill>
            <a:srgbClr val="16A34A"/>
          </a:solidFill>
          <a:ln/>
        </p:spPr>
      </p:sp>
      <p:sp>
        <p:nvSpPr>
          <p:cNvPr id="17" name="Text 14"/>
          <p:cNvSpPr/>
          <p:nvPr/>
        </p:nvSpPr>
        <p:spPr>
          <a:xfrm>
            <a:off x="7424928" y="4370832"/>
            <a:ext cx="1325880" cy="502920"/>
          </a:xfrm>
          <a:prstGeom prst="rect">
            <a:avLst/>
          </a:prstGeom>
          <a:noFill/>
          <a:ln/>
        </p:spPr>
        <p:txBody>
          <a:bodyPr wrap="square" lIns="0" tIns="0" rIns="0" bIns="0" rtlCol="0" anchor="ctr"/>
          <a:lstStyle/>
          <a:p>
            <a:pPr marL="0" indent="0" algn="ctr">
              <a:buNone/>
            </a:pPr>
            <a:r>
              <a:rPr lang="en-US" sz="950" b="1" dirty="0">
                <a:solidFill>
                  <a:srgbClr val="FFFFFF"/>
                </a:solidFill>
              </a:rPr>
              <a:t>292 Genéricos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Clasificación por Componentes: Subyacente y No Subyacente</a:t>
            </a:r>
            <a:endParaRPr lang="en-US" sz="2200" dirty="0"/>
          </a:p>
        </p:txBody>
      </p:sp>
      <p:sp>
        <p:nvSpPr>
          <p:cNvPr id="4" name="Text 2"/>
          <p:cNvSpPr/>
          <p:nvPr/>
        </p:nvSpPr>
        <p:spPr>
          <a:xfrm>
            <a:off x="320040" y="932688"/>
            <a:ext cx="8503920" cy="3657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Divide los 292 genéricos según la naturaleza de sus determinantes de precio. Es la clasificación más usada para análisis de política monetaria.</a:t>
            </a:r>
            <a:endParaRPr lang="en-US" sz="1050" dirty="0"/>
          </a:p>
        </p:txBody>
      </p:sp>
      <p:sp>
        <p:nvSpPr>
          <p:cNvPr id="5" name="Shape 3"/>
          <p:cNvSpPr/>
          <p:nvPr/>
        </p:nvSpPr>
        <p:spPr>
          <a:xfrm>
            <a:off x="292608" y="1371600"/>
            <a:ext cx="4279392" cy="438912"/>
          </a:xfrm>
          <a:prstGeom prst="roundRect">
            <a:avLst>
              <a:gd name="adj" fmla="val 20833"/>
            </a:avLst>
          </a:prstGeom>
          <a:solidFill>
            <a:srgbClr val="1A2F5A"/>
          </a:solidFill>
          <a:ln/>
        </p:spPr>
      </p:sp>
      <p:sp>
        <p:nvSpPr>
          <p:cNvPr id="6" name="Text 4"/>
          <p:cNvSpPr/>
          <p:nvPr/>
        </p:nvSpPr>
        <p:spPr>
          <a:xfrm>
            <a:off x="320040" y="1371600"/>
            <a:ext cx="4224528" cy="438912"/>
          </a:xfrm>
          <a:prstGeom prst="rect">
            <a:avLst/>
          </a:prstGeom>
          <a:noFill/>
          <a:ln/>
        </p:spPr>
        <p:txBody>
          <a:bodyPr wrap="square" lIns="0" tIns="0" rIns="0" bIns="0" rtlCol="0" anchor="ctr"/>
          <a:lstStyle/>
          <a:p>
            <a:pPr marL="0" indent="0" algn="ctr">
              <a:buNone/>
            </a:pPr>
            <a:r>
              <a:rPr lang="en-US" sz="1150" b="1" dirty="0">
                <a:solidFill>
                  <a:srgbClr val="FFFFFF"/>
                </a:solidFill>
              </a:rPr>
              <a:t>SUBYACENTE — 238 genéricos | 76.74%</a:t>
            </a:r>
            <a:endParaRPr lang="en-US" sz="1150" dirty="0"/>
          </a:p>
        </p:txBody>
      </p:sp>
      <p:sp>
        <p:nvSpPr>
          <p:cNvPr id="7" name="Shape 5"/>
          <p:cNvSpPr/>
          <p:nvPr/>
        </p:nvSpPr>
        <p:spPr>
          <a:xfrm>
            <a:off x="292608" y="1865376"/>
            <a:ext cx="4279392" cy="566928"/>
          </a:xfrm>
          <a:prstGeom prst="roundRect">
            <a:avLst>
              <a:gd name="adj" fmla="val 19355"/>
            </a:avLst>
          </a:prstGeom>
          <a:solidFill>
            <a:srgbClr val="DBEAFE"/>
          </a:solidFill>
          <a:ln/>
          <a:effectLst>
            <a:outerShdw blurRad="50800" dist="25400" dir="2700000" algn="bl" rotWithShape="0">
              <a:srgbClr val="000000">
                <a:alpha val="10000"/>
              </a:srgbClr>
            </a:outerShdw>
          </a:effectLst>
        </p:spPr>
      </p:sp>
      <p:sp>
        <p:nvSpPr>
          <p:cNvPr id="8" name="Text 6"/>
          <p:cNvSpPr/>
          <p:nvPr/>
        </p:nvSpPr>
        <p:spPr>
          <a:xfrm>
            <a:off x="438912" y="1911096"/>
            <a:ext cx="4005072" cy="237744"/>
          </a:xfrm>
          <a:prstGeom prst="rect">
            <a:avLst/>
          </a:prstGeom>
          <a:noFill/>
          <a:ln/>
        </p:spPr>
        <p:txBody>
          <a:bodyPr wrap="square" rtlCol="0" anchor="ctr"/>
          <a:lstStyle/>
          <a:p>
            <a:pPr marL="0" indent="0">
              <a:buNone/>
            </a:pPr>
            <a:r>
              <a:rPr lang="en-US" sz="1100" b="1" dirty="0">
                <a:solidFill>
                  <a:srgbClr val="1A2F5A"/>
                </a:solidFill>
              </a:rPr>
              <a:t>Mercancías — 189 gen. | 37.53%</a:t>
            </a:r>
            <a:endParaRPr lang="en-US" sz="1100" dirty="0"/>
          </a:p>
        </p:txBody>
      </p:sp>
      <p:sp>
        <p:nvSpPr>
          <p:cNvPr id="9" name="Text 7"/>
          <p:cNvSpPr/>
          <p:nvPr/>
        </p:nvSpPr>
        <p:spPr>
          <a:xfrm>
            <a:off x="438912" y="2148840"/>
            <a:ext cx="4005072" cy="228600"/>
          </a:xfrm>
          <a:prstGeom prst="rect">
            <a:avLst/>
          </a:prstGeom>
          <a:noFill/>
          <a:ln/>
        </p:spPr>
        <p:txBody>
          <a:bodyPr wrap="square" rtlCol="0" anchor="ctr"/>
          <a:lstStyle/>
          <a:p>
            <a:pPr marL="0" indent="0">
              <a:buNone/>
            </a:pPr>
            <a:r>
              <a:rPr lang="en-US" sz="950" dirty="0">
                <a:solidFill>
                  <a:srgbClr val="1E293B"/>
                </a:solidFill>
              </a:rPr>
              <a:t>Ej: tortilla, leche, ropa, electrodomésticos, automóviles.</a:t>
            </a:r>
            <a:endParaRPr lang="en-US" sz="950" dirty="0"/>
          </a:p>
        </p:txBody>
      </p:sp>
      <p:sp>
        <p:nvSpPr>
          <p:cNvPr id="10" name="Shape 8"/>
          <p:cNvSpPr/>
          <p:nvPr/>
        </p:nvSpPr>
        <p:spPr>
          <a:xfrm>
            <a:off x="292608" y="2487168"/>
            <a:ext cx="4279392" cy="2487168"/>
          </a:xfrm>
          <a:prstGeom prst="roundRect">
            <a:avLst>
              <a:gd name="adj" fmla="val 4412"/>
            </a:avLst>
          </a:prstGeom>
          <a:solidFill>
            <a:srgbClr val="D1FAE5"/>
          </a:solidFill>
          <a:ln/>
          <a:effectLst>
            <a:outerShdw blurRad="50800" dist="25400" dir="2700000" algn="bl" rotWithShape="0">
              <a:srgbClr val="000000">
                <a:alpha val="10000"/>
              </a:srgbClr>
            </a:outerShdw>
          </a:effectLst>
        </p:spPr>
      </p:sp>
      <p:sp>
        <p:nvSpPr>
          <p:cNvPr id="11" name="Text 9"/>
          <p:cNvSpPr/>
          <p:nvPr/>
        </p:nvSpPr>
        <p:spPr>
          <a:xfrm>
            <a:off x="438912" y="2542032"/>
            <a:ext cx="4005072" cy="237744"/>
          </a:xfrm>
          <a:prstGeom prst="rect">
            <a:avLst/>
          </a:prstGeom>
          <a:noFill/>
          <a:ln/>
        </p:spPr>
        <p:txBody>
          <a:bodyPr wrap="square" rtlCol="0" anchor="ctr"/>
          <a:lstStyle/>
          <a:p>
            <a:pPr marL="0" indent="0">
              <a:buNone/>
            </a:pPr>
            <a:r>
              <a:rPr lang="en-US" sz="1100" b="1" dirty="0">
                <a:solidFill>
                  <a:srgbClr val="0B7A75"/>
                </a:solidFill>
              </a:rPr>
              <a:t>Servicios — 49 gen. | 39.21%</a:t>
            </a:r>
            <a:endParaRPr lang="en-US" sz="1100" dirty="0"/>
          </a:p>
        </p:txBody>
      </p:sp>
      <p:sp>
        <p:nvSpPr>
          <p:cNvPr id="12" name="Shape 10"/>
          <p:cNvSpPr/>
          <p:nvPr/>
        </p:nvSpPr>
        <p:spPr>
          <a:xfrm>
            <a:off x="365760" y="2834640"/>
            <a:ext cx="4114800" cy="658368"/>
          </a:xfrm>
          <a:prstGeom prst="roundRect">
            <a:avLst>
              <a:gd name="adj" fmla="val 16667"/>
            </a:avLst>
          </a:prstGeom>
          <a:solidFill>
            <a:srgbClr val="FFFFFF"/>
          </a:solidFill>
          <a:ln/>
        </p:spPr>
      </p:sp>
      <p:sp>
        <p:nvSpPr>
          <p:cNvPr id="13" name="Text 11"/>
          <p:cNvSpPr/>
          <p:nvPr/>
        </p:nvSpPr>
        <p:spPr>
          <a:xfrm>
            <a:off x="475488" y="2880360"/>
            <a:ext cx="3840480" cy="237744"/>
          </a:xfrm>
          <a:prstGeom prst="rect">
            <a:avLst/>
          </a:prstGeom>
          <a:noFill/>
          <a:ln/>
        </p:spPr>
        <p:txBody>
          <a:bodyPr wrap="square" rtlCol="0" anchor="ctr"/>
          <a:lstStyle/>
          <a:p>
            <a:pPr marL="0" indent="0">
              <a:buNone/>
            </a:pPr>
            <a:r>
              <a:rPr lang="en-US" sz="1000" b="1" dirty="0">
                <a:solidFill>
                  <a:srgbClr val="0B7A75"/>
                </a:solidFill>
              </a:rPr>
              <a:t>Vivienda: 5 gen. | 18.05%</a:t>
            </a:r>
            <a:endParaRPr lang="en-US" sz="1000" dirty="0"/>
          </a:p>
        </p:txBody>
      </p:sp>
      <p:sp>
        <p:nvSpPr>
          <p:cNvPr id="14" name="Text 12"/>
          <p:cNvSpPr/>
          <p:nvPr/>
        </p:nvSpPr>
        <p:spPr>
          <a:xfrm>
            <a:off x="475488" y="3154680"/>
            <a:ext cx="3840480" cy="274320"/>
          </a:xfrm>
          <a:prstGeom prst="rect">
            <a:avLst/>
          </a:prstGeom>
          <a:noFill/>
          <a:ln/>
        </p:spPr>
        <p:txBody>
          <a:bodyPr wrap="square" rtlCol="0" anchor="ctr"/>
          <a:lstStyle/>
          <a:p>
            <a:pPr marL="0" indent="0">
              <a:buNone/>
            </a:pPr>
            <a:r>
              <a:rPr lang="en-US" sz="950" dirty="0">
                <a:solidFill>
                  <a:srgbClr val="1E293B"/>
                </a:solidFill>
              </a:rPr>
              <a:t>Renta de vivienda, vivienda propia</a:t>
            </a:r>
            <a:endParaRPr lang="en-US" sz="950" dirty="0"/>
          </a:p>
        </p:txBody>
      </p:sp>
      <p:sp>
        <p:nvSpPr>
          <p:cNvPr id="15" name="Shape 13"/>
          <p:cNvSpPr/>
          <p:nvPr/>
        </p:nvSpPr>
        <p:spPr>
          <a:xfrm>
            <a:off x="365760" y="3566160"/>
            <a:ext cx="4114800" cy="658368"/>
          </a:xfrm>
          <a:prstGeom prst="roundRect">
            <a:avLst>
              <a:gd name="adj" fmla="val 16667"/>
            </a:avLst>
          </a:prstGeom>
          <a:solidFill>
            <a:srgbClr val="FFFFFF"/>
          </a:solidFill>
          <a:ln/>
        </p:spPr>
      </p:sp>
      <p:sp>
        <p:nvSpPr>
          <p:cNvPr id="16" name="Text 14"/>
          <p:cNvSpPr/>
          <p:nvPr/>
        </p:nvSpPr>
        <p:spPr>
          <a:xfrm>
            <a:off x="475488" y="3611880"/>
            <a:ext cx="3840480" cy="237744"/>
          </a:xfrm>
          <a:prstGeom prst="rect">
            <a:avLst/>
          </a:prstGeom>
          <a:noFill/>
          <a:ln/>
        </p:spPr>
        <p:txBody>
          <a:bodyPr wrap="square" rtlCol="0" anchor="ctr"/>
          <a:lstStyle/>
          <a:p>
            <a:pPr marL="0" indent="0">
              <a:buNone/>
            </a:pPr>
            <a:r>
              <a:rPr lang="en-US" sz="1000" b="1" dirty="0">
                <a:solidFill>
                  <a:srgbClr val="0B7A75"/>
                </a:solidFill>
              </a:rPr>
              <a:t>Colegiaturas: 8 gen. | 2.52%</a:t>
            </a:r>
            <a:endParaRPr lang="en-US" sz="1000" dirty="0"/>
          </a:p>
        </p:txBody>
      </p:sp>
      <p:sp>
        <p:nvSpPr>
          <p:cNvPr id="17" name="Text 15"/>
          <p:cNvSpPr/>
          <p:nvPr/>
        </p:nvSpPr>
        <p:spPr>
          <a:xfrm>
            <a:off x="475488" y="3886200"/>
            <a:ext cx="3840480" cy="274320"/>
          </a:xfrm>
          <a:prstGeom prst="rect">
            <a:avLst/>
          </a:prstGeom>
          <a:noFill/>
          <a:ln/>
        </p:spPr>
        <p:txBody>
          <a:bodyPr wrap="square" rtlCol="0" anchor="ctr"/>
          <a:lstStyle/>
          <a:p>
            <a:pPr marL="0" indent="0">
              <a:buNone/>
            </a:pPr>
            <a:r>
              <a:rPr lang="en-US" sz="950" dirty="0">
                <a:solidFill>
                  <a:srgbClr val="1E293B"/>
                </a:solidFill>
              </a:rPr>
              <a:t>Educación privada en todos los niveles</a:t>
            </a:r>
            <a:endParaRPr lang="en-US" sz="950" dirty="0"/>
          </a:p>
        </p:txBody>
      </p:sp>
      <p:sp>
        <p:nvSpPr>
          <p:cNvPr id="18" name="Shape 16"/>
          <p:cNvSpPr/>
          <p:nvPr/>
        </p:nvSpPr>
        <p:spPr>
          <a:xfrm>
            <a:off x="365760" y="4297680"/>
            <a:ext cx="4114800" cy="658368"/>
          </a:xfrm>
          <a:prstGeom prst="roundRect">
            <a:avLst>
              <a:gd name="adj" fmla="val 16667"/>
            </a:avLst>
          </a:prstGeom>
          <a:solidFill>
            <a:srgbClr val="FFFFFF"/>
          </a:solidFill>
          <a:ln/>
        </p:spPr>
      </p:sp>
      <p:sp>
        <p:nvSpPr>
          <p:cNvPr id="19" name="Text 17"/>
          <p:cNvSpPr/>
          <p:nvPr/>
        </p:nvSpPr>
        <p:spPr>
          <a:xfrm>
            <a:off x="475488" y="4343400"/>
            <a:ext cx="3840480" cy="237744"/>
          </a:xfrm>
          <a:prstGeom prst="rect">
            <a:avLst/>
          </a:prstGeom>
          <a:noFill/>
          <a:ln/>
        </p:spPr>
        <p:txBody>
          <a:bodyPr wrap="square" rtlCol="0" anchor="ctr"/>
          <a:lstStyle/>
          <a:p>
            <a:pPr marL="0" indent="0">
              <a:buNone/>
            </a:pPr>
            <a:r>
              <a:rPr lang="en-US" sz="1000" b="1" dirty="0">
                <a:solidFill>
                  <a:srgbClr val="0B7A75"/>
                </a:solidFill>
              </a:rPr>
              <a:t>Otros servicios: 36 gen. | 18.64%</a:t>
            </a:r>
            <a:endParaRPr lang="en-US" sz="1000" dirty="0"/>
          </a:p>
        </p:txBody>
      </p:sp>
      <p:sp>
        <p:nvSpPr>
          <p:cNvPr id="20" name="Text 18"/>
          <p:cNvSpPr/>
          <p:nvPr/>
        </p:nvSpPr>
        <p:spPr>
          <a:xfrm>
            <a:off x="475488" y="4617720"/>
            <a:ext cx="3840480" cy="274320"/>
          </a:xfrm>
          <a:prstGeom prst="rect">
            <a:avLst/>
          </a:prstGeom>
          <a:noFill/>
          <a:ln/>
        </p:spPr>
        <p:txBody>
          <a:bodyPr wrap="square" rtlCol="0" anchor="ctr"/>
          <a:lstStyle/>
          <a:p>
            <a:pPr marL="0" indent="0">
              <a:buNone/>
            </a:pPr>
            <a:r>
              <a:rPr lang="en-US" sz="950" dirty="0">
                <a:solidFill>
                  <a:srgbClr val="1E293B"/>
                </a:solidFill>
              </a:rPr>
              <a:t>Restaurantes, salud privada, telecom</a:t>
            </a:r>
            <a:endParaRPr lang="en-US" sz="950" dirty="0"/>
          </a:p>
        </p:txBody>
      </p:sp>
      <p:sp>
        <p:nvSpPr>
          <p:cNvPr id="21" name="Shape 19"/>
          <p:cNvSpPr/>
          <p:nvPr/>
        </p:nvSpPr>
        <p:spPr>
          <a:xfrm>
            <a:off x="4754880" y="1371600"/>
            <a:ext cx="4096512" cy="438912"/>
          </a:xfrm>
          <a:prstGeom prst="roundRect">
            <a:avLst>
              <a:gd name="adj" fmla="val 20833"/>
            </a:avLst>
          </a:prstGeom>
          <a:solidFill>
            <a:srgbClr val="E11D48"/>
          </a:solidFill>
          <a:ln/>
        </p:spPr>
      </p:sp>
      <p:sp>
        <p:nvSpPr>
          <p:cNvPr id="22" name="Text 20"/>
          <p:cNvSpPr/>
          <p:nvPr/>
        </p:nvSpPr>
        <p:spPr>
          <a:xfrm>
            <a:off x="4782312" y="1371600"/>
            <a:ext cx="4041648" cy="438912"/>
          </a:xfrm>
          <a:prstGeom prst="rect">
            <a:avLst/>
          </a:prstGeom>
          <a:noFill/>
          <a:ln/>
        </p:spPr>
        <p:txBody>
          <a:bodyPr wrap="square" lIns="0" tIns="0" rIns="0" bIns="0" rtlCol="0" anchor="ctr"/>
          <a:lstStyle/>
          <a:p>
            <a:pPr marL="0" indent="0" algn="ctr">
              <a:buNone/>
            </a:pPr>
            <a:r>
              <a:rPr lang="en-US" sz="1150" b="1" dirty="0">
                <a:solidFill>
                  <a:srgbClr val="FFFFFF"/>
                </a:solidFill>
              </a:rPr>
              <a:t>NO SUBYACENTE — 54 gen. | 23.26%</a:t>
            </a:r>
            <a:endParaRPr lang="en-US" sz="1150" dirty="0"/>
          </a:p>
        </p:txBody>
      </p:sp>
      <p:sp>
        <p:nvSpPr>
          <p:cNvPr id="23" name="Shape 21"/>
          <p:cNvSpPr/>
          <p:nvPr/>
        </p:nvSpPr>
        <p:spPr>
          <a:xfrm>
            <a:off x="4754880" y="1865376"/>
            <a:ext cx="4096512" cy="1481328"/>
          </a:xfrm>
          <a:prstGeom prst="roundRect">
            <a:avLst>
              <a:gd name="adj" fmla="val 7407"/>
            </a:avLst>
          </a:prstGeom>
          <a:solidFill>
            <a:srgbClr val="FECACA"/>
          </a:solidFill>
          <a:ln/>
          <a:effectLst>
            <a:outerShdw blurRad="50800" dist="25400" dir="2700000" algn="bl" rotWithShape="0">
              <a:srgbClr val="000000">
                <a:alpha val="10000"/>
              </a:srgbClr>
            </a:outerShdw>
          </a:effectLst>
        </p:spPr>
      </p:sp>
      <p:sp>
        <p:nvSpPr>
          <p:cNvPr id="24" name="Text 22"/>
          <p:cNvSpPr/>
          <p:nvPr/>
        </p:nvSpPr>
        <p:spPr>
          <a:xfrm>
            <a:off x="4892040" y="1920240"/>
            <a:ext cx="3822192" cy="256032"/>
          </a:xfrm>
          <a:prstGeom prst="rect">
            <a:avLst/>
          </a:prstGeom>
          <a:noFill/>
          <a:ln/>
        </p:spPr>
        <p:txBody>
          <a:bodyPr wrap="square" rtlCol="0" anchor="ctr"/>
          <a:lstStyle/>
          <a:p>
            <a:pPr marL="0" indent="0">
              <a:buNone/>
            </a:pPr>
            <a:r>
              <a:rPr lang="en-US" sz="1100" b="1" dirty="0">
                <a:solidFill>
                  <a:srgbClr val="E11D48"/>
                </a:solidFill>
              </a:rPr>
              <a:t>Agropecuarios — 10.66%</a:t>
            </a:r>
            <a:endParaRPr lang="en-US" sz="1100" dirty="0"/>
          </a:p>
        </p:txBody>
      </p:sp>
      <p:sp>
        <p:nvSpPr>
          <p:cNvPr id="25" name="Text 23"/>
          <p:cNvSpPr/>
          <p:nvPr/>
        </p:nvSpPr>
        <p:spPr>
          <a:xfrm>
            <a:off x="4892040" y="2212848"/>
            <a:ext cx="3822192" cy="219456"/>
          </a:xfrm>
          <a:prstGeom prst="rect">
            <a:avLst/>
          </a:prstGeom>
          <a:noFill/>
          <a:ln/>
        </p:spPr>
        <p:txBody>
          <a:bodyPr wrap="square" rtlCol="0" anchor="ctr"/>
          <a:lstStyle/>
          <a:p>
            <a:pPr marL="0" indent="0">
              <a:buNone/>
            </a:pPr>
            <a:r>
              <a:rPr lang="en-US" sz="1000" b="1" dirty="0">
                <a:solidFill>
                  <a:srgbClr val="1E293B"/>
                </a:solidFill>
              </a:rPr>
              <a:t>Frutas y verduras | 4.78%</a:t>
            </a:r>
            <a:endParaRPr lang="en-US" sz="1000" dirty="0"/>
          </a:p>
        </p:txBody>
      </p:sp>
      <p:sp>
        <p:nvSpPr>
          <p:cNvPr id="26" name="Text 24"/>
          <p:cNvSpPr/>
          <p:nvPr/>
        </p:nvSpPr>
        <p:spPr>
          <a:xfrm>
            <a:off x="4892040" y="2432304"/>
            <a:ext cx="3822192" cy="219456"/>
          </a:xfrm>
          <a:prstGeom prst="rect">
            <a:avLst/>
          </a:prstGeom>
          <a:noFill/>
          <a:ln/>
        </p:spPr>
        <p:txBody>
          <a:bodyPr wrap="square" rtlCol="0" anchor="ctr"/>
          <a:lstStyle/>
          <a:p>
            <a:pPr marL="0" indent="0">
              <a:buNone/>
            </a:pPr>
            <a:r>
              <a:rPr lang="en-US" sz="950" dirty="0">
                <a:solidFill>
                  <a:srgbClr val="1E293B"/>
                </a:solidFill>
              </a:rPr>
              <a:t>Ej: jitomate, chile, aguacate — muy volátiles, estacionales.</a:t>
            </a:r>
            <a:endParaRPr lang="en-US" sz="950" dirty="0"/>
          </a:p>
        </p:txBody>
      </p:sp>
      <p:sp>
        <p:nvSpPr>
          <p:cNvPr id="27" name="Text 25"/>
          <p:cNvSpPr/>
          <p:nvPr/>
        </p:nvSpPr>
        <p:spPr>
          <a:xfrm>
            <a:off x="4892040" y="2688336"/>
            <a:ext cx="3822192" cy="219456"/>
          </a:xfrm>
          <a:prstGeom prst="rect">
            <a:avLst/>
          </a:prstGeom>
          <a:noFill/>
          <a:ln/>
        </p:spPr>
        <p:txBody>
          <a:bodyPr wrap="square" rtlCol="0" anchor="ctr"/>
          <a:lstStyle/>
          <a:p>
            <a:pPr marL="0" indent="0">
              <a:buNone/>
            </a:pPr>
            <a:r>
              <a:rPr lang="en-US" sz="1000" b="1" dirty="0">
                <a:solidFill>
                  <a:srgbClr val="1E293B"/>
                </a:solidFill>
              </a:rPr>
              <a:t>Pecuarios | 5.88%</a:t>
            </a:r>
            <a:endParaRPr lang="en-US" sz="1000" dirty="0"/>
          </a:p>
        </p:txBody>
      </p:sp>
      <p:sp>
        <p:nvSpPr>
          <p:cNvPr id="28" name="Text 26"/>
          <p:cNvSpPr/>
          <p:nvPr/>
        </p:nvSpPr>
        <p:spPr>
          <a:xfrm>
            <a:off x="4892040" y="2907792"/>
            <a:ext cx="3822192" cy="219456"/>
          </a:xfrm>
          <a:prstGeom prst="rect">
            <a:avLst/>
          </a:prstGeom>
          <a:noFill/>
          <a:ln/>
        </p:spPr>
        <p:txBody>
          <a:bodyPr wrap="square" rtlCol="0" anchor="ctr"/>
          <a:lstStyle/>
          <a:p>
            <a:pPr marL="0" indent="0">
              <a:buNone/>
            </a:pPr>
            <a:r>
              <a:rPr lang="en-US" sz="950" dirty="0">
                <a:solidFill>
                  <a:srgbClr val="1E293B"/>
                </a:solidFill>
              </a:rPr>
              <a:t>Ej: carne de res, pollo, huevo, leche sin procesar.</a:t>
            </a:r>
            <a:endParaRPr lang="en-US" sz="950" dirty="0"/>
          </a:p>
        </p:txBody>
      </p:sp>
      <p:sp>
        <p:nvSpPr>
          <p:cNvPr id="29" name="Text 27"/>
          <p:cNvSpPr/>
          <p:nvPr/>
        </p:nvSpPr>
        <p:spPr>
          <a:xfrm>
            <a:off x="4892040" y="3145536"/>
            <a:ext cx="3822192" cy="164592"/>
          </a:xfrm>
          <a:prstGeom prst="rect">
            <a:avLst/>
          </a:prstGeom>
          <a:noFill/>
          <a:ln/>
        </p:spPr>
        <p:txBody>
          <a:bodyPr wrap="square" rtlCol="0" anchor="ctr"/>
          <a:lstStyle/>
          <a:p>
            <a:pPr marL="0" indent="0">
              <a:buNone/>
            </a:pPr>
            <a:r>
              <a:rPr lang="en-US" sz="900" i="1" dirty="0">
                <a:solidFill>
                  <a:srgbClr val="64748B"/>
                </a:solidFill>
              </a:rPr>
              <a:t>Sus precios responden al clima, plagas y estacionalidad.</a:t>
            </a:r>
            <a:endParaRPr lang="en-US" sz="900" dirty="0"/>
          </a:p>
        </p:txBody>
      </p:sp>
      <p:sp>
        <p:nvSpPr>
          <p:cNvPr id="30" name="Shape 28"/>
          <p:cNvSpPr/>
          <p:nvPr/>
        </p:nvSpPr>
        <p:spPr>
          <a:xfrm>
            <a:off x="4754880" y="3401568"/>
            <a:ext cx="4096512" cy="1572768"/>
          </a:xfrm>
          <a:prstGeom prst="roundRect">
            <a:avLst>
              <a:gd name="adj" fmla="val 6977"/>
            </a:avLst>
          </a:prstGeom>
          <a:solidFill>
            <a:srgbClr val="FED7AA"/>
          </a:solidFill>
          <a:ln/>
          <a:effectLst>
            <a:outerShdw blurRad="50800" dist="25400" dir="2700000" algn="bl" rotWithShape="0">
              <a:srgbClr val="000000">
                <a:alpha val="10000"/>
              </a:srgbClr>
            </a:outerShdw>
          </a:effectLst>
        </p:spPr>
      </p:sp>
      <p:sp>
        <p:nvSpPr>
          <p:cNvPr id="31" name="Text 29"/>
          <p:cNvSpPr/>
          <p:nvPr/>
        </p:nvSpPr>
        <p:spPr>
          <a:xfrm>
            <a:off x="4892040" y="3456432"/>
            <a:ext cx="3822192" cy="256032"/>
          </a:xfrm>
          <a:prstGeom prst="rect">
            <a:avLst/>
          </a:prstGeom>
          <a:noFill/>
          <a:ln/>
        </p:spPr>
        <p:txBody>
          <a:bodyPr wrap="square" rtlCol="0" anchor="ctr"/>
          <a:lstStyle/>
          <a:p>
            <a:pPr marL="0" indent="0">
              <a:buNone/>
            </a:pPr>
            <a:r>
              <a:rPr lang="en-US" sz="1100" b="1" dirty="0">
                <a:solidFill>
                  <a:srgbClr val="92400E"/>
                </a:solidFill>
              </a:rPr>
              <a:t>Energéticos y tarifas gobierno — 12.60%</a:t>
            </a:r>
            <a:endParaRPr lang="en-US" sz="1100" dirty="0"/>
          </a:p>
        </p:txBody>
      </p:sp>
      <p:sp>
        <p:nvSpPr>
          <p:cNvPr id="32" name="Text 30"/>
          <p:cNvSpPr/>
          <p:nvPr/>
        </p:nvSpPr>
        <p:spPr>
          <a:xfrm>
            <a:off x="4892040" y="3749040"/>
            <a:ext cx="3822192" cy="219456"/>
          </a:xfrm>
          <a:prstGeom prst="rect">
            <a:avLst/>
          </a:prstGeom>
          <a:noFill/>
          <a:ln/>
        </p:spPr>
        <p:txBody>
          <a:bodyPr wrap="square" rtlCol="0" anchor="ctr"/>
          <a:lstStyle/>
          <a:p>
            <a:pPr marL="0" indent="0">
              <a:buNone/>
            </a:pPr>
            <a:r>
              <a:rPr lang="en-US" sz="1000" b="1" dirty="0">
                <a:solidFill>
                  <a:srgbClr val="1E293B"/>
                </a:solidFill>
              </a:rPr>
              <a:t>Energéticos | 8.05%</a:t>
            </a:r>
            <a:endParaRPr lang="en-US" sz="1000" dirty="0"/>
          </a:p>
        </p:txBody>
      </p:sp>
      <p:sp>
        <p:nvSpPr>
          <p:cNvPr id="33" name="Text 31"/>
          <p:cNvSpPr/>
          <p:nvPr/>
        </p:nvSpPr>
        <p:spPr>
          <a:xfrm>
            <a:off x="4892040" y="3968496"/>
            <a:ext cx="3822192" cy="219456"/>
          </a:xfrm>
          <a:prstGeom prst="rect">
            <a:avLst/>
          </a:prstGeom>
          <a:noFill/>
          <a:ln/>
        </p:spPr>
        <p:txBody>
          <a:bodyPr wrap="square" rtlCol="0" anchor="ctr"/>
          <a:lstStyle/>
          <a:p>
            <a:pPr marL="0" indent="0">
              <a:buNone/>
            </a:pPr>
            <a:r>
              <a:rPr lang="en-US" sz="950" dirty="0">
                <a:solidFill>
                  <a:srgbClr val="1E293B"/>
                </a:solidFill>
              </a:rPr>
              <a:t>Ej: gasolina, gas LP, electricidad — precio regulado o internacional.</a:t>
            </a:r>
            <a:endParaRPr lang="en-US" sz="950" dirty="0"/>
          </a:p>
        </p:txBody>
      </p:sp>
      <p:sp>
        <p:nvSpPr>
          <p:cNvPr id="34" name="Text 32"/>
          <p:cNvSpPr/>
          <p:nvPr/>
        </p:nvSpPr>
        <p:spPr>
          <a:xfrm>
            <a:off x="4892040" y="4224528"/>
            <a:ext cx="3822192" cy="219456"/>
          </a:xfrm>
          <a:prstGeom prst="rect">
            <a:avLst/>
          </a:prstGeom>
          <a:noFill/>
          <a:ln/>
        </p:spPr>
        <p:txBody>
          <a:bodyPr wrap="square" rtlCol="0" anchor="ctr"/>
          <a:lstStyle/>
          <a:p>
            <a:pPr marL="0" indent="0">
              <a:buNone/>
            </a:pPr>
            <a:r>
              <a:rPr lang="en-US" sz="1000" b="1" dirty="0">
                <a:solidFill>
                  <a:srgbClr val="1E293B"/>
                </a:solidFill>
              </a:rPr>
              <a:t>Tarifas gobierno | 4.55%</a:t>
            </a:r>
            <a:endParaRPr lang="en-US" sz="1000" dirty="0"/>
          </a:p>
        </p:txBody>
      </p:sp>
      <p:sp>
        <p:nvSpPr>
          <p:cNvPr id="35" name="Text 33"/>
          <p:cNvSpPr/>
          <p:nvPr/>
        </p:nvSpPr>
        <p:spPr>
          <a:xfrm>
            <a:off x="4892040" y="4443984"/>
            <a:ext cx="3822192" cy="219456"/>
          </a:xfrm>
          <a:prstGeom prst="rect">
            <a:avLst/>
          </a:prstGeom>
          <a:noFill/>
          <a:ln/>
        </p:spPr>
        <p:txBody>
          <a:bodyPr wrap="square" rtlCol="0" anchor="ctr"/>
          <a:lstStyle/>
          <a:p>
            <a:pPr marL="0" indent="0">
              <a:buNone/>
            </a:pPr>
            <a:r>
              <a:rPr lang="en-US" sz="950" dirty="0">
                <a:solidFill>
                  <a:srgbClr val="1E293B"/>
                </a:solidFill>
              </a:rPr>
              <a:t>Ej: transporte público, agua potable, autopistas.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Clasificación por SCIAN 2023</a:t>
            </a:r>
            <a:endParaRPr lang="en-US" sz="2200" dirty="0"/>
          </a:p>
        </p:txBody>
      </p:sp>
      <p:sp>
        <p:nvSpPr>
          <p:cNvPr id="4" name="Text 2"/>
          <p:cNvSpPr/>
          <p:nvPr/>
        </p:nvSpPr>
        <p:spPr>
          <a:xfrm>
            <a:off x="320040" y="932688"/>
            <a:ext cx="8503920" cy="53035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El Sistema de Clasificación Industrial de América del Norte clasifica los genéricos según la actividad económica de las unidades que los producen. Permite homologar estadísticas entre México, EE.UU. y Canadá y conectar el INPC con censos económicos y cuentas nacionales.</a:t>
            </a:r>
            <a:endParaRPr lang="en-US" sz="1050" dirty="0"/>
          </a:p>
        </p:txBody>
      </p:sp>
      <p:sp>
        <p:nvSpPr>
          <p:cNvPr id="5" name="Shape 3"/>
          <p:cNvSpPr/>
          <p:nvPr/>
        </p:nvSpPr>
        <p:spPr>
          <a:xfrm>
            <a:off x="320040" y="1536192"/>
            <a:ext cx="3474720" cy="1298448"/>
          </a:xfrm>
          <a:prstGeom prst="roundRect">
            <a:avLst>
              <a:gd name="adj" fmla="val 8451"/>
            </a:avLst>
          </a:prstGeom>
          <a:solidFill>
            <a:srgbClr val="EEF2FF"/>
          </a:solidFill>
          <a:ln/>
          <a:effectLst>
            <a:outerShdw blurRad="50800" dist="25400" dir="2700000" algn="bl" rotWithShape="0">
              <a:srgbClr val="000000">
                <a:alpha val="10000"/>
              </a:srgbClr>
            </a:outerShdw>
          </a:effectLst>
        </p:spPr>
      </p:sp>
      <p:sp>
        <p:nvSpPr>
          <p:cNvPr id="6" name="Text 4"/>
          <p:cNvSpPr/>
          <p:nvPr/>
        </p:nvSpPr>
        <p:spPr>
          <a:xfrm>
            <a:off x="475488" y="1600200"/>
            <a:ext cx="3246120" cy="256032"/>
          </a:xfrm>
          <a:prstGeom prst="rect">
            <a:avLst/>
          </a:prstGeom>
          <a:noFill/>
          <a:ln/>
        </p:spPr>
        <p:txBody>
          <a:bodyPr wrap="square" rtlCol="0" anchor="ctr"/>
          <a:lstStyle/>
          <a:p>
            <a:pPr marL="0" indent="0">
              <a:buNone/>
            </a:pPr>
            <a:r>
              <a:rPr lang="en-US" sz="1150" b="1" dirty="0">
                <a:solidFill>
                  <a:srgbClr val="1A2F5A"/>
                </a:solidFill>
              </a:rPr>
              <a:t>Estructura jerárquica del SCIAN:</a:t>
            </a:r>
            <a:endParaRPr lang="en-US" sz="1150" dirty="0"/>
          </a:p>
        </p:txBody>
      </p:sp>
      <p:sp>
        <p:nvSpPr>
          <p:cNvPr id="7" name="Text 5"/>
          <p:cNvSpPr/>
          <p:nvPr/>
        </p:nvSpPr>
        <p:spPr>
          <a:xfrm>
            <a:off x="475488" y="1901952"/>
            <a:ext cx="3246120" cy="274320"/>
          </a:xfrm>
          <a:prstGeom prst="rect">
            <a:avLst/>
          </a:prstGeom>
          <a:noFill/>
          <a:ln/>
        </p:spPr>
        <p:txBody>
          <a:bodyPr wrap="square" rtlCol="0" anchor="ctr"/>
          <a:lstStyle/>
          <a:p>
            <a:pPr marL="0" indent="0">
              <a:buNone/>
            </a:pPr>
            <a:r>
              <a:rPr lang="en-US" sz="1050" b="1" dirty="0">
                <a:solidFill>
                  <a:srgbClr val="1A2F5A"/>
                </a:solidFill>
              </a:rPr>
              <a:t>Sector (2 dígitos): </a:t>
            </a:r>
            <a:r>
              <a:rPr lang="en-US" sz="1050" dirty="0">
                <a:solidFill>
                  <a:srgbClr val="1E293B"/>
                </a:solidFill>
              </a:rPr>
              <a:t>17 sectores — nivel más agregado</a:t>
            </a:r>
            <a:endParaRPr lang="en-US" sz="1050" dirty="0"/>
          </a:p>
        </p:txBody>
      </p:sp>
      <p:sp>
        <p:nvSpPr>
          <p:cNvPr id="8" name="Text 6"/>
          <p:cNvSpPr/>
          <p:nvPr/>
        </p:nvSpPr>
        <p:spPr>
          <a:xfrm>
            <a:off x="475488" y="2194560"/>
            <a:ext cx="3246120" cy="274320"/>
          </a:xfrm>
          <a:prstGeom prst="rect">
            <a:avLst/>
          </a:prstGeom>
          <a:noFill/>
          <a:ln/>
        </p:spPr>
        <p:txBody>
          <a:bodyPr wrap="square" rtlCol="0" anchor="ctr"/>
          <a:lstStyle/>
          <a:p>
            <a:pPr marL="0" indent="0">
              <a:buNone/>
            </a:pPr>
            <a:r>
              <a:rPr lang="en-US" sz="1050" b="1" dirty="0">
                <a:solidFill>
                  <a:srgbClr val="1A2F5A"/>
                </a:solidFill>
              </a:rPr>
              <a:t>Rama (4 dígitos): </a:t>
            </a:r>
            <a:r>
              <a:rPr lang="en-US" sz="1050" dirty="0">
                <a:solidFill>
                  <a:srgbClr val="1E293B"/>
                </a:solidFill>
              </a:rPr>
              <a:t>88 ramas — nivel de publicación del INPC</a:t>
            </a:r>
            <a:endParaRPr lang="en-US" sz="1050" dirty="0"/>
          </a:p>
        </p:txBody>
      </p:sp>
      <p:sp>
        <p:nvSpPr>
          <p:cNvPr id="9" name="Text 7"/>
          <p:cNvSpPr/>
          <p:nvPr/>
        </p:nvSpPr>
        <p:spPr>
          <a:xfrm>
            <a:off x="475488" y="2487168"/>
            <a:ext cx="3246120" cy="274320"/>
          </a:xfrm>
          <a:prstGeom prst="rect">
            <a:avLst/>
          </a:prstGeom>
          <a:noFill/>
          <a:ln/>
        </p:spPr>
        <p:txBody>
          <a:bodyPr wrap="square" rtlCol="0" anchor="ctr"/>
          <a:lstStyle/>
          <a:p>
            <a:pPr marL="0" indent="0">
              <a:buNone/>
            </a:pPr>
            <a:r>
              <a:rPr lang="en-US" sz="1050" b="1" dirty="0">
                <a:solidFill>
                  <a:srgbClr val="1A2F5A"/>
                </a:solidFill>
              </a:rPr>
              <a:t>Genérico: </a:t>
            </a:r>
            <a:r>
              <a:rPr lang="en-US" sz="1050" dirty="0">
                <a:solidFill>
                  <a:srgbClr val="1E293B"/>
                </a:solidFill>
              </a:rPr>
              <a:t>292 genéricos — nivel más desagregado</a:t>
            </a:r>
            <a:endParaRPr lang="en-US" sz="1050" dirty="0"/>
          </a:p>
        </p:txBody>
      </p:sp>
      <p:sp>
        <p:nvSpPr>
          <p:cNvPr id="10" name="Text 8"/>
          <p:cNvSpPr/>
          <p:nvPr/>
        </p:nvSpPr>
        <p:spPr>
          <a:xfrm>
            <a:off x="320040" y="2880360"/>
            <a:ext cx="3611880" cy="475488"/>
          </a:xfrm>
          <a:prstGeom prst="rect">
            <a:avLst/>
          </a:prstGeom>
          <a:noFill/>
          <a:ln/>
        </p:spPr>
        <p:txBody>
          <a:bodyPr wrap="square" rtlCol="0" anchor="ctr"/>
          <a:lstStyle/>
          <a:p>
            <a:pPr marL="0" indent="0">
              <a:buNone/>
            </a:pPr>
            <a:r>
              <a:rPr lang="en-US" sz="900" i="1" dirty="0">
                <a:solidFill>
                  <a:srgbClr val="64748B"/>
                </a:solidFill>
              </a:rPr>
              <a:t>Nota: los índices se publican solo a nivel Rama y Sector porque un mismo genérico puede provenir de distintas clases del SCIAN.</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977640" y="1536192"/>
          <a:ext cx="4846320" cy="3291840"/>
        </p:xfrm>
        <a:graphic>
          <a:graphicData uri="http://schemas.openxmlformats.org/drawingml/2006/table">
            <a:tbl>
              <a:tblPr/>
              <a:tblGrid>
                <a:gridCol w="59436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365760">
                <a:tc>
                  <a:txBody>
                    <a:bodyPr/>
                    <a:lstStyle/>
                    <a:p>
                      <a:pPr marL="0" indent="0">
                        <a:buNone/>
                      </a:pPr>
                      <a:r>
                        <a:rPr lang="en-US" sz="1000" b="1" dirty="0">
                          <a:solidFill>
                            <a:srgbClr val="FFFFFF"/>
                          </a:solidFill>
                        </a:rPr>
                        <a:t>Cód.</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Sector SCIAN 2023</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Gen.</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Pond.</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365760">
                <a:tc>
                  <a:txBody>
                    <a:bodyPr/>
                    <a:lstStyle/>
                    <a:p>
                      <a:pPr marL="0" indent="0">
                        <a:buNone/>
                      </a:pPr>
                      <a:r>
                        <a:rPr lang="en-US" sz="950" dirty="0">
                          <a:solidFill>
                            <a:srgbClr val="1E293B"/>
                          </a:solidFill>
                        </a:rPr>
                        <a:t>31-33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Industrias manufactureras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187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44.86%</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65760">
                <a:tc>
                  <a:txBody>
                    <a:bodyPr/>
                    <a:lstStyle/>
                    <a:p>
                      <a:pPr marL="0" indent="0">
                        <a:buNone/>
                      </a:pPr>
                      <a:r>
                        <a:rPr lang="en-US" sz="950" dirty="0">
                          <a:solidFill>
                            <a:srgbClr val="1E293B"/>
                          </a:solidFill>
                        </a:rPr>
                        <a:t>11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Agricultura, cría y explotación de animales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38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6.53%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950" dirty="0">
                          <a:solidFill>
                            <a:srgbClr val="1E293B"/>
                          </a:solidFill>
                        </a:rPr>
                        <a:t>48-49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Transportes, correos y almacenamiento</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4.26%</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65760">
                <a:tc>
                  <a:txBody>
                    <a:bodyPr/>
                    <a:lstStyle/>
                    <a:p>
                      <a:pPr marL="0" indent="0">
                        <a:buNone/>
                      </a:pPr>
                      <a:r>
                        <a:rPr lang="en-US" sz="950" dirty="0">
                          <a:solidFill>
                            <a:srgbClr val="1E293B"/>
                          </a:solidFill>
                        </a:rPr>
                        <a:t>51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Información en medios masivos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10</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4.35%</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950" dirty="0">
                          <a:solidFill>
                            <a:srgbClr val="1E293B"/>
                          </a:solidFill>
                        </a:rPr>
                        <a:t>53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Servicios inmobiliarios y de alquiler</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5</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4.26%</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365760">
                <a:tc>
                  <a:txBody>
                    <a:bodyPr/>
                    <a:lstStyle/>
                    <a:p>
                      <a:pPr marL="0" indent="0">
                        <a:buNone/>
                      </a:pPr>
                      <a:r>
                        <a:rPr lang="en-US" sz="950" dirty="0">
                          <a:solidFill>
                            <a:srgbClr val="1E293B"/>
                          </a:solidFill>
                        </a:rPr>
                        <a:t>62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Servicios de salud y asistencia social</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950" dirty="0">
                          <a:solidFill>
                            <a:srgbClr val="1E293B"/>
                          </a:solidFill>
                        </a:rPr>
                        <a:t>72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Restaurantes y alojamiento temporal</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365760">
                <a:tc>
                  <a:txBody>
                    <a:bodyPr/>
                    <a:lstStyle/>
                    <a:p>
                      <a:pPr marL="0" indent="0">
                        <a:buNone/>
                      </a:pPr>
                      <a:r>
                        <a:rPr lang="en-US" sz="950" dirty="0">
                          <a:solidFill>
                            <a:srgbClr val="1E293B"/>
                          </a:solidFill>
                        </a:rPr>
                        <a:t>61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Servicios educativos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2.49%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2" name="Shape 9"/>
          <p:cNvSpPr/>
          <p:nvPr/>
        </p:nvSpPr>
        <p:spPr>
          <a:xfrm>
            <a:off x="320040" y="3401568"/>
            <a:ext cx="3493008" cy="1417320"/>
          </a:xfrm>
          <a:prstGeom prst="roundRect">
            <a:avLst>
              <a:gd name="adj" fmla="val 7742"/>
            </a:avLst>
          </a:prstGeom>
          <a:solidFill>
            <a:srgbClr val="F1F5F9"/>
          </a:solidFill>
          <a:ln/>
          <a:effectLst>
            <a:outerShdw blurRad="50800" dist="25400" dir="2700000" algn="bl" rotWithShape="0">
              <a:srgbClr val="000000">
                <a:alpha val="10000"/>
              </a:srgbClr>
            </a:outerShdw>
          </a:effectLst>
        </p:spPr>
      </p:sp>
      <p:sp>
        <p:nvSpPr>
          <p:cNvPr id="13" name="Text 10"/>
          <p:cNvSpPr/>
          <p:nvPr/>
        </p:nvSpPr>
        <p:spPr>
          <a:xfrm>
            <a:off x="475488" y="3456432"/>
            <a:ext cx="3246120" cy="256032"/>
          </a:xfrm>
          <a:prstGeom prst="rect">
            <a:avLst/>
          </a:prstGeom>
          <a:noFill/>
          <a:ln/>
        </p:spPr>
        <p:txBody>
          <a:bodyPr wrap="square" rtlCol="0" anchor="ctr"/>
          <a:lstStyle/>
          <a:p>
            <a:pPr marL="0" indent="0">
              <a:buNone/>
            </a:pPr>
            <a:r>
              <a:rPr lang="en-US" sz="1100" b="1" dirty="0">
                <a:solidFill>
                  <a:srgbClr val="1A2F5A"/>
                </a:solidFill>
              </a:rPr>
              <a:t>Sectores más relevantes:</a:t>
            </a:r>
            <a:endParaRPr lang="en-US" sz="1100" dirty="0"/>
          </a:p>
        </p:txBody>
      </p:sp>
      <p:sp>
        <p:nvSpPr>
          <p:cNvPr id="14" name="Text 11"/>
          <p:cNvSpPr/>
          <p:nvPr/>
        </p:nvSpPr>
        <p:spPr>
          <a:xfrm>
            <a:off x="475488" y="3749040"/>
            <a:ext cx="3246120" cy="47548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Industrias manufactureras: 44.86% del gasto</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(el sector más representado con 187 de 292 genéricos)</a:t>
            </a:r>
            <a:endParaRPr lang="en-US" sz="1000" dirty="0"/>
          </a:p>
        </p:txBody>
      </p:sp>
      <p:sp>
        <p:nvSpPr>
          <p:cNvPr id="15" name="Text 12"/>
          <p:cNvSpPr/>
          <p:nvPr/>
        </p:nvSpPr>
        <p:spPr>
          <a:xfrm>
            <a:off x="475488" y="4251960"/>
            <a:ext cx="3246120" cy="365760"/>
          </a:xfrm>
          <a:prstGeom prst="rect">
            <a:avLst/>
          </a:prstGeom>
          <a:noFill/>
          <a:ln/>
        </p:spPr>
        <p:txBody>
          <a:bodyPr wrap="square" rtlCol="0" anchor="ctr"/>
          <a:lstStyle/>
          <a:p>
            <a:pPr marL="0" indent="0">
              <a:buNone/>
            </a:pPr>
            <a:r>
              <a:rPr lang="en-US" sz="950" i="1" dirty="0">
                <a:solidFill>
                  <a:srgbClr val="64748B"/>
                </a:solidFill>
              </a:rPr>
              <a:t>El SCIAN cubre 17 de los 20 sectores de actividad económica del país.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Clasificación por Durabilidad de los Bienes</a:t>
            </a:r>
            <a:endParaRPr lang="en-US" sz="2200" dirty="0"/>
          </a:p>
        </p:txBody>
      </p:sp>
      <p:sp>
        <p:nvSpPr>
          <p:cNvPr id="4" name="Text 2"/>
          <p:cNvSpPr/>
          <p:nvPr/>
        </p:nvSpPr>
        <p:spPr>
          <a:xfrm>
            <a:off x="320040" y="932688"/>
            <a:ext cx="8503920" cy="50292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Organiza los bienes según el tiempo durante el cual pueden ser usados o consumidos. Útil para interpretar el comportamiento del consumidor ante cambios de precio, especialmente para decisiones de postergación de compra.</a:t>
            </a:r>
            <a:endParaRPr lang="en-US" sz="1050" dirty="0"/>
          </a:p>
        </p:txBody>
      </p:sp>
      <p:sp>
        <p:nvSpPr>
          <p:cNvPr id="5" name="Shape 3"/>
          <p:cNvSpPr/>
          <p:nvPr/>
        </p:nvSpPr>
        <p:spPr>
          <a:xfrm>
            <a:off x="274320" y="1508760"/>
            <a:ext cx="4279392" cy="1682496"/>
          </a:xfrm>
          <a:prstGeom prst="roundRect">
            <a:avLst>
              <a:gd name="adj" fmla="val 6522"/>
            </a:avLst>
          </a:prstGeom>
          <a:solidFill>
            <a:srgbClr val="FFF1F2"/>
          </a:solidFill>
          <a:ln/>
          <a:effectLst>
            <a:outerShdw blurRad="50800" dist="25400" dir="2700000" algn="bl" rotWithShape="0">
              <a:srgbClr val="000000">
                <a:alpha val="10000"/>
              </a:srgbClr>
            </a:outerShdw>
          </a:effectLst>
        </p:spPr>
      </p:sp>
      <p:sp>
        <p:nvSpPr>
          <p:cNvPr id="6" name="Text 4"/>
          <p:cNvSpPr/>
          <p:nvPr/>
        </p:nvSpPr>
        <p:spPr>
          <a:xfrm>
            <a:off x="411480" y="1572768"/>
            <a:ext cx="4023360" cy="274320"/>
          </a:xfrm>
          <a:prstGeom prst="rect">
            <a:avLst/>
          </a:prstGeom>
          <a:noFill/>
          <a:ln/>
        </p:spPr>
        <p:txBody>
          <a:bodyPr wrap="square" rtlCol="0" anchor="ctr"/>
          <a:lstStyle/>
          <a:p>
            <a:pPr marL="0" indent="0">
              <a:buNone/>
            </a:pPr>
            <a:r>
              <a:rPr lang="en-US" sz="1300" b="1" dirty="0">
                <a:solidFill>
                  <a:srgbClr val="E11D48"/>
                </a:solidFill>
                <a:latin typeface="Cambria" pitchFamily="34" charset="0"/>
                <a:ea typeface="Cambria" pitchFamily="34" charset="-122"/>
                <a:cs typeface="Cambria" pitchFamily="34" charset="-120"/>
              </a:rPr>
              <a:t>Bienes no duraderos</a:t>
            </a:r>
            <a:endParaRPr lang="en-US" sz="1300" dirty="0"/>
          </a:p>
        </p:txBody>
      </p:sp>
      <p:sp>
        <p:nvSpPr>
          <p:cNvPr id="7" name="Text 5"/>
          <p:cNvSpPr/>
          <p:nvPr/>
        </p:nvSpPr>
        <p:spPr>
          <a:xfrm>
            <a:off x="411480" y="1892808"/>
            <a:ext cx="4023360" cy="365760"/>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Se consumen en un solo uso o en un periodo muy corto de tiempo. El hogar no puede postergar su compra.</a:t>
            </a:r>
            <a:endParaRPr lang="en-US" sz="950" dirty="0"/>
          </a:p>
        </p:txBody>
      </p:sp>
      <p:sp>
        <p:nvSpPr>
          <p:cNvPr id="8" name="Text 6"/>
          <p:cNvSpPr/>
          <p:nvPr/>
        </p:nvSpPr>
        <p:spPr>
          <a:xfrm>
            <a:off x="411480" y="2286000"/>
            <a:ext cx="4023360" cy="256032"/>
          </a:xfrm>
          <a:prstGeom prst="rect">
            <a:avLst/>
          </a:prstGeom>
          <a:noFill/>
          <a:ln/>
        </p:spPr>
        <p:txBody>
          <a:bodyPr wrap="square" rtlCol="0" anchor="ctr"/>
          <a:lstStyle/>
          <a:p>
            <a:pPr marL="0" indent="0">
              <a:buNone/>
            </a:pPr>
            <a:r>
              <a:rPr lang="en-US" sz="950" b="1" dirty="0">
                <a:solidFill>
                  <a:srgbClr val="E11D48"/>
                </a:solidFill>
              </a:rPr>
              <a:t>Ej: Alimentos en general (tortillas, frutas, carnes) | Bebidas y tabaco</a:t>
            </a:r>
            <a:endParaRPr lang="en-US" sz="950" dirty="0"/>
          </a:p>
        </p:txBody>
      </p:sp>
      <p:sp>
        <p:nvSpPr>
          <p:cNvPr id="9" name="Text 7"/>
          <p:cNvSpPr/>
          <p:nvPr/>
        </p:nvSpPr>
        <p:spPr>
          <a:xfrm>
            <a:off x="411480" y="2560320"/>
            <a:ext cx="4023360" cy="594360"/>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La inflación en estos bienes afecta directamente el bienestar inmediato del hogar. Son los más regresivos porque los hogares de bajos ingresos concentran su gasto en ellos.</a:t>
            </a:r>
            <a:endParaRPr lang="en-US" sz="950" dirty="0"/>
          </a:p>
        </p:txBody>
      </p:sp>
      <p:sp>
        <p:nvSpPr>
          <p:cNvPr id="10" name="Shape 8"/>
          <p:cNvSpPr/>
          <p:nvPr/>
        </p:nvSpPr>
        <p:spPr>
          <a:xfrm>
            <a:off x="4736592" y="1508760"/>
            <a:ext cx="4279392" cy="1682496"/>
          </a:xfrm>
          <a:prstGeom prst="roundRect">
            <a:avLst>
              <a:gd name="adj" fmla="val 6522"/>
            </a:avLst>
          </a:prstGeom>
          <a:solidFill>
            <a:srgbClr val="FFFBEB"/>
          </a:solidFill>
          <a:ln/>
          <a:effectLst>
            <a:outerShdw blurRad="50800" dist="25400" dir="2700000" algn="bl" rotWithShape="0">
              <a:srgbClr val="000000">
                <a:alpha val="10000"/>
              </a:srgbClr>
            </a:outerShdw>
          </a:effectLst>
        </p:spPr>
      </p:sp>
      <p:sp>
        <p:nvSpPr>
          <p:cNvPr id="11" name="Text 9"/>
          <p:cNvSpPr/>
          <p:nvPr/>
        </p:nvSpPr>
        <p:spPr>
          <a:xfrm>
            <a:off x="4873752" y="1572768"/>
            <a:ext cx="4023360" cy="274320"/>
          </a:xfrm>
          <a:prstGeom prst="rect">
            <a:avLst/>
          </a:prstGeom>
          <a:noFill/>
          <a:ln/>
        </p:spPr>
        <p:txBody>
          <a:bodyPr wrap="square" rtlCol="0" anchor="ctr"/>
          <a:lstStyle/>
          <a:p>
            <a:pPr marL="0" indent="0">
              <a:buNone/>
            </a:pPr>
            <a:r>
              <a:rPr lang="en-US" sz="1300" b="1" dirty="0">
                <a:solidFill>
                  <a:srgbClr val="D97706"/>
                </a:solidFill>
                <a:latin typeface="Cambria" pitchFamily="34" charset="0"/>
                <a:ea typeface="Cambria" pitchFamily="34" charset="-122"/>
                <a:cs typeface="Cambria" pitchFamily="34" charset="-120"/>
              </a:rPr>
              <a:t>Bienes semi-duraderos</a:t>
            </a:r>
            <a:endParaRPr lang="en-US" sz="1300" dirty="0"/>
          </a:p>
        </p:txBody>
      </p:sp>
      <p:sp>
        <p:nvSpPr>
          <p:cNvPr id="12" name="Text 10"/>
          <p:cNvSpPr/>
          <p:nvPr/>
        </p:nvSpPr>
        <p:spPr>
          <a:xfrm>
            <a:off x="4873752" y="1892808"/>
            <a:ext cx="4023360" cy="365760"/>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Se usan durante meses pero eventualmente se desgastan o pierden utilidad.</a:t>
            </a:r>
            <a:endParaRPr lang="en-US" sz="950" dirty="0"/>
          </a:p>
        </p:txBody>
      </p:sp>
      <p:sp>
        <p:nvSpPr>
          <p:cNvPr id="13" name="Text 11"/>
          <p:cNvSpPr/>
          <p:nvPr/>
        </p:nvSpPr>
        <p:spPr>
          <a:xfrm>
            <a:off x="4873752" y="2286000"/>
            <a:ext cx="4023360" cy="256032"/>
          </a:xfrm>
          <a:prstGeom prst="rect">
            <a:avLst/>
          </a:prstGeom>
          <a:noFill/>
          <a:ln/>
        </p:spPr>
        <p:txBody>
          <a:bodyPr wrap="square" rtlCol="0" anchor="ctr"/>
          <a:lstStyle/>
          <a:p>
            <a:pPr marL="0" indent="0">
              <a:buNone/>
            </a:pPr>
            <a:r>
              <a:rPr lang="en-US" sz="950" b="1" dirty="0">
                <a:solidFill>
                  <a:srgbClr val="D97706"/>
                </a:solidFill>
              </a:rPr>
              <a:t>Ej: Ropa, calzado y accesorios | Textiles para el hogar (sábanas, toallas)</a:t>
            </a:r>
            <a:endParaRPr lang="en-US" sz="950" dirty="0"/>
          </a:p>
        </p:txBody>
      </p:sp>
      <p:sp>
        <p:nvSpPr>
          <p:cNvPr id="14" name="Text 12"/>
          <p:cNvSpPr/>
          <p:nvPr/>
        </p:nvSpPr>
        <p:spPr>
          <a:xfrm>
            <a:off x="4873752" y="2560320"/>
            <a:ext cx="4023360" cy="594360"/>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Ante inflación alta, el hogar puede diferir temporalmente la compra. Esto amortigua el impacto a corto plazo pero no lo elimina.</a:t>
            </a:r>
            <a:endParaRPr lang="en-US" sz="950" dirty="0"/>
          </a:p>
        </p:txBody>
      </p:sp>
      <p:sp>
        <p:nvSpPr>
          <p:cNvPr id="15" name="Shape 13"/>
          <p:cNvSpPr/>
          <p:nvPr/>
        </p:nvSpPr>
        <p:spPr>
          <a:xfrm>
            <a:off x="274320" y="3300984"/>
            <a:ext cx="4279392" cy="1682496"/>
          </a:xfrm>
          <a:prstGeom prst="roundRect">
            <a:avLst>
              <a:gd name="adj" fmla="val 6522"/>
            </a:avLst>
          </a:prstGeom>
          <a:solidFill>
            <a:srgbClr val="EEF2FF"/>
          </a:solidFill>
          <a:ln/>
          <a:effectLst>
            <a:outerShdw blurRad="50800" dist="25400" dir="2700000" algn="bl" rotWithShape="0">
              <a:srgbClr val="000000">
                <a:alpha val="10000"/>
              </a:srgbClr>
            </a:outerShdw>
          </a:effectLst>
        </p:spPr>
      </p:sp>
      <p:sp>
        <p:nvSpPr>
          <p:cNvPr id="16" name="Text 14"/>
          <p:cNvSpPr/>
          <p:nvPr/>
        </p:nvSpPr>
        <p:spPr>
          <a:xfrm>
            <a:off x="411480" y="3364992"/>
            <a:ext cx="4023360" cy="274320"/>
          </a:xfrm>
          <a:prstGeom prst="rect">
            <a:avLst/>
          </a:prstGeom>
          <a:noFill/>
          <a:ln/>
        </p:spPr>
        <p:txBody>
          <a:bodyPr wrap="square" rtlCol="0" anchor="ctr"/>
          <a:lstStyle/>
          <a:p>
            <a:pPr marL="0" indent="0">
              <a:buNone/>
            </a:pPr>
            <a:r>
              <a:rPr lang="en-US" sz="1300" b="1" dirty="0">
                <a:solidFill>
                  <a:srgbClr val="1A2F5A"/>
                </a:solidFill>
                <a:latin typeface="Cambria" pitchFamily="34" charset="0"/>
                <a:ea typeface="Cambria" pitchFamily="34" charset="-122"/>
                <a:cs typeface="Cambria" pitchFamily="34" charset="-120"/>
              </a:rPr>
              <a:t>Bienes duraderos</a:t>
            </a:r>
            <a:endParaRPr lang="en-US" sz="1300" dirty="0"/>
          </a:p>
        </p:txBody>
      </p:sp>
      <p:sp>
        <p:nvSpPr>
          <p:cNvPr id="17" name="Text 15"/>
          <p:cNvSpPr/>
          <p:nvPr/>
        </p:nvSpPr>
        <p:spPr>
          <a:xfrm>
            <a:off x="411480" y="3685032"/>
            <a:ext cx="4023360" cy="365760"/>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Tienen vida útil de varios años. El consumidor puede postergar la compra ante precios altos.</a:t>
            </a:r>
            <a:endParaRPr lang="en-US" sz="950" dirty="0"/>
          </a:p>
        </p:txBody>
      </p:sp>
      <p:sp>
        <p:nvSpPr>
          <p:cNvPr id="18" name="Text 16"/>
          <p:cNvSpPr/>
          <p:nvPr/>
        </p:nvSpPr>
        <p:spPr>
          <a:xfrm>
            <a:off x="411480" y="4078224"/>
            <a:ext cx="4023360" cy="256032"/>
          </a:xfrm>
          <a:prstGeom prst="rect">
            <a:avLst/>
          </a:prstGeom>
          <a:noFill/>
          <a:ln/>
        </p:spPr>
        <p:txBody>
          <a:bodyPr wrap="square" rtlCol="0" anchor="ctr"/>
          <a:lstStyle/>
          <a:p>
            <a:pPr marL="0" indent="0">
              <a:buNone/>
            </a:pPr>
            <a:r>
              <a:rPr lang="en-US" sz="950" b="1" dirty="0">
                <a:solidFill>
                  <a:srgbClr val="1A2F5A"/>
                </a:solidFill>
              </a:rPr>
              <a:t>Ej: Automóviles | Refrigeradores, lavadoras, televisores</a:t>
            </a:r>
            <a:endParaRPr lang="en-US" sz="950" dirty="0"/>
          </a:p>
        </p:txBody>
      </p:sp>
      <p:sp>
        <p:nvSpPr>
          <p:cNvPr id="19" name="Text 17"/>
          <p:cNvSpPr/>
          <p:nvPr/>
        </p:nvSpPr>
        <p:spPr>
          <a:xfrm>
            <a:off x="411480" y="4352544"/>
            <a:ext cx="4023360" cy="594360"/>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Alta capacidad de postergación: la demanda cae cuando suben los precios. Sensibles a tasas de interés para crédito. </a:t>
            </a:r>
            <a:endParaRPr lang="en-US" sz="950" dirty="0"/>
          </a:p>
        </p:txBody>
      </p:sp>
      <p:sp>
        <p:nvSpPr>
          <p:cNvPr id="20" name="Shape 18"/>
          <p:cNvSpPr/>
          <p:nvPr/>
        </p:nvSpPr>
        <p:spPr>
          <a:xfrm>
            <a:off x="4736592" y="3300984"/>
            <a:ext cx="4279392" cy="1682496"/>
          </a:xfrm>
          <a:prstGeom prst="roundRect">
            <a:avLst>
              <a:gd name="adj" fmla="val 6522"/>
            </a:avLst>
          </a:prstGeom>
          <a:solidFill>
            <a:srgbClr val="E0F7F5"/>
          </a:solidFill>
          <a:ln/>
          <a:effectLst>
            <a:outerShdw blurRad="50800" dist="25400" dir="2700000" algn="bl" rotWithShape="0">
              <a:srgbClr val="000000">
                <a:alpha val="10000"/>
              </a:srgbClr>
            </a:outerShdw>
          </a:effectLst>
        </p:spPr>
      </p:sp>
      <p:sp>
        <p:nvSpPr>
          <p:cNvPr id="21" name="Text 19"/>
          <p:cNvSpPr/>
          <p:nvPr/>
        </p:nvSpPr>
        <p:spPr>
          <a:xfrm>
            <a:off x="4873752" y="3364992"/>
            <a:ext cx="4023360" cy="274320"/>
          </a:xfrm>
          <a:prstGeom prst="rect">
            <a:avLst/>
          </a:prstGeom>
          <a:noFill/>
          <a:ln/>
        </p:spPr>
        <p:txBody>
          <a:bodyPr wrap="square" rtlCol="0" anchor="ctr"/>
          <a:lstStyle/>
          <a:p>
            <a:pPr marL="0" indent="0">
              <a:buNone/>
            </a:pPr>
            <a:r>
              <a:rPr lang="en-US" sz="1300" b="1" dirty="0">
                <a:solidFill>
                  <a:srgbClr val="0B7A75"/>
                </a:solidFill>
                <a:latin typeface="Cambria" pitchFamily="34" charset="0"/>
                <a:ea typeface="Cambria" pitchFamily="34" charset="-122"/>
                <a:cs typeface="Cambria" pitchFamily="34" charset="-120"/>
              </a:rPr>
              <a:t>Servicios</a:t>
            </a:r>
            <a:endParaRPr lang="en-US" sz="1300" dirty="0"/>
          </a:p>
        </p:txBody>
      </p:sp>
      <p:sp>
        <p:nvSpPr>
          <p:cNvPr id="22" name="Text 20"/>
          <p:cNvSpPr/>
          <p:nvPr/>
        </p:nvSpPr>
        <p:spPr>
          <a:xfrm>
            <a:off x="4873752" y="3685032"/>
            <a:ext cx="4023360" cy="365760"/>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No son almacenables. Se producen y consumen simultáneamente. No existe inventario.</a:t>
            </a:r>
            <a:endParaRPr lang="en-US" sz="950" dirty="0"/>
          </a:p>
        </p:txBody>
      </p:sp>
      <p:sp>
        <p:nvSpPr>
          <p:cNvPr id="23" name="Text 21"/>
          <p:cNvSpPr/>
          <p:nvPr/>
        </p:nvSpPr>
        <p:spPr>
          <a:xfrm>
            <a:off x="4873752" y="4078224"/>
            <a:ext cx="4023360" cy="256032"/>
          </a:xfrm>
          <a:prstGeom prst="rect">
            <a:avLst/>
          </a:prstGeom>
          <a:noFill/>
          <a:ln/>
        </p:spPr>
        <p:txBody>
          <a:bodyPr wrap="square" rtlCol="0" anchor="ctr"/>
          <a:lstStyle/>
          <a:p>
            <a:pPr marL="0" indent="0">
              <a:buNone/>
            </a:pPr>
            <a:r>
              <a:rPr lang="en-US" sz="950" b="1" dirty="0">
                <a:solidFill>
                  <a:srgbClr val="0B7A75"/>
                </a:solidFill>
              </a:rPr>
              <a:t>Ej: Educación (colegiaturas) | Servicios de salud</a:t>
            </a:r>
            <a:endParaRPr lang="en-US" sz="950" dirty="0"/>
          </a:p>
        </p:txBody>
      </p:sp>
      <p:sp>
        <p:nvSpPr>
          <p:cNvPr id="24" name="Text 22"/>
          <p:cNvSpPr/>
          <p:nvPr/>
        </p:nvSpPr>
        <p:spPr>
          <a:xfrm>
            <a:off x="4873752" y="4352544"/>
            <a:ext cx="4023360" cy="594360"/>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Los precios de servicios tienden a ser más rígidos y persistentes que los de bienes. Son el componente más estable de la inflación subyacente.</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Estructura de Ponderación del INPC</a:t>
            </a:r>
            <a:endParaRPr lang="en-US" sz="2200" dirty="0"/>
          </a:p>
        </p:txBody>
      </p:sp>
      <p:sp>
        <p:nvSpPr>
          <p:cNvPr id="4" name="Shape 2"/>
          <p:cNvSpPr/>
          <p:nvPr/>
        </p:nvSpPr>
        <p:spPr>
          <a:xfrm>
            <a:off x="320040" y="960120"/>
            <a:ext cx="8503920" cy="658368"/>
          </a:xfrm>
          <a:prstGeom prst="roundRect">
            <a:avLst>
              <a:gd name="adj" fmla="val 16667"/>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5" name="Text 3"/>
          <p:cNvSpPr/>
          <p:nvPr/>
        </p:nvSpPr>
        <p:spPr>
          <a:xfrm>
            <a:off x="475488" y="1005840"/>
            <a:ext cx="8229600" cy="566928"/>
          </a:xfrm>
          <a:prstGeom prst="rect">
            <a:avLst/>
          </a:prstGeom>
          <a:noFill/>
          <a:ln/>
        </p:spPr>
        <p:txBody>
          <a:bodyPr wrap="square" rtlCol="0" anchor="t"/>
          <a:lstStyle/>
          <a:p>
            <a:pPr marL="0" indent="0">
              <a:buNone/>
            </a:pPr>
            <a:r>
              <a:rPr lang="en-US" sz="1150" b="1" dirty="0">
                <a:solidFill>
                  <a:srgbClr val="1A2F5A"/>
                </a:solidFill>
                <a:latin typeface="Calibri" pitchFamily="34" charset="0"/>
                <a:ea typeface="Calibri" pitchFamily="34" charset="-122"/>
                <a:cs typeface="Calibri" pitchFamily="34" charset="-120"/>
              </a:rPr>
              <a:t>Ponderador: </a:t>
            </a:r>
            <a:r>
              <a:rPr lang="en-US" sz="1150" dirty="0">
                <a:solidFill>
                  <a:srgbClr val="1E293B"/>
                </a:solidFill>
                <a:latin typeface="Calibri" pitchFamily="34" charset="0"/>
                <a:ea typeface="Calibri" pitchFamily="34" charset="-122"/>
                <a:cs typeface="Calibri" pitchFamily="34" charset="-120"/>
              </a:rPr>
              <a:t>participación del gasto realizado en un genérico respecto al gasto total de la canasta que consumen los hogares. Fuente principal: ENIGH Estacional 2022. Nos </a:t>
            </a:r>
            <a:r>
              <a:rPr lang="en-US" sz="1150" dirty="0" err="1">
                <a:solidFill>
                  <a:srgbClr val="1E293B"/>
                </a:solidFill>
                <a:latin typeface="Calibri" pitchFamily="34" charset="0"/>
                <a:ea typeface="Calibri" pitchFamily="34" charset="-122"/>
                <a:cs typeface="Calibri" pitchFamily="34" charset="-120"/>
              </a:rPr>
              <a:t>ayudan</a:t>
            </a:r>
            <a:r>
              <a:rPr lang="en-US" sz="1150" dirty="0">
                <a:solidFill>
                  <a:srgbClr val="1E293B"/>
                </a:solidFill>
                <a:latin typeface="Calibri" pitchFamily="34" charset="0"/>
                <a:ea typeface="Calibri" pitchFamily="34" charset="-122"/>
                <a:cs typeface="Calibri" pitchFamily="34" charset="-120"/>
              </a:rPr>
              <a:t> a </a:t>
            </a:r>
            <a:r>
              <a:rPr lang="en-US" sz="1150" dirty="0" err="1">
                <a:solidFill>
                  <a:srgbClr val="1E293B"/>
                </a:solidFill>
                <a:latin typeface="Calibri" pitchFamily="34" charset="0"/>
                <a:ea typeface="Calibri" pitchFamily="34" charset="-122"/>
                <a:cs typeface="Calibri" pitchFamily="34" charset="-120"/>
              </a:rPr>
              <a:t>ver</a:t>
            </a:r>
            <a:r>
              <a:rPr lang="en-US" sz="1150" dirty="0">
                <a:solidFill>
                  <a:srgbClr val="1E293B"/>
                </a:solidFill>
                <a:latin typeface="Calibri" pitchFamily="34" charset="0"/>
                <a:ea typeface="Calibri" pitchFamily="34" charset="-122"/>
                <a:cs typeface="Calibri" pitchFamily="34" charset="-120"/>
              </a:rPr>
              <a:t> que, al final, un </a:t>
            </a:r>
            <a:r>
              <a:rPr lang="en-US" sz="1150" dirty="0" err="1">
                <a:solidFill>
                  <a:srgbClr val="1E293B"/>
                </a:solidFill>
                <a:latin typeface="Calibri" pitchFamily="34" charset="0"/>
                <a:ea typeface="Calibri" pitchFamily="34" charset="-122"/>
                <a:cs typeface="Calibri" pitchFamily="34" charset="-120"/>
              </a:rPr>
              <a:t>indice</a:t>
            </a:r>
            <a:r>
              <a:rPr lang="en-US" sz="1150" dirty="0">
                <a:solidFill>
                  <a:srgbClr val="1E293B"/>
                </a:solidFill>
                <a:latin typeface="Calibri" pitchFamily="34" charset="0"/>
                <a:ea typeface="Calibri" pitchFamily="34" charset="-122"/>
                <a:cs typeface="Calibri" pitchFamily="34" charset="-120"/>
              </a:rPr>
              <a:t> de </a:t>
            </a:r>
            <a:r>
              <a:rPr lang="en-US" sz="1150" dirty="0" err="1">
                <a:solidFill>
                  <a:srgbClr val="1E293B"/>
                </a:solidFill>
                <a:latin typeface="Calibri" pitchFamily="34" charset="0"/>
                <a:ea typeface="Calibri" pitchFamily="34" charset="-122"/>
                <a:cs typeface="Calibri" pitchFamily="34" charset="-120"/>
              </a:rPr>
              <a:t>precios</a:t>
            </a:r>
            <a:r>
              <a:rPr lang="en-US" sz="1150" dirty="0">
                <a:solidFill>
                  <a:srgbClr val="1E293B"/>
                </a:solidFill>
                <a:latin typeface="Calibri" pitchFamily="34" charset="0"/>
                <a:ea typeface="Calibri" pitchFamily="34" charset="-122"/>
                <a:cs typeface="Calibri" pitchFamily="34" charset="-120"/>
              </a:rPr>
              <a:t> </a:t>
            </a:r>
            <a:r>
              <a:rPr lang="en-US" sz="1150" dirty="0" err="1">
                <a:solidFill>
                  <a:srgbClr val="1E293B"/>
                </a:solidFill>
                <a:latin typeface="Calibri" pitchFamily="34" charset="0"/>
                <a:ea typeface="Calibri" pitchFamily="34" charset="-122"/>
                <a:cs typeface="Calibri" pitchFamily="34" charset="-120"/>
              </a:rPr>
              <a:t>es</a:t>
            </a:r>
            <a:r>
              <a:rPr lang="en-US" sz="1150" dirty="0">
                <a:solidFill>
                  <a:srgbClr val="1E293B"/>
                </a:solidFill>
                <a:latin typeface="Calibri" pitchFamily="34" charset="0"/>
                <a:ea typeface="Calibri" pitchFamily="34" charset="-122"/>
                <a:cs typeface="Calibri" pitchFamily="34" charset="-120"/>
              </a:rPr>
              <a:t> la </a:t>
            </a:r>
            <a:r>
              <a:rPr lang="en-US" sz="1150" dirty="0" err="1">
                <a:solidFill>
                  <a:srgbClr val="1E293B"/>
                </a:solidFill>
                <a:latin typeface="Calibri" pitchFamily="34" charset="0"/>
                <a:ea typeface="Calibri" pitchFamily="34" charset="-122"/>
                <a:cs typeface="Calibri" pitchFamily="34" charset="-120"/>
              </a:rPr>
              <a:t>configuración</a:t>
            </a:r>
            <a:r>
              <a:rPr lang="en-US" sz="1150" dirty="0">
                <a:solidFill>
                  <a:srgbClr val="1E293B"/>
                </a:solidFill>
                <a:latin typeface="Calibri" pitchFamily="34" charset="0"/>
                <a:ea typeface="Calibri" pitchFamily="34" charset="-122"/>
                <a:cs typeface="Calibri" pitchFamily="34" charset="-120"/>
              </a:rPr>
              <a:t> de </a:t>
            </a:r>
            <a:r>
              <a:rPr lang="en-US" sz="1150" dirty="0" err="1">
                <a:solidFill>
                  <a:srgbClr val="1E293B"/>
                </a:solidFill>
                <a:latin typeface="Calibri" pitchFamily="34" charset="0"/>
                <a:ea typeface="Calibri" pitchFamily="34" charset="-122"/>
                <a:cs typeface="Calibri" pitchFamily="34" charset="-120"/>
              </a:rPr>
              <a:t>precios</a:t>
            </a:r>
            <a:r>
              <a:rPr lang="en-US" sz="1150" dirty="0">
                <a:solidFill>
                  <a:srgbClr val="1E293B"/>
                </a:solidFill>
                <a:latin typeface="Calibri" pitchFamily="34" charset="0"/>
                <a:ea typeface="Calibri" pitchFamily="34" charset="-122"/>
                <a:cs typeface="Calibri" pitchFamily="34" charset="-120"/>
              </a:rPr>
              <a:t> y </a:t>
            </a:r>
            <a:r>
              <a:rPr lang="en-US" sz="1150" dirty="0" err="1">
                <a:solidFill>
                  <a:srgbClr val="1E293B"/>
                </a:solidFill>
                <a:latin typeface="Calibri" pitchFamily="34" charset="0"/>
                <a:ea typeface="Calibri" pitchFamily="34" charset="-122"/>
                <a:cs typeface="Calibri" pitchFamily="34" charset="-120"/>
              </a:rPr>
              <a:t>cantidades</a:t>
            </a:r>
            <a:r>
              <a:rPr lang="en-US" sz="1150" dirty="0">
                <a:solidFill>
                  <a:srgbClr val="1E293B"/>
                </a:solidFill>
                <a:latin typeface="Calibri" pitchFamily="34" charset="0"/>
                <a:ea typeface="Calibri" pitchFamily="34" charset="-122"/>
                <a:cs typeface="Calibri" pitchFamily="34" charset="-120"/>
              </a:rPr>
              <a:t>.</a:t>
            </a:r>
            <a:endParaRPr lang="en-US" sz="1150" dirty="0"/>
          </a:p>
        </p:txBody>
      </p:sp>
      <p:sp>
        <p:nvSpPr>
          <p:cNvPr id="7" name="Text 5"/>
          <p:cNvSpPr/>
          <p:nvPr/>
        </p:nvSpPr>
        <p:spPr>
          <a:xfrm>
            <a:off x="420624" y="1716693"/>
            <a:ext cx="4773168" cy="256032"/>
          </a:xfrm>
          <a:prstGeom prst="rect">
            <a:avLst/>
          </a:prstGeom>
          <a:noFill/>
          <a:ln/>
        </p:spPr>
        <p:txBody>
          <a:bodyPr wrap="square" rtlCol="0" anchor="ctr"/>
          <a:lstStyle/>
          <a:p>
            <a:pPr marL="0" indent="0">
              <a:buNone/>
            </a:pPr>
            <a:r>
              <a:rPr lang="en-US" sz="1100" b="1" dirty="0">
                <a:solidFill>
                  <a:srgbClr val="12B5AF"/>
                </a:solidFill>
              </a:rPr>
              <a:t>Fórmula de actualización del gasto:</a:t>
            </a:r>
            <a:endParaRPr lang="en-US" sz="1100" dirty="0"/>
          </a:p>
        </p:txBody>
      </p:sp>
      <p:sp>
        <p:nvSpPr>
          <p:cNvPr id="9" name="Text 7"/>
          <p:cNvSpPr/>
          <p:nvPr/>
        </p:nvSpPr>
        <p:spPr>
          <a:xfrm>
            <a:off x="420624" y="2103120"/>
            <a:ext cx="4846320" cy="438912"/>
          </a:xfrm>
          <a:prstGeom prst="rect">
            <a:avLst/>
          </a:prstGeom>
          <a:noFill/>
          <a:ln/>
        </p:spPr>
        <p:txBody>
          <a:bodyPr wrap="square" rtlCol="0" anchor="ctr"/>
          <a:lstStyle/>
          <a:p>
            <a:pPr marL="0" indent="0" algn="ctr">
              <a:buNone/>
            </a:pPr>
            <a:endParaRPr lang="en-US" sz="1300" dirty="0"/>
          </a:p>
        </p:txBody>
      </p:sp>
      <p:sp>
        <p:nvSpPr>
          <p:cNvPr id="10" name="Shape 8"/>
          <p:cNvSpPr/>
          <p:nvPr/>
        </p:nvSpPr>
        <p:spPr>
          <a:xfrm>
            <a:off x="306324" y="2520200"/>
            <a:ext cx="5074920" cy="1143000"/>
          </a:xfrm>
          <a:prstGeom prst="roundRect">
            <a:avLst>
              <a:gd name="adj" fmla="val 9600"/>
            </a:avLst>
          </a:prstGeom>
          <a:solidFill>
            <a:srgbClr val="F1F5F9"/>
          </a:solidFill>
          <a:ln/>
          <a:effectLst>
            <a:outerShdw blurRad="50800" dist="25400" dir="2700000" algn="bl" rotWithShape="0">
              <a:srgbClr val="000000">
                <a:alpha val="10000"/>
              </a:srgbClr>
            </a:outerShdw>
          </a:effectLst>
        </p:spPr>
      </p:sp>
      <p:sp>
        <p:nvSpPr>
          <p:cNvPr id="11" name="Text 9"/>
          <p:cNvSpPr/>
          <p:nvPr/>
        </p:nvSpPr>
        <p:spPr>
          <a:xfrm>
            <a:off x="1234440" y="2639396"/>
            <a:ext cx="3995928" cy="246888"/>
          </a:xfrm>
          <a:prstGeom prst="rect">
            <a:avLst/>
          </a:prstGeom>
          <a:noFill/>
          <a:ln/>
        </p:spPr>
        <p:txBody>
          <a:bodyPr wrap="square" rtlCol="0" anchor="ctr"/>
          <a:lstStyle/>
          <a:p>
            <a:pPr marL="0" indent="0">
              <a:buNone/>
            </a:pPr>
            <a:r>
              <a:rPr sz="900">
                <a:solidFill>
                  <a:srgbClr val="1E293B"/>
                </a:solidFill>
                <a:latin typeface="Calibri"/>
              </a:rPr>
              <a:t>Gasto actualizado del hogar h en el genérico k, área l</a:t>
            </a:r>
            <a:endParaRPr lang="en-US" sz="950" dirty="0"/>
          </a:p>
        </p:txBody>
      </p:sp>
      <p:sp>
        <p:nvSpPr>
          <p:cNvPr id="12" name="Text 10"/>
          <p:cNvSpPr/>
          <p:nvPr/>
        </p:nvSpPr>
        <p:spPr>
          <a:xfrm>
            <a:off x="1234440" y="2864917"/>
            <a:ext cx="3995928" cy="246888"/>
          </a:xfrm>
          <a:prstGeom prst="rect">
            <a:avLst/>
          </a:prstGeom>
          <a:noFill/>
          <a:ln/>
        </p:spPr>
        <p:txBody>
          <a:bodyPr wrap="square" rtlCol="0" anchor="ctr"/>
          <a:lstStyle/>
          <a:p>
            <a:pPr marL="0" indent="0">
              <a:buNone/>
            </a:pPr>
            <a:r>
              <a:rPr sz="900">
                <a:solidFill>
                  <a:srgbClr val="1E293B"/>
                </a:solidFill>
                <a:latin typeface="Calibri"/>
              </a:rPr>
              <a:t>Gasto declarado en la ENIGH Estacional 2022</a:t>
            </a:r>
            <a:endParaRPr lang="en-US" sz="950" dirty="0"/>
          </a:p>
        </p:txBody>
      </p:sp>
      <p:sp>
        <p:nvSpPr>
          <p:cNvPr id="13" name="Text 11"/>
          <p:cNvSpPr/>
          <p:nvPr/>
        </p:nvSpPr>
        <p:spPr>
          <a:xfrm>
            <a:off x="1234440" y="3114324"/>
            <a:ext cx="3995928" cy="246888"/>
          </a:xfrm>
          <a:prstGeom prst="rect">
            <a:avLst/>
          </a:prstGeom>
          <a:noFill/>
          <a:ln/>
        </p:spPr>
        <p:txBody>
          <a:bodyPr wrap="square" rtlCol="0" anchor="ctr"/>
          <a:lstStyle/>
          <a:p>
            <a:pPr marL="0" indent="0">
              <a:buNone/>
            </a:pPr>
            <a:r>
              <a:rPr sz="900">
                <a:solidFill>
                  <a:srgbClr val="1E293B"/>
                </a:solidFill>
                <a:latin typeface="Calibri"/>
              </a:rPr>
              <a:t>Factor de actualización vía precios relativos a 2Q jul 2024</a:t>
            </a:r>
            <a:endParaRPr lang="en-US" sz="950" dirty="0"/>
          </a:p>
        </p:txBody>
      </p:sp>
      <p:sp>
        <p:nvSpPr>
          <p:cNvPr id="14" name="Text 12"/>
          <p:cNvSpPr/>
          <p:nvPr/>
        </p:nvSpPr>
        <p:spPr>
          <a:xfrm>
            <a:off x="1234440" y="3360511"/>
            <a:ext cx="3995928" cy="246888"/>
          </a:xfrm>
          <a:prstGeom prst="rect">
            <a:avLst/>
          </a:prstGeom>
          <a:noFill/>
          <a:ln/>
        </p:spPr>
        <p:txBody>
          <a:bodyPr wrap="square" rtlCol="0" anchor="ctr"/>
          <a:lstStyle/>
          <a:p>
            <a:pPr marL="0" indent="0">
              <a:buNone/>
            </a:pPr>
            <a:r>
              <a:rPr sz="900">
                <a:solidFill>
                  <a:srgbClr val="1E293B"/>
                </a:solidFill>
                <a:latin typeface="Calibri"/>
              </a:rPr>
              <a:t>Ponderador del genérico k (participación del gasto en el total de la canasta)</a:t>
            </a:r>
            <a:endParaRPr lang="en-US" sz="950" dirty="0"/>
          </a:p>
        </p:txBody>
      </p:sp>
      <p:sp>
        <p:nvSpPr>
          <p:cNvPr id="15" name="Shape 13"/>
          <p:cNvSpPr/>
          <p:nvPr/>
        </p:nvSpPr>
        <p:spPr>
          <a:xfrm>
            <a:off x="5577840" y="1719072"/>
            <a:ext cx="3310128" cy="3108960"/>
          </a:xfrm>
          <a:prstGeom prst="roundRect">
            <a:avLst>
              <a:gd name="adj" fmla="val 3529"/>
            </a:avLst>
          </a:prstGeom>
          <a:solidFill>
            <a:srgbClr val="FFF1F2"/>
          </a:solidFill>
          <a:ln/>
          <a:effectLst>
            <a:outerShdw blurRad="50800" dist="25400" dir="2700000" algn="bl" rotWithShape="0">
              <a:srgbClr val="000000">
                <a:alpha val="10000"/>
              </a:srgbClr>
            </a:outerShdw>
          </a:effectLst>
        </p:spPr>
      </p:sp>
      <p:sp>
        <p:nvSpPr>
          <p:cNvPr id="16" name="Text 14"/>
          <p:cNvSpPr/>
          <p:nvPr/>
        </p:nvSpPr>
        <p:spPr>
          <a:xfrm>
            <a:off x="5687568" y="1783080"/>
            <a:ext cx="3108960" cy="292608"/>
          </a:xfrm>
          <a:prstGeom prst="rect">
            <a:avLst/>
          </a:prstGeom>
          <a:noFill/>
          <a:ln/>
        </p:spPr>
        <p:txBody>
          <a:bodyPr wrap="square" rtlCol="0" anchor="ctr"/>
          <a:lstStyle/>
          <a:p>
            <a:pPr marL="0" indent="0">
              <a:buNone/>
            </a:pPr>
            <a:r>
              <a:rPr lang="en-US" sz="1150" b="1" dirty="0">
                <a:solidFill>
                  <a:srgbClr val="E11D48"/>
                </a:solidFill>
                <a:latin typeface="Cambria" pitchFamily="34" charset="0"/>
                <a:ea typeface="Cambria" pitchFamily="34" charset="-122"/>
                <a:cs typeface="Cambria" pitchFamily="34" charset="-120"/>
              </a:rPr>
              <a:t>Genéricos con tratamiento especial</a:t>
            </a:r>
            <a:endParaRPr lang="en-US" sz="1150" dirty="0"/>
          </a:p>
        </p:txBody>
      </p:sp>
      <p:sp>
        <p:nvSpPr>
          <p:cNvPr id="17" name="Text 15"/>
          <p:cNvSpPr/>
          <p:nvPr/>
        </p:nvSpPr>
        <p:spPr>
          <a:xfrm>
            <a:off x="5687568" y="2103120"/>
            <a:ext cx="3108960" cy="41148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Algunos requieren ajuste del ponderador antes de usarlo, por sesgo en la declaración o complejidad conceptual:</a:t>
            </a:r>
            <a:endParaRPr lang="en-US" sz="950" dirty="0"/>
          </a:p>
        </p:txBody>
      </p:sp>
      <p:sp>
        <p:nvSpPr>
          <p:cNvPr id="18" name="Shape 16"/>
          <p:cNvSpPr/>
          <p:nvPr/>
        </p:nvSpPr>
        <p:spPr>
          <a:xfrm>
            <a:off x="5623560" y="2699999"/>
            <a:ext cx="3200400" cy="502920"/>
          </a:xfrm>
          <a:prstGeom prst="roundRect">
            <a:avLst>
              <a:gd name="adj" fmla="val 21818"/>
            </a:avLst>
          </a:prstGeom>
          <a:solidFill>
            <a:srgbClr val="FECACA"/>
          </a:solidFill>
          <a:ln/>
        </p:spPr>
      </p:sp>
      <p:sp>
        <p:nvSpPr>
          <p:cNvPr id="19" name="Text 17"/>
          <p:cNvSpPr/>
          <p:nvPr/>
        </p:nvSpPr>
        <p:spPr>
          <a:xfrm>
            <a:off x="5687568" y="2700559"/>
            <a:ext cx="3017520" cy="201168"/>
          </a:xfrm>
          <a:prstGeom prst="rect">
            <a:avLst/>
          </a:prstGeom>
          <a:noFill/>
          <a:ln/>
        </p:spPr>
        <p:txBody>
          <a:bodyPr wrap="square" rtlCol="0" anchor="ctr"/>
          <a:lstStyle/>
          <a:p>
            <a:pPr marL="0" indent="0">
              <a:buNone/>
            </a:pPr>
            <a:r>
              <a:rPr lang="en-US" sz="950" b="1" dirty="0">
                <a:solidFill>
                  <a:srgbClr val="E11D48"/>
                </a:solidFill>
              </a:rPr>
              <a:t>Bebidas alcohólicas y cigarrillos</a:t>
            </a:r>
            <a:endParaRPr lang="en-US" sz="950" dirty="0"/>
          </a:p>
        </p:txBody>
      </p:sp>
      <p:sp>
        <p:nvSpPr>
          <p:cNvPr id="20" name="Text 18"/>
          <p:cNvSpPr/>
          <p:nvPr/>
        </p:nvSpPr>
        <p:spPr>
          <a:xfrm>
            <a:off x="5687568" y="2919175"/>
            <a:ext cx="3017520" cy="228600"/>
          </a:xfrm>
          <a:prstGeom prst="rect">
            <a:avLst/>
          </a:prstGeom>
          <a:noFill/>
          <a:ln/>
        </p:spPr>
        <p:txBody>
          <a:bodyPr wrap="square" rtlCol="0" anchor="ctr"/>
          <a:lstStyle/>
          <a:p>
            <a:pPr marL="0" indent="0">
              <a:buNone/>
            </a:pPr>
            <a:r>
              <a:rPr lang="en-US" sz="950" dirty="0">
                <a:solidFill>
                  <a:srgbClr val="1E293B"/>
                </a:solidFill>
              </a:rPr>
              <a:t>Subdeclaración → ajuste con Sistema de Cuentas Nacionales</a:t>
            </a:r>
            <a:endParaRPr lang="en-US" sz="950" dirty="0"/>
          </a:p>
        </p:txBody>
      </p:sp>
      <p:sp>
        <p:nvSpPr>
          <p:cNvPr id="21" name="Shape 19"/>
          <p:cNvSpPr/>
          <p:nvPr/>
        </p:nvSpPr>
        <p:spPr>
          <a:xfrm>
            <a:off x="5623560" y="3434225"/>
            <a:ext cx="3200400" cy="502920"/>
          </a:xfrm>
          <a:prstGeom prst="roundRect">
            <a:avLst>
              <a:gd name="adj" fmla="val 21818"/>
            </a:avLst>
          </a:prstGeom>
          <a:solidFill>
            <a:srgbClr val="FEE2E2"/>
          </a:solidFill>
          <a:ln/>
        </p:spPr>
      </p:sp>
      <p:sp>
        <p:nvSpPr>
          <p:cNvPr id="22" name="Text 20"/>
          <p:cNvSpPr/>
          <p:nvPr/>
        </p:nvSpPr>
        <p:spPr>
          <a:xfrm>
            <a:off x="5687568" y="3472387"/>
            <a:ext cx="3017520" cy="201168"/>
          </a:xfrm>
          <a:prstGeom prst="rect">
            <a:avLst/>
          </a:prstGeom>
          <a:noFill/>
          <a:ln/>
        </p:spPr>
        <p:txBody>
          <a:bodyPr wrap="square" rtlCol="0" anchor="ctr"/>
          <a:lstStyle/>
          <a:p>
            <a:pPr marL="0" indent="0">
              <a:buNone/>
            </a:pPr>
            <a:r>
              <a:rPr lang="en-US" sz="950" b="1" dirty="0">
                <a:solidFill>
                  <a:srgbClr val="E11D48"/>
                </a:solidFill>
              </a:rPr>
              <a:t>Vivienda propia</a:t>
            </a:r>
            <a:endParaRPr lang="en-US" sz="950" dirty="0"/>
          </a:p>
        </p:txBody>
      </p:sp>
      <p:sp>
        <p:nvSpPr>
          <p:cNvPr id="23" name="Text 21"/>
          <p:cNvSpPr/>
          <p:nvPr/>
        </p:nvSpPr>
        <p:spPr>
          <a:xfrm>
            <a:off x="5687568" y="3644724"/>
            <a:ext cx="3017520" cy="228600"/>
          </a:xfrm>
          <a:prstGeom prst="rect">
            <a:avLst/>
          </a:prstGeom>
          <a:noFill/>
          <a:ln/>
        </p:spPr>
        <p:txBody>
          <a:bodyPr wrap="square" rtlCol="0" anchor="ctr"/>
          <a:lstStyle/>
          <a:p>
            <a:pPr marL="0" indent="0">
              <a:buNone/>
            </a:pPr>
            <a:r>
              <a:rPr lang="en-US" sz="950" dirty="0">
                <a:solidFill>
                  <a:srgbClr val="1E293B"/>
                </a:solidFill>
              </a:rPr>
              <a:t>Sesgo de apreciación → modelo de regresión hedónica</a:t>
            </a:r>
            <a:endParaRPr lang="en-US" sz="950" dirty="0"/>
          </a:p>
        </p:txBody>
      </p:sp>
      <p:sp>
        <p:nvSpPr>
          <p:cNvPr id="24" name="Shape 22"/>
          <p:cNvSpPr/>
          <p:nvPr/>
        </p:nvSpPr>
        <p:spPr>
          <a:xfrm>
            <a:off x="5623560" y="4233858"/>
            <a:ext cx="3200400" cy="502920"/>
          </a:xfrm>
          <a:prstGeom prst="roundRect">
            <a:avLst>
              <a:gd name="adj" fmla="val 21818"/>
            </a:avLst>
          </a:prstGeom>
          <a:solidFill>
            <a:srgbClr val="FECACA"/>
          </a:solidFill>
          <a:ln/>
        </p:spPr>
      </p:sp>
      <p:sp>
        <p:nvSpPr>
          <p:cNvPr id="25" name="Text 23"/>
          <p:cNvSpPr/>
          <p:nvPr/>
        </p:nvSpPr>
        <p:spPr>
          <a:xfrm>
            <a:off x="5650992" y="4243003"/>
            <a:ext cx="3017520" cy="201168"/>
          </a:xfrm>
          <a:prstGeom prst="rect">
            <a:avLst/>
          </a:prstGeom>
          <a:noFill/>
          <a:ln/>
        </p:spPr>
        <p:txBody>
          <a:bodyPr wrap="square" rtlCol="0" anchor="ctr"/>
          <a:lstStyle/>
          <a:p>
            <a:pPr marL="0" indent="0">
              <a:buNone/>
            </a:pPr>
            <a:r>
              <a:rPr lang="en-US" sz="950" b="1" dirty="0">
                <a:solidFill>
                  <a:srgbClr val="E11D48"/>
                </a:solidFill>
              </a:rPr>
              <a:t>Automóviles</a:t>
            </a:r>
            <a:endParaRPr lang="en-US" sz="950" dirty="0"/>
          </a:p>
        </p:txBody>
      </p:sp>
      <p:sp>
        <p:nvSpPr>
          <p:cNvPr id="26" name="Text 24"/>
          <p:cNvSpPr/>
          <p:nvPr/>
        </p:nvSpPr>
        <p:spPr>
          <a:xfrm>
            <a:off x="5623560" y="4411980"/>
            <a:ext cx="3017520" cy="228600"/>
          </a:xfrm>
          <a:prstGeom prst="rect">
            <a:avLst/>
          </a:prstGeom>
          <a:noFill/>
          <a:ln/>
        </p:spPr>
        <p:txBody>
          <a:bodyPr wrap="square" rtlCol="0" anchor="ctr"/>
          <a:lstStyle/>
          <a:p>
            <a:pPr marL="0" indent="0">
              <a:buNone/>
            </a:pPr>
            <a:r>
              <a:rPr lang="en-US" sz="950" dirty="0">
                <a:solidFill>
                  <a:srgbClr val="1E293B"/>
                </a:solidFill>
              </a:rPr>
              <a:t>Se usa gasto neto (precio nuevo minus valor del usado)</a:t>
            </a:r>
            <a:endParaRPr lang="en-US" sz="950" dirty="0"/>
          </a:p>
        </p:txBody>
      </p:sp>
      <p:sp>
        <p:nvSpPr>
          <p:cNvPr id="30" name="Shape 28"/>
          <p:cNvSpPr/>
          <p:nvPr/>
        </p:nvSpPr>
        <p:spPr>
          <a:xfrm>
            <a:off x="274320" y="3744655"/>
            <a:ext cx="5148072" cy="1225296"/>
          </a:xfrm>
          <a:prstGeom prst="roundRect">
            <a:avLst>
              <a:gd name="adj" fmla="val 9836"/>
            </a:avLst>
          </a:prstGeom>
          <a:solidFill>
            <a:srgbClr val="F1F5F9"/>
          </a:solidFill>
          <a:ln/>
          <a:effectLst>
            <a:outerShdw blurRad="50800" dist="25400" dir="2700000" algn="bl" rotWithShape="0">
              <a:srgbClr val="000000">
                <a:alpha val="10000"/>
              </a:srgbClr>
            </a:outerShdw>
          </a:effectLst>
        </p:spPr>
      </p:sp>
      <p:sp>
        <p:nvSpPr>
          <p:cNvPr id="31" name="Text 29"/>
          <p:cNvSpPr/>
          <p:nvPr/>
        </p:nvSpPr>
        <p:spPr>
          <a:xfrm>
            <a:off x="420624" y="3781371"/>
            <a:ext cx="4773168" cy="256032"/>
          </a:xfrm>
          <a:prstGeom prst="rect">
            <a:avLst/>
          </a:prstGeom>
          <a:noFill/>
          <a:ln/>
        </p:spPr>
        <p:txBody>
          <a:bodyPr wrap="square" rtlCol="0" anchor="ctr"/>
          <a:lstStyle/>
          <a:p>
            <a:pPr marL="0" indent="0">
              <a:buNone/>
            </a:pPr>
            <a:r>
              <a:rPr lang="en-US" sz="1100" b="1" dirty="0">
                <a:solidFill>
                  <a:srgbClr val="1A2F5A"/>
                </a:solidFill>
              </a:rPr>
              <a:t>Proceso de obtención de ponderadores:</a:t>
            </a:r>
            <a:endParaRPr lang="en-US" sz="1100" dirty="0"/>
          </a:p>
        </p:txBody>
      </p:sp>
      <p:sp>
        <p:nvSpPr>
          <p:cNvPr id="32" name="Text 30"/>
          <p:cNvSpPr/>
          <p:nvPr/>
        </p:nvSpPr>
        <p:spPr>
          <a:xfrm>
            <a:off x="420624" y="4025320"/>
            <a:ext cx="4773168" cy="22860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 1. Obtener el gasto de la ENIGH Estacional 2022 y depurarlo (excluir ilícitos, impuestos, segundas residencias)</a:t>
            </a:r>
            <a:endParaRPr lang="en-US" sz="950" dirty="0"/>
          </a:p>
        </p:txBody>
      </p:sp>
      <p:sp>
        <p:nvSpPr>
          <p:cNvPr id="33" name="Text 31"/>
          <p:cNvSpPr/>
          <p:nvPr/>
        </p:nvSpPr>
        <p:spPr>
          <a:xfrm>
            <a:off x="420624" y="4371018"/>
            <a:ext cx="4773168" cy="22860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 2. Aplicar ajustes especiales en genéricos con sesgo de declaración (bebidas alcohólicas, vivienda propia, automóviles)</a:t>
            </a:r>
            <a:endParaRPr lang="en-US" sz="950" dirty="0"/>
          </a:p>
        </p:txBody>
      </p:sp>
      <p:sp>
        <p:nvSpPr>
          <p:cNvPr id="34" name="Text 32"/>
          <p:cNvSpPr/>
          <p:nvPr/>
        </p:nvSpPr>
        <p:spPr>
          <a:xfrm>
            <a:off x="420624" y="4677900"/>
            <a:ext cx="5065776" cy="22860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 3. Actualizar el gasto vía factor de precios relativos hasta la 2ª quincena de julio 2024 y calcular el ponderador como participación en el total</a:t>
            </a:r>
            <a:endParaRPr lang="en-US" sz="950" dirty="0"/>
          </a:p>
        </p:txBody>
      </p:sp>
      <p:pic>
        <p:nvPicPr>
          <p:cNvPr id="35" name="Picture 34" descr="v21_ponderadores.png"/>
          <p:cNvPicPr>
            <a:picLocks noChangeAspect="1"/>
          </p:cNvPicPr>
          <p:nvPr/>
        </p:nvPicPr>
        <p:blipFill>
          <a:blip r:embed="rId3"/>
          <a:stretch>
            <a:fillRect/>
          </a:stretch>
        </p:blipFill>
        <p:spPr>
          <a:xfrm>
            <a:off x="1394206" y="1991665"/>
            <a:ext cx="2926588" cy="512064"/>
          </a:xfrm>
          <a:prstGeom prst="rect">
            <a:avLst/>
          </a:prstGeom>
        </p:spPr>
      </p:pic>
      <p:pic>
        <p:nvPicPr>
          <p:cNvPr id="36" name="Picture 35" descr="c22_ga.png"/>
          <p:cNvPicPr>
            <a:picLocks noChangeAspect="1"/>
          </p:cNvPicPr>
          <p:nvPr/>
        </p:nvPicPr>
        <p:blipFill>
          <a:blip r:embed="rId4"/>
          <a:stretch>
            <a:fillRect/>
          </a:stretch>
        </p:blipFill>
        <p:spPr>
          <a:xfrm>
            <a:off x="475488" y="2671400"/>
            <a:ext cx="434109" cy="182880"/>
          </a:xfrm>
          <a:prstGeom prst="rect">
            <a:avLst/>
          </a:prstGeom>
        </p:spPr>
      </p:pic>
      <p:pic>
        <p:nvPicPr>
          <p:cNvPr id="37" name="Picture 36" descr="c22_g.png"/>
          <p:cNvPicPr>
            <a:picLocks noChangeAspect="1"/>
          </p:cNvPicPr>
          <p:nvPr/>
        </p:nvPicPr>
        <p:blipFill>
          <a:blip r:embed="rId5"/>
          <a:stretch>
            <a:fillRect/>
          </a:stretch>
        </p:blipFill>
        <p:spPr>
          <a:xfrm>
            <a:off x="475488" y="2896921"/>
            <a:ext cx="310342" cy="182880"/>
          </a:xfrm>
          <a:prstGeom prst="rect">
            <a:avLst/>
          </a:prstGeom>
        </p:spPr>
      </p:pic>
      <p:pic>
        <p:nvPicPr>
          <p:cNvPr id="38" name="Picture 37" descr="c22_f.png"/>
          <p:cNvPicPr>
            <a:picLocks noChangeAspect="1"/>
          </p:cNvPicPr>
          <p:nvPr/>
        </p:nvPicPr>
        <p:blipFill>
          <a:blip r:embed="rId6"/>
          <a:stretch>
            <a:fillRect/>
          </a:stretch>
        </p:blipFill>
        <p:spPr>
          <a:xfrm>
            <a:off x="475488" y="3146328"/>
            <a:ext cx="223520" cy="182880"/>
          </a:xfrm>
          <a:prstGeom prst="rect">
            <a:avLst/>
          </a:prstGeom>
        </p:spPr>
      </p:pic>
      <p:pic>
        <p:nvPicPr>
          <p:cNvPr id="39" name="Picture 38" descr="c22_w.png"/>
          <p:cNvPicPr>
            <a:picLocks noChangeAspect="1"/>
          </p:cNvPicPr>
          <p:nvPr/>
        </p:nvPicPr>
        <p:blipFill>
          <a:blip r:embed="rId7"/>
          <a:stretch>
            <a:fillRect/>
          </a:stretch>
        </p:blipFill>
        <p:spPr>
          <a:xfrm>
            <a:off x="475488" y="3392515"/>
            <a:ext cx="184727" cy="1828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5">
    <p:bg>
      <p:bgPr>
        <a:solidFill>
          <a:srgbClr val="1A2F5A"/>
        </a:solidFill>
        <a:effectLst/>
      </p:bgPr>
    </p:bg>
    <p:spTree>
      <p:nvGrpSpPr>
        <p:cNvPr id="1" name=""/>
        <p:cNvGrpSpPr/>
        <p:nvPr/>
      </p:nvGrpSpPr>
      <p:grpSpPr>
        <a:xfrm>
          <a:off x="0" y="0"/>
          <a:ext cx="0" cy="0"/>
          <a:chOff x="0" y="0"/>
          <a:chExt cx="0" cy="0"/>
        </a:xfrm>
      </p:grpSpPr>
      <p:sp>
        <p:nvSpPr>
          <p:cNvPr id="2" name="Text 0"/>
          <p:cNvSpPr/>
          <p:nvPr/>
        </p:nvSpPr>
        <p:spPr>
          <a:xfrm>
            <a:off x="457200" y="658368"/>
            <a:ext cx="8229600" cy="365760"/>
          </a:xfrm>
          <a:prstGeom prst="rect">
            <a:avLst/>
          </a:prstGeom>
          <a:noFill/>
          <a:ln/>
        </p:spPr>
        <p:txBody>
          <a:bodyPr wrap="square" lIns="0" tIns="0" rIns="0" bIns="0" rtlCol="0" anchor="ctr"/>
          <a:lstStyle/>
          <a:p>
            <a:pPr marL="0" indent="0" algn="ctr">
              <a:buNone/>
            </a:pPr>
            <a:r>
              <a:rPr lang="en-US" sz="1300" b="1" kern="0" spc="300" dirty="0">
                <a:solidFill>
                  <a:srgbClr val="D1E8FF"/>
                </a:solidFill>
                <a:latin typeface="Calibri" pitchFamily="34" charset="0"/>
                <a:ea typeface="Calibri" pitchFamily="34" charset="-122"/>
                <a:cs typeface="Calibri" pitchFamily="34" charset="-120"/>
              </a:rPr>
              <a:t>UN NIVEL MÁS ABAJO</a:t>
            </a:r>
            <a:endParaRPr lang="en-US" sz="1300" dirty="0"/>
          </a:p>
        </p:txBody>
      </p:sp>
      <p:sp>
        <p:nvSpPr>
          <p:cNvPr id="3" name="Text 1"/>
          <p:cNvSpPr/>
          <p:nvPr/>
        </p:nvSpPr>
        <p:spPr>
          <a:xfrm>
            <a:off x="457200" y="1207008"/>
            <a:ext cx="8229600" cy="457200"/>
          </a:xfrm>
          <a:prstGeom prst="rect">
            <a:avLst/>
          </a:prstGeom>
          <a:noFill/>
          <a:ln/>
        </p:spPr>
        <p:txBody>
          <a:bodyPr wrap="square" lIns="0" tIns="0" rIns="0" bIns="0" rtlCol="0" anchor="ctr"/>
          <a:lstStyle/>
          <a:p>
            <a:pPr marL="0" indent="0" algn="ctr">
              <a:buNone/>
            </a:pPr>
            <a:r>
              <a:rPr lang="en-US" sz="1800" i="1" dirty="0">
                <a:solidFill>
                  <a:srgbClr val="D1E8FF"/>
                </a:solidFill>
                <a:latin typeface="Cambria" pitchFamily="34" charset="0"/>
                <a:ea typeface="Cambria" pitchFamily="34" charset="-122"/>
                <a:cs typeface="Cambria" pitchFamily="34" charset="-120"/>
              </a:rPr>
              <a:t>Todo lo anterior parte de los índices de los genéricos…</a:t>
            </a:r>
            <a:endParaRPr lang="en-US" sz="1800" dirty="0"/>
          </a:p>
        </p:txBody>
      </p:sp>
      <p:sp>
        <p:nvSpPr>
          <p:cNvPr id="4" name="Shape 2"/>
          <p:cNvSpPr/>
          <p:nvPr/>
        </p:nvSpPr>
        <p:spPr>
          <a:xfrm>
            <a:off x="1005840" y="1920240"/>
            <a:ext cx="7132320" cy="694944"/>
          </a:xfrm>
          <a:prstGeom prst="roundRect">
            <a:avLst>
              <a:gd name="adj" fmla="val 10526"/>
            </a:avLst>
          </a:prstGeom>
          <a:solidFill>
            <a:srgbClr val="142040"/>
          </a:solidFill>
          <a:ln/>
        </p:spPr>
      </p:sp>
      <p:sp>
        <p:nvSpPr>
          <p:cNvPr id="5" name="Text 3"/>
          <p:cNvSpPr/>
          <p:nvPr/>
        </p:nvSpPr>
        <p:spPr>
          <a:xfrm>
            <a:off x="1005840" y="1920240"/>
            <a:ext cx="7132320" cy="69494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¿Pero cómo se construyen los genéricos?</a:t>
            </a:r>
            <a:endParaRPr lang="en-US" sz="2000" dirty="0"/>
          </a:p>
        </p:txBody>
      </p:sp>
      <p:sp>
        <p:nvSpPr>
          <p:cNvPr id="6" name="Shape 4"/>
          <p:cNvSpPr/>
          <p:nvPr/>
        </p:nvSpPr>
        <p:spPr>
          <a:xfrm>
            <a:off x="1005840" y="2761488"/>
            <a:ext cx="7132320" cy="694944"/>
          </a:xfrm>
          <a:prstGeom prst="roundRect">
            <a:avLst>
              <a:gd name="adj" fmla="val 10526"/>
            </a:avLst>
          </a:prstGeom>
          <a:solidFill>
            <a:srgbClr val="142040"/>
          </a:solidFill>
          <a:ln/>
        </p:spPr>
      </p:sp>
      <p:sp>
        <p:nvSpPr>
          <p:cNvPr id="7" name="Text 5"/>
          <p:cNvSpPr/>
          <p:nvPr/>
        </p:nvSpPr>
        <p:spPr>
          <a:xfrm>
            <a:off x="1005840" y="2761488"/>
            <a:ext cx="7132320" cy="69494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¿Cómo deciden qué información tomar?</a:t>
            </a:r>
            <a:endParaRPr lang="en-US" sz="2000" dirty="0"/>
          </a:p>
        </p:txBody>
      </p:sp>
      <p:sp>
        <p:nvSpPr>
          <p:cNvPr id="8" name="Shape 6"/>
          <p:cNvSpPr/>
          <p:nvPr/>
        </p:nvSpPr>
        <p:spPr>
          <a:xfrm>
            <a:off x="1005840" y="3602736"/>
            <a:ext cx="7132320" cy="694944"/>
          </a:xfrm>
          <a:prstGeom prst="roundRect">
            <a:avLst>
              <a:gd name="adj" fmla="val 10526"/>
            </a:avLst>
          </a:prstGeom>
          <a:solidFill>
            <a:srgbClr val="142040"/>
          </a:solidFill>
          <a:ln/>
        </p:spPr>
      </p:sp>
      <p:sp>
        <p:nvSpPr>
          <p:cNvPr id="9" name="Text 7"/>
          <p:cNvSpPr/>
          <p:nvPr/>
        </p:nvSpPr>
        <p:spPr>
          <a:xfrm>
            <a:off x="1005840" y="3602736"/>
            <a:ext cx="7132320" cy="69494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¿Quién la procesa?</a:t>
            </a:r>
            <a:endParaRPr lang="en-US" sz="2000" dirty="0"/>
          </a:p>
        </p:txBody>
      </p:sp>
      <p:sp>
        <p:nvSpPr>
          <p:cNvPr id="10" name="Text 8"/>
          <p:cNvSpPr/>
          <p:nvPr/>
        </p:nvSpPr>
        <p:spPr>
          <a:xfrm>
            <a:off x="457200" y="4572000"/>
            <a:ext cx="8229600" cy="365760"/>
          </a:xfrm>
          <a:prstGeom prst="rect">
            <a:avLst/>
          </a:prstGeom>
          <a:noFill/>
          <a:ln/>
        </p:spPr>
        <p:txBody>
          <a:bodyPr wrap="square" lIns="0" tIns="0" rIns="0" bIns="0" rtlCol="0" anchor="ctr"/>
          <a:lstStyle/>
          <a:p>
            <a:pPr marL="0" indent="0" algn="ctr">
              <a:buNone/>
            </a:pPr>
            <a:r>
              <a:rPr lang="en-US" sz="1250" i="1" dirty="0">
                <a:solidFill>
                  <a:srgbClr val="7A9ABD"/>
                </a:solidFill>
                <a:latin typeface="Calibri" pitchFamily="34" charset="0"/>
                <a:ea typeface="Calibri" pitchFamily="34" charset="-122"/>
                <a:cs typeface="Calibri" pitchFamily="34" charset="-120"/>
              </a:rPr>
              <a:t>La respuesta está en el trabajo de campo del INEGI: de los precios individuales al índice.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De las especificaciones al genérico nacional</a:t>
            </a:r>
            <a:endParaRPr lang="en-US" sz="2200" dirty="0"/>
          </a:p>
        </p:txBody>
      </p:sp>
      <p:sp>
        <p:nvSpPr>
          <p:cNvPr id="4" name="Text 2"/>
          <p:cNvSpPr/>
          <p:nvPr/>
        </p:nvSpPr>
        <p:spPr>
          <a:xfrm>
            <a:off x="365760" y="932688"/>
            <a:ext cx="8412480" cy="420624"/>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Especificación: </a:t>
            </a:r>
            <a:r>
              <a:rPr lang="en-US" sz="1050" dirty="0">
                <a:solidFill>
                  <a:srgbClr val="1E293B"/>
                </a:solidFill>
                <a:latin typeface="Calibri" pitchFamily="34" charset="0"/>
                <a:ea typeface="Calibri" pitchFamily="34" charset="-122"/>
                <a:cs typeface="Calibri" pitchFamily="34" charset="-120"/>
              </a:rPr>
              <a:t>el precio de un producto plenamente identificado en su unidad básica (marca, presentación, punto de venta). Es el dato más elemental que recolecta el INEGI.</a:t>
            </a:r>
            <a:endParaRPr lang="en-US" sz="1050" dirty="0"/>
          </a:p>
        </p:txBody>
      </p:sp>
      <p:sp>
        <p:nvSpPr>
          <p:cNvPr id="5" name="Text 3"/>
          <p:cNvSpPr/>
          <p:nvPr/>
        </p:nvSpPr>
        <p:spPr>
          <a:xfrm>
            <a:off x="365760" y="1499616"/>
            <a:ext cx="2651760" cy="219456"/>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Área 1 ·</a:t>
            </a:r>
            <a:endParaRPr lang="en-US" sz="900" dirty="0"/>
          </a:p>
        </p:txBody>
      </p:sp>
      <p:sp>
        <p:nvSpPr>
          <p:cNvPr id="6" name="Shape 4"/>
          <p:cNvSpPr/>
          <p:nvPr/>
        </p:nvSpPr>
        <p:spPr>
          <a:xfrm>
            <a:off x="365760" y="1737360"/>
            <a:ext cx="841248" cy="457200"/>
          </a:xfrm>
          <a:prstGeom prst="roundRect">
            <a:avLst>
              <a:gd name="adj" fmla="val 10000"/>
            </a:avLst>
          </a:prstGeom>
          <a:solidFill>
            <a:srgbClr val="F5F3FF"/>
          </a:solidFill>
          <a:ln/>
        </p:spPr>
      </p:sp>
      <p:sp>
        <p:nvSpPr>
          <p:cNvPr id="7" name="Text 5"/>
          <p:cNvSpPr/>
          <p:nvPr/>
        </p:nvSpPr>
        <p:spPr>
          <a:xfrm>
            <a:off x="365760" y="1737360"/>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1</a:t>
            </a:r>
            <a:endParaRPr lang="en-US" sz="850" dirty="0"/>
          </a:p>
        </p:txBody>
      </p:sp>
      <p:sp>
        <p:nvSpPr>
          <p:cNvPr id="8" name="Shape 6"/>
          <p:cNvSpPr/>
          <p:nvPr/>
        </p:nvSpPr>
        <p:spPr>
          <a:xfrm>
            <a:off x="1280160" y="1737360"/>
            <a:ext cx="841248" cy="457200"/>
          </a:xfrm>
          <a:prstGeom prst="roundRect">
            <a:avLst>
              <a:gd name="adj" fmla="val 10000"/>
            </a:avLst>
          </a:prstGeom>
          <a:solidFill>
            <a:srgbClr val="F5F3FF"/>
          </a:solidFill>
          <a:ln/>
        </p:spPr>
      </p:sp>
      <p:sp>
        <p:nvSpPr>
          <p:cNvPr id="9" name="Text 7"/>
          <p:cNvSpPr/>
          <p:nvPr/>
        </p:nvSpPr>
        <p:spPr>
          <a:xfrm>
            <a:off x="1280160" y="1737360"/>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2</a:t>
            </a:r>
            <a:endParaRPr lang="en-US" sz="850" dirty="0"/>
          </a:p>
        </p:txBody>
      </p:sp>
      <p:sp>
        <p:nvSpPr>
          <p:cNvPr id="10" name="Shape 8"/>
          <p:cNvSpPr/>
          <p:nvPr/>
        </p:nvSpPr>
        <p:spPr>
          <a:xfrm>
            <a:off x="2194560" y="1737360"/>
            <a:ext cx="841248" cy="457200"/>
          </a:xfrm>
          <a:prstGeom prst="roundRect">
            <a:avLst>
              <a:gd name="adj" fmla="val 10000"/>
            </a:avLst>
          </a:prstGeom>
          <a:solidFill>
            <a:srgbClr val="F5F3FF"/>
          </a:solidFill>
          <a:ln/>
        </p:spPr>
      </p:sp>
      <p:sp>
        <p:nvSpPr>
          <p:cNvPr id="11" name="Text 9"/>
          <p:cNvSpPr/>
          <p:nvPr/>
        </p:nvSpPr>
        <p:spPr>
          <a:xfrm>
            <a:off x="2194560" y="1737360"/>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 n</a:t>
            </a:r>
            <a:endParaRPr lang="en-US" sz="850" dirty="0"/>
          </a:p>
        </p:txBody>
      </p:sp>
      <p:sp>
        <p:nvSpPr>
          <p:cNvPr id="12" name="Shape 10"/>
          <p:cNvSpPr/>
          <p:nvPr/>
        </p:nvSpPr>
        <p:spPr>
          <a:xfrm>
            <a:off x="3182112" y="1874520"/>
            <a:ext cx="310896" cy="182880"/>
          </a:xfrm>
          <a:prstGeom prst="rightArrow">
            <a:avLst/>
          </a:prstGeom>
          <a:solidFill>
            <a:srgbClr val="64748B"/>
          </a:solidFill>
          <a:ln/>
        </p:spPr>
      </p:sp>
      <p:sp>
        <p:nvSpPr>
          <p:cNvPr id="13" name="Shape 11"/>
          <p:cNvSpPr/>
          <p:nvPr/>
        </p:nvSpPr>
        <p:spPr>
          <a:xfrm>
            <a:off x="3602736" y="1682496"/>
            <a:ext cx="1481328" cy="566928"/>
          </a:xfrm>
          <a:prstGeom prst="roundRect">
            <a:avLst>
              <a:gd name="adj" fmla="val 8065"/>
            </a:avLst>
          </a:prstGeom>
          <a:solidFill>
            <a:srgbClr val="EEF2FF"/>
          </a:solidFill>
          <a:ln/>
        </p:spPr>
      </p:sp>
      <p:sp>
        <p:nvSpPr>
          <p:cNvPr id="14" name="Text 12"/>
          <p:cNvSpPr/>
          <p:nvPr/>
        </p:nvSpPr>
        <p:spPr>
          <a:xfrm>
            <a:off x="3602736" y="1682496"/>
            <a:ext cx="1481328" cy="566928"/>
          </a:xfrm>
          <a:prstGeom prst="rect">
            <a:avLst/>
          </a:prstGeom>
          <a:noFill/>
          <a:ln/>
        </p:spPr>
        <p:txBody>
          <a:bodyPr wrap="square" lIns="0" tIns="0" rIns="0" bIns="0" rtlCol="0" anchor="ctr"/>
          <a:lstStyle/>
          <a:p>
            <a:pPr marL="0" indent="0" algn="ctr">
              <a:buNone/>
            </a:pPr>
            <a:r>
              <a:rPr lang="en-US" sz="1100" b="1" dirty="0">
                <a:solidFill>
                  <a:srgbClr val="1A2F5A"/>
                </a:solidFill>
                <a:latin typeface="Calibri" pitchFamily="34" charset="0"/>
                <a:ea typeface="Calibri" pitchFamily="34" charset="-122"/>
                <a:cs typeface="Calibri" pitchFamily="34" charset="-120"/>
              </a:rPr>
              <a:t>GenÁrea 1</a:t>
            </a:r>
            <a:endParaRPr lang="en-US" sz="1100" dirty="0"/>
          </a:p>
        </p:txBody>
      </p:sp>
      <p:sp>
        <p:nvSpPr>
          <p:cNvPr id="15" name="Text 13"/>
          <p:cNvSpPr/>
          <p:nvPr/>
        </p:nvSpPr>
        <p:spPr>
          <a:xfrm>
            <a:off x="365760" y="2377440"/>
            <a:ext cx="2651760" cy="219456"/>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Área 2 ·</a:t>
            </a:r>
            <a:endParaRPr lang="en-US" sz="900" dirty="0"/>
          </a:p>
        </p:txBody>
      </p:sp>
      <p:sp>
        <p:nvSpPr>
          <p:cNvPr id="16" name="Shape 14"/>
          <p:cNvSpPr/>
          <p:nvPr/>
        </p:nvSpPr>
        <p:spPr>
          <a:xfrm>
            <a:off x="365760" y="2615184"/>
            <a:ext cx="841248" cy="457200"/>
          </a:xfrm>
          <a:prstGeom prst="roundRect">
            <a:avLst>
              <a:gd name="adj" fmla="val 10000"/>
            </a:avLst>
          </a:prstGeom>
          <a:solidFill>
            <a:srgbClr val="F5F3FF"/>
          </a:solidFill>
          <a:ln/>
        </p:spPr>
      </p:sp>
      <p:sp>
        <p:nvSpPr>
          <p:cNvPr id="17" name="Text 15"/>
          <p:cNvSpPr/>
          <p:nvPr/>
        </p:nvSpPr>
        <p:spPr>
          <a:xfrm>
            <a:off x="365760" y="2615184"/>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1</a:t>
            </a:r>
            <a:endParaRPr lang="en-US" sz="850" dirty="0"/>
          </a:p>
        </p:txBody>
      </p:sp>
      <p:sp>
        <p:nvSpPr>
          <p:cNvPr id="18" name="Shape 16"/>
          <p:cNvSpPr/>
          <p:nvPr/>
        </p:nvSpPr>
        <p:spPr>
          <a:xfrm>
            <a:off x="1280160" y="2615184"/>
            <a:ext cx="841248" cy="457200"/>
          </a:xfrm>
          <a:prstGeom prst="roundRect">
            <a:avLst>
              <a:gd name="adj" fmla="val 10000"/>
            </a:avLst>
          </a:prstGeom>
          <a:solidFill>
            <a:srgbClr val="F5F3FF"/>
          </a:solidFill>
          <a:ln/>
        </p:spPr>
      </p:sp>
      <p:sp>
        <p:nvSpPr>
          <p:cNvPr id="19" name="Text 17"/>
          <p:cNvSpPr/>
          <p:nvPr/>
        </p:nvSpPr>
        <p:spPr>
          <a:xfrm>
            <a:off x="1280160" y="2615184"/>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2</a:t>
            </a:r>
            <a:endParaRPr lang="en-US" sz="850" dirty="0"/>
          </a:p>
        </p:txBody>
      </p:sp>
      <p:sp>
        <p:nvSpPr>
          <p:cNvPr id="20" name="Shape 18"/>
          <p:cNvSpPr/>
          <p:nvPr/>
        </p:nvSpPr>
        <p:spPr>
          <a:xfrm>
            <a:off x="2194560" y="2615184"/>
            <a:ext cx="841248" cy="457200"/>
          </a:xfrm>
          <a:prstGeom prst="roundRect">
            <a:avLst>
              <a:gd name="adj" fmla="val 10000"/>
            </a:avLst>
          </a:prstGeom>
          <a:solidFill>
            <a:srgbClr val="F5F3FF"/>
          </a:solidFill>
          <a:ln/>
        </p:spPr>
      </p:sp>
      <p:sp>
        <p:nvSpPr>
          <p:cNvPr id="21" name="Text 19"/>
          <p:cNvSpPr/>
          <p:nvPr/>
        </p:nvSpPr>
        <p:spPr>
          <a:xfrm>
            <a:off x="2194560" y="2615184"/>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 n</a:t>
            </a:r>
            <a:endParaRPr lang="en-US" sz="850" dirty="0"/>
          </a:p>
        </p:txBody>
      </p:sp>
      <p:sp>
        <p:nvSpPr>
          <p:cNvPr id="22" name="Shape 20"/>
          <p:cNvSpPr/>
          <p:nvPr/>
        </p:nvSpPr>
        <p:spPr>
          <a:xfrm>
            <a:off x="3182112" y="2752344"/>
            <a:ext cx="310896" cy="182880"/>
          </a:xfrm>
          <a:prstGeom prst="rightArrow">
            <a:avLst/>
          </a:prstGeom>
          <a:solidFill>
            <a:srgbClr val="64748B"/>
          </a:solidFill>
          <a:ln/>
        </p:spPr>
      </p:sp>
      <p:sp>
        <p:nvSpPr>
          <p:cNvPr id="23" name="Shape 21"/>
          <p:cNvSpPr/>
          <p:nvPr/>
        </p:nvSpPr>
        <p:spPr>
          <a:xfrm>
            <a:off x="3602736" y="2560320"/>
            <a:ext cx="1481328" cy="566928"/>
          </a:xfrm>
          <a:prstGeom prst="roundRect">
            <a:avLst>
              <a:gd name="adj" fmla="val 8065"/>
            </a:avLst>
          </a:prstGeom>
          <a:solidFill>
            <a:srgbClr val="EEF2FF"/>
          </a:solidFill>
          <a:ln/>
        </p:spPr>
      </p:sp>
      <p:sp>
        <p:nvSpPr>
          <p:cNvPr id="24" name="Text 22"/>
          <p:cNvSpPr/>
          <p:nvPr/>
        </p:nvSpPr>
        <p:spPr>
          <a:xfrm>
            <a:off x="3602736" y="2560320"/>
            <a:ext cx="1481328" cy="566928"/>
          </a:xfrm>
          <a:prstGeom prst="rect">
            <a:avLst/>
          </a:prstGeom>
          <a:noFill/>
          <a:ln/>
        </p:spPr>
        <p:txBody>
          <a:bodyPr wrap="square" lIns="0" tIns="0" rIns="0" bIns="0" rtlCol="0" anchor="ctr"/>
          <a:lstStyle/>
          <a:p>
            <a:pPr marL="0" indent="0" algn="ctr">
              <a:buNone/>
            </a:pPr>
            <a:r>
              <a:rPr lang="en-US" sz="1100" b="1" dirty="0">
                <a:solidFill>
                  <a:srgbClr val="1A2F5A"/>
                </a:solidFill>
                <a:latin typeface="Calibri" pitchFamily="34" charset="0"/>
                <a:ea typeface="Calibri" pitchFamily="34" charset="-122"/>
                <a:cs typeface="Calibri" pitchFamily="34" charset="-120"/>
              </a:rPr>
              <a:t>GenÁrea 2</a:t>
            </a:r>
            <a:endParaRPr lang="en-US" sz="1100" dirty="0"/>
          </a:p>
        </p:txBody>
      </p:sp>
      <p:sp>
        <p:nvSpPr>
          <p:cNvPr id="25" name="Text 23"/>
          <p:cNvSpPr/>
          <p:nvPr/>
        </p:nvSpPr>
        <p:spPr>
          <a:xfrm>
            <a:off x="365760" y="3547872"/>
            <a:ext cx="2651760" cy="219456"/>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Área 55 · </a:t>
            </a:r>
            <a:endParaRPr lang="en-US" sz="900" dirty="0"/>
          </a:p>
        </p:txBody>
      </p:sp>
      <p:sp>
        <p:nvSpPr>
          <p:cNvPr id="26" name="Shape 24"/>
          <p:cNvSpPr/>
          <p:nvPr/>
        </p:nvSpPr>
        <p:spPr>
          <a:xfrm>
            <a:off x="365760" y="3785616"/>
            <a:ext cx="841248" cy="457200"/>
          </a:xfrm>
          <a:prstGeom prst="roundRect">
            <a:avLst>
              <a:gd name="adj" fmla="val 10000"/>
            </a:avLst>
          </a:prstGeom>
          <a:solidFill>
            <a:srgbClr val="F5F3FF"/>
          </a:solidFill>
          <a:ln/>
        </p:spPr>
      </p:sp>
      <p:sp>
        <p:nvSpPr>
          <p:cNvPr id="27" name="Text 25"/>
          <p:cNvSpPr/>
          <p:nvPr/>
        </p:nvSpPr>
        <p:spPr>
          <a:xfrm>
            <a:off x="365760" y="3785616"/>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1</a:t>
            </a:r>
            <a:endParaRPr lang="en-US" sz="850" dirty="0"/>
          </a:p>
        </p:txBody>
      </p:sp>
      <p:sp>
        <p:nvSpPr>
          <p:cNvPr id="28" name="Shape 26"/>
          <p:cNvSpPr/>
          <p:nvPr/>
        </p:nvSpPr>
        <p:spPr>
          <a:xfrm>
            <a:off x="1280160" y="3785616"/>
            <a:ext cx="841248" cy="457200"/>
          </a:xfrm>
          <a:prstGeom prst="roundRect">
            <a:avLst>
              <a:gd name="adj" fmla="val 10000"/>
            </a:avLst>
          </a:prstGeom>
          <a:solidFill>
            <a:srgbClr val="F5F3FF"/>
          </a:solidFill>
          <a:ln/>
        </p:spPr>
      </p:sp>
      <p:sp>
        <p:nvSpPr>
          <p:cNvPr id="29" name="Text 27"/>
          <p:cNvSpPr/>
          <p:nvPr/>
        </p:nvSpPr>
        <p:spPr>
          <a:xfrm>
            <a:off x="1280160" y="3785616"/>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2</a:t>
            </a:r>
            <a:endParaRPr lang="en-US" sz="850" dirty="0"/>
          </a:p>
        </p:txBody>
      </p:sp>
      <p:sp>
        <p:nvSpPr>
          <p:cNvPr id="30" name="Shape 28"/>
          <p:cNvSpPr/>
          <p:nvPr/>
        </p:nvSpPr>
        <p:spPr>
          <a:xfrm>
            <a:off x="2194560" y="3785616"/>
            <a:ext cx="841248" cy="457200"/>
          </a:xfrm>
          <a:prstGeom prst="roundRect">
            <a:avLst>
              <a:gd name="adj" fmla="val 10000"/>
            </a:avLst>
          </a:prstGeom>
          <a:solidFill>
            <a:srgbClr val="F5F3FF"/>
          </a:solidFill>
          <a:ln/>
        </p:spPr>
      </p:sp>
      <p:sp>
        <p:nvSpPr>
          <p:cNvPr id="31" name="Text 29"/>
          <p:cNvSpPr/>
          <p:nvPr/>
        </p:nvSpPr>
        <p:spPr>
          <a:xfrm>
            <a:off x="2194560" y="3785616"/>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 n</a:t>
            </a:r>
            <a:endParaRPr lang="en-US" sz="850" dirty="0"/>
          </a:p>
        </p:txBody>
      </p:sp>
      <p:sp>
        <p:nvSpPr>
          <p:cNvPr id="32" name="Shape 30"/>
          <p:cNvSpPr/>
          <p:nvPr/>
        </p:nvSpPr>
        <p:spPr>
          <a:xfrm>
            <a:off x="3182112" y="3922776"/>
            <a:ext cx="310896" cy="182880"/>
          </a:xfrm>
          <a:prstGeom prst="rightArrow">
            <a:avLst/>
          </a:prstGeom>
          <a:solidFill>
            <a:srgbClr val="64748B"/>
          </a:solidFill>
          <a:ln/>
        </p:spPr>
      </p:sp>
      <p:sp>
        <p:nvSpPr>
          <p:cNvPr id="33" name="Shape 31"/>
          <p:cNvSpPr/>
          <p:nvPr/>
        </p:nvSpPr>
        <p:spPr>
          <a:xfrm>
            <a:off x="3602736" y="3730752"/>
            <a:ext cx="1481328" cy="566928"/>
          </a:xfrm>
          <a:prstGeom prst="roundRect">
            <a:avLst>
              <a:gd name="adj" fmla="val 8065"/>
            </a:avLst>
          </a:prstGeom>
          <a:solidFill>
            <a:srgbClr val="EEF2FF"/>
          </a:solidFill>
          <a:ln/>
        </p:spPr>
      </p:sp>
      <p:sp>
        <p:nvSpPr>
          <p:cNvPr id="34" name="Text 32"/>
          <p:cNvSpPr/>
          <p:nvPr/>
        </p:nvSpPr>
        <p:spPr>
          <a:xfrm>
            <a:off x="3602736" y="3730752"/>
            <a:ext cx="1481328" cy="566928"/>
          </a:xfrm>
          <a:prstGeom prst="rect">
            <a:avLst/>
          </a:prstGeom>
          <a:noFill/>
          <a:ln/>
        </p:spPr>
        <p:txBody>
          <a:bodyPr wrap="square" lIns="0" tIns="0" rIns="0" bIns="0" rtlCol="0" anchor="ctr"/>
          <a:lstStyle/>
          <a:p>
            <a:pPr marL="0" indent="0" algn="ctr">
              <a:buNone/>
            </a:pPr>
            <a:r>
              <a:rPr lang="en-US" sz="1100" b="1" dirty="0">
                <a:solidFill>
                  <a:srgbClr val="1A2F5A"/>
                </a:solidFill>
                <a:latin typeface="Calibri" pitchFamily="34" charset="0"/>
                <a:ea typeface="Calibri" pitchFamily="34" charset="-122"/>
                <a:cs typeface="Calibri" pitchFamily="34" charset="-120"/>
              </a:rPr>
              <a:t>GenÁrea 55</a:t>
            </a:r>
            <a:endParaRPr lang="en-US" sz="1100" dirty="0"/>
          </a:p>
        </p:txBody>
      </p:sp>
      <p:sp>
        <p:nvSpPr>
          <p:cNvPr id="35" name="Text 33"/>
          <p:cNvSpPr/>
          <p:nvPr/>
        </p:nvSpPr>
        <p:spPr>
          <a:xfrm>
            <a:off x="3602736" y="3127248"/>
            <a:ext cx="1481328" cy="384048"/>
          </a:xfrm>
          <a:prstGeom prst="rect">
            <a:avLst/>
          </a:prstGeom>
          <a:noFill/>
          <a:ln/>
        </p:spPr>
        <p:txBody>
          <a:bodyPr wrap="square" lIns="0" tIns="0" rIns="0" bIns="0" rtlCol="0" anchor="ctr"/>
          <a:lstStyle/>
          <a:p>
            <a:pPr marL="0" indent="0" algn="ctr">
              <a:buNone/>
            </a:pPr>
            <a:r>
              <a:rPr lang="en-US" sz="1600" b="1" dirty="0">
                <a:solidFill>
                  <a:srgbClr val="64748B"/>
                </a:solidFill>
                <a:latin typeface="Calibri" pitchFamily="34" charset="0"/>
                <a:ea typeface="Calibri" pitchFamily="34" charset="-122"/>
                <a:cs typeface="Calibri" pitchFamily="34" charset="-120"/>
              </a:rPr>
              <a:t>⋮</a:t>
            </a:r>
            <a:endParaRPr lang="en-US" sz="1600" dirty="0"/>
          </a:p>
        </p:txBody>
      </p:sp>
      <p:sp>
        <p:nvSpPr>
          <p:cNvPr id="36" name="Text 34"/>
          <p:cNvSpPr/>
          <p:nvPr/>
        </p:nvSpPr>
        <p:spPr>
          <a:xfrm>
            <a:off x="365760" y="4370832"/>
            <a:ext cx="2926080" cy="402336"/>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índice de Jevons</a:t>
            </a:r>
            <a:endParaRPr lang="en-US" sz="850" dirty="0"/>
          </a:p>
          <a:p>
            <a:pPr marL="0" indent="0">
              <a:buNone/>
            </a:pPr>
            <a:r>
              <a:rPr lang="en-US" sz="850" i="1" dirty="0">
                <a:solidFill>
                  <a:srgbClr val="64748B"/>
                </a:solidFill>
                <a:latin typeface="Calibri" pitchFamily="34" charset="0"/>
                <a:ea typeface="Calibri" pitchFamily="34" charset="-122"/>
                <a:cs typeface="Calibri" pitchFamily="34" charset="-120"/>
              </a:rPr>
              <a:t>(media geométrica)</a:t>
            </a:r>
            <a:endParaRPr lang="en-US" sz="850" dirty="0"/>
          </a:p>
        </p:txBody>
      </p:sp>
      <p:sp>
        <p:nvSpPr>
          <p:cNvPr id="37" name="Shape 35"/>
          <p:cNvSpPr/>
          <p:nvPr/>
        </p:nvSpPr>
        <p:spPr>
          <a:xfrm>
            <a:off x="5230368" y="2651760"/>
            <a:ext cx="365760" cy="201168"/>
          </a:xfrm>
          <a:prstGeom prst="rightArrow">
            <a:avLst/>
          </a:prstGeom>
          <a:solidFill>
            <a:srgbClr val="64748B"/>
          </a:solidFill>
          <a:ln/>
        </p:spPr>
      </p:sp>
      <p:sp>
        <p:nvSpPr>
          <p:cNvPr id="38" name="Shape 36"/>
          <p:cNvSpPr/>
          <p:nvPr/>
        </p:nvSpPr>
        <p:spPr>
          <a:xfrm>
            <a:off x="5724144" y="2304288"/>
            <a:ext cx="1554480" cy="896112"/>
          </a:xfrm>
          <a:prstGeom prst="roundRect">
            <a:avLst>
              <a:gd name="adj" fmla="val 6122"/>
            </a:avLst>
          </a:prstGeom>
          <a:solidFill>
            <a:srgbClr val="1A2F5A"/>
          </a:solidFill>
          <a:ln/>
        </p:spPr>
      </p:sp>
      <p:sp>
        <p:nvSpPr>
          <p:cNvPr id="39" name="Text 37"/>
          <p:cNvSpPr/>
          <p:nvPr/>
        </p:nvSpPr>
        <p:spPr>
          <a:xfrm>
            <a:off x="5724144" y="2304288"/>
            <a:ext cx="1554480" cy="8961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GenNal k
</a:t>
            </a:r>
            <a:r>
              <a:rPr lang="en-US" sz="850" dirty="0">
                <a:solidFill>
                  <a:srgbClr val="D1E8FF"/>
                </a:solidFill>
                <a:latin typeface="Calibri" pitchFamily="34" charset="0"/>
                <a:ea typeface="Calibri" pitchFamily="34" charset="-122"/>
                <a:cs typeface="Calibri" pitchFamily="34" charset="-120"/>
              </a:rPr>
              <a:t>genérico nacional</a:t>
            </a:r>
            <a:endParaRPr lang="en-US" sz="1300" dirty="0"/>
          </a:p>
        </p:txBody>
      </p:sp>
      <p:sp>
        <p:nvSpPr>
          <p:cNvPr id="40" name="Text 38"/>
          <p:cNvSpPr/>
          <p:nvPr/>
        </p:nvSpPr>
        <p:spPr>
          <a:xfrm>
            <a:off x="5029200" y="3310128"/>
            <a:ext cx="2377440" cy="402336"/>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Laspeyres sobre</a:t>
            </a:r>
            <a:endParaRPr lang="en-US" sz="850" dirty="0"/>
          </a:p>
          <a:p>
            <a:pPr marL="0" indent="0" algn="ctr">
              <a:buNone/>
            </a:pPr>
            <a:r>
              <a:rPr lang="en-US" sz="850" i="1" dirty="0">
                <a:solidFill>
                  <a:srgbClr val="64748B"/>
                </a:solidFill>
                <a:latin typeface="Calibri" pitchFamily="34" charset="0"/>
                <a:ea typeface="Calibri" pitchFamily="34" charset="-122"/>
                <a:cs typeface="Calibri" pitchFamily="34" charset="-120"/>
              </a:rPr>
              <a:t>las 55 áreas (ω_lk)</a:t>
            </a:r>
            <a:endParaRPr lang="en-US" sz="850" dirty="0"/>
          </a:p>
        </p:txBody>
      </p:sp>
      <p:sp>
        <p:nvSpPr>
          <p:cNvPr id="41" name="Shape 39"/>
          <p:cNvSpPr/>
          <p:nvPr/>
        </p:nvSpPr>
        <p:spPr>
          <a:xfrm>
            <a:off x="7370064" y="2651760"/>
            <a:ext cx="365760" cy="201168"/>
          </a:xfrm>
          <a:prstGeom prst="rightArrow">
            <a:avLst/>
          </a:prstGeom>
          <a:solidFill>
            <a:srgbClr val="64748B"/>
          </a:solidFill>
          <a:ln/>
        </p:spPr>
      </p:sp>
      <p:sp>
        <p:nvSpPr>
          <p:cNvPr id="42" name="Shape 40"/>
          <p:cNvSpPr/>
          <p:nvPr/>
        </p:nvSpPr>
        <p:spPr>
          <a:xfrm>
            <a:off x="7827264" y="2304288"/>
            <a:ext cx="969264" cy="896112"/>
          </a:xfrm>
          <a:prstGeom prst="roundRect">
            <a:avLst>
              <a:gd name="adj" fmla="val 6122"/>
            </a:avLst>
          </a:prstGeom>
          <a:solidFill>
            <a:srgbClr val="D97706"/>
          </a:solidFill>
          <a:ln/>
        </p:spPr>
      </p:sp>
      <p:sp>
        <p:nvSpPr>
          <p:cNvPr id="43" name="Text 41"/>
          <p:cNvSpPr/>
          <p:nvPr/>
        </p:nvSpPr>
        <p:spPr>
          <a:xfrm>
            <a:off x="7827264" y="2304288"/>
            <a:ext cx="969264" cy="8961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INPC</a:t>
            </a:r>
            <a:endParaRPr lang="en-US" sz="1500" dirty="0"/>
          </a:p>
        </p:txBody>
      </p:sp>
      <p:sp>
        <p:nvSpPr>
          <p:cNvPr id="44" name="Text 42"/>
          <p:cNvSpPr/>
          <p:nvPr/>
        </p:nvSpPr>
        <p:spPr>
          <a:xfrm>
            <a:off x="7571232" y="3310128"/>
            <a:ext cx="1481328" cy="402336"/>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con los 292</a:t>
            </a:r>
            <a:endParaRPr lang="en-US" sz="850" dirty="0"/>
          </a:p>
          <a:p>
            <a:pPr marL="0" indent="0" algn="ctr">
              <a:buNone/>
            </a:pPr>
            <a:r>
              <a:rPr lang="en-US" sz="850" i="1" dirty="0">
                <a:solidFill>
                  <a:srgbClr val="64748B"/>
                </a:solidFill>
                <a:latin typeface="Calibri" pitchFamily="34" charset="0"/>
                <a:ea typeface="Calibri" pitchFamily="34" charset="-122"/>
                <a:cs typeface="Calibri" pitchFamily="34" charset="-120"/>
              </a:rPr>
              <a:t>genéricos (ω_k)</a:t>
            </a:r>
            <a:endParaRPr lang="en-US" sz="850" dirty="0"/>
          </a:p>
        </p:txBody>
      </p:sp>
      <p:sp>
        <p:nvSpPr>
          <p:cNvPr id="45" name="Shape 43"/>
          <p:cNvSpPr/>
          <p:nvPr/>
        </p:nvSpPr>
        <p:spPr>
          <a:xfrm>
            <a:off x="5246043" y="4133834"/>
            <a:ext cx="3749040" cy="841248"/>
          </a:xfrm>
          <a:prstGeom prst="roundRect">
            <a:avLst>
              <a:gd name="adj" fmla="val 6522"/>
            </a:avLst>
          </a:prstGeom>
          <a:solidFill>
            <a:srgbClr val="FFFBEB"/>
          </a:solidFill>
          <a:ln/>
        </p:spPr>
      </p:sp>
      <p:sp>
        <p:nvSpPr>
          <p:cNvPr id="46" name="Text 44"/>
          <p:cNvSpPr/>
          <p:nvPr/>
        </p:nvSpPr>
        <p:spPr>
          <a:xfrm>
            <a:off x="5413248" y="4078224"/>
            <a:ext cx="3474720" cy="84124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El proceso se repite para cada uno de los 292 genéricos: primero dentro de cada área geográfica y después agregando las 55 áreas al nivel nacional.</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err="1">
                <a:solidFill>
                  <a:srgbClr val="FFFFFF"/>
                </a:solidFill>
                <a:latin typeface="Cambria" pitchFamily="34" charset="0"/>
                <a:ea typeface="Cambria" pitchFamily="34" charset="-122"/>
                <a:cs typeface="Cambria" pitchFamily="34" charset="-120"/>
              </a:rPr>
              <a:t>Diseño</a:t>
            </a:r>
            <a:r>
              <a:rPr lang="en-US" sz="2200" b="1" dirty="0">
                <a:solidFill>
                  <a:srgbClr val="FFFFFF"/>
                </a:solidFill>
                <a:latin typeface="Cambria" pitchFamily="34" charset="0"/>
                <a:ea typeface="Cambria" pitchFamily="34" charset="-122"/>
                <a:cs typeface="Cambria" pitchFamily="34" charset="-120"/>
              </a:rPr>
              <a:t> Estadístico: Selección de Puntos de Venta</a:t>
            </a:r>
            <a:endParaRPr lang="en-US" sz="2200" dirty="0"/>
          </a:p>
        </p:txBody>
      </p:sp>
      <p:sp>
        <p:nvSpPr>
          <p:cNvPr id="4" name="Text 2"/>
          <p:cNvSpPr/>
          <p:nvPr/>
        </p:nvSpPr>
        <p:spPr>
          <a:xfrm>
            <a:off x="320040" y="932688"/>
            <a:ext cx="8503920" cy="4114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El esquema de muestreo define cómo se seleccionan los establecimientos donde se cotizarán los precios. Se usan dos tipos de diseño según las características del genérico.</a:t>
            </a:r>
            <a:endParaRPr lang="en-US" sz="1050" dirty="0"/>
          </a:p>
        </p:txBody>
      </p:sp>
      <p:sp>
        <p:nvSpPr>
          <p:cNvPr id="5" name="Shape 3"/>
          <p:cNvSpPr/>
          <p:nvPr/>
        </p:nvSpPr>
        <p:spPr>
          <a:xfrm>
            <a:off x="292608" y="1417320"/>
            <a:ext cx="4315968" cy="3547872"/>
          </a:xfrm>
          <a:prstGeom prst="roundRect">
            <a:avLst>
              <a:gd name="adj" fmla="val 3093"/>
            </a:avLst>
          </a:prstGeom>
          <a:solidFill>
            <a:srgbClr val="EEF2FF"/>
          </a:solidFill>
          <a:ln/>
          <a:effectLst>
            <a:outerShdw blurRad="50800" dist="25400" dir="2700000" algn="bl" rotWithShape="0">
              <a:srgbClr val="000000">
                <a:alpha val="10000"/>
              </a:srgbClr>
            </a:outerShdw>
          </a:effectLst>
        </p:spPr>
      </p:sp>
      <p:sp>
        <p:nvSpPr>
          <p:cNvPr id="6" name="Shape 4"/>
          <p:cNvSpPr/>
          <p:nvPr/>
        </p:nvSpPr>
        <p:spPr>
          <a:xfrm>
            <a:off x="320040" y="1444752"/>
            <a:ext cx="4261104" cy="411480"/>
          </a:xfrm>
          <a:prstGeom prst="roundRect">
            <a:avLst>
              <a:gd name="adj" fmla="val 17778"/>
            </a:avLst>
          </a:prstGeom>
          <a:solidFill>
            <a:srgbClr val="1A2F5A"/>
          </a:solidFill>
          <a:ln/>
        </p:spPr>
      </p:sp>
      <p:sp>
        <p:nvSpPr>
          <p:cNvPr id="7" name="Text 5"/>
          <p:cNvSpPr/>
          <p:nvPr/>
        </p:nvSpPr>
        <p:spPr>
          <a:xfrm>
            <a:off x="347472" y="1444752"/>
            <a:ext cx="4206240" cy="411480"/>
          </a:xfrm>
          <a:prstGeom prst="rect">
            <a:avLst/>
          </a:prstGeom>
          <a:noFill/>
          <a:ln/>
        </p:spPr>
        <p:txBody>
          <a:bodyPr wrap="square" lIns="0" tIns="0" rIns="0" bIns="0" rtlCol="0" anchor="ctr"/>
          <a:lstStyle/>
          <a:p>
            <a:pPr marL="0" indent="0" algn="ctr">
              <a:buNone/>
            </a:pPr>
            <a:r>
              <a:rPr lang="en-US" sz="1100" b="1" dirty="0">
                <a:solidFill>
                  <a:srgbClr val="FFFFFF"/>
                </a:solidFill>
              </a:rPr>
              <a:t>Muestreo PROBABILÍSTICO — 235 genéricos</a:t>
            </a:r>
            <a:endParaRPr lang="en-US" sz="1100" dirty="0"/>
          </a:p>
        </p:txBody>
      </p:sp>
      <p:sp>
        <p:nvSpPr>
          <p:cNvPr id="8" name="Shape 6"/>
          <p:cNvSpPr/>
          <p:nvPr/>
        </p:nvSpPr>
        <p:spPr>
          <a:xfrm>
            <a:off x="365760" y="1920240"/>
            <a:ext cx="4160520" cy="658368"/>
          </a:xfrm>
          <a:prstGeom prst="roundRect">
            <a:avLst>
              <a:gd name="adj" fmla="val 16667"/>
            </a:avLst>
          </a:prstGeom>
          <a:solidFill>
            <a:srgbClr val="FFFFFF"/>
          </a:solidFill>
          <a:ln/>
        </p:spPr>
      </p:sp>
      <p:sp>
        <p:nvSpPr>
          <p:cNvPr id="9" name="Text 7"/>
          <p:cNvSpPr/>
          <p:nvPr/>
        </p:nvSpPr>
        <p:spPr>
          <a:xfrm>
            <a:off x="475488" y="1975104"/>
            <a:ext cx="3977640" cy="219456"/>
          </a:xfrm>
          <a:prstGeom prst="rect">
            <a:avLst/>
          </a:prstGeom>
          <a:noFill/>
          <a:ln/>
        </p:spPr>
        <p:txBody>
          <a:bodyPr wrap="square" rtlCol="0" anchor="ctr"/>
          <a:lstStyle/>
          <a:p>
            <a:pPr marL="0" indent="0">
              <a:buNone/>
            </a:pPr>
            <a:r>
              <a:rPr lang="en-US" sz="1000" b="1" dirty="0">
                <a:solidFill>
                  <a:srgbClr val="1A2F5A"/>
                </a:solidFill>
              </a:rPr>
              <a:t>Marco muestral: </a:t>
            </a:r>
            <a:endParaRPr lang="en-US" sz="1000" dirty="0"/>
          </a:p>
        </p:txBody>
      </p:sp>
      <p:sp>
        <p:nvSpPr>
          <p:cNvPr id="10" name="Text 8"/>
          <p:cNvSpPr/>
          <p:nvPr/>
        </p:nvSpPr>
        <p:spPr>
          <a:xfrm>
            <a:off x="475488" y="2194560"/>
            <a:ext cx="397764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Construido con Censos Económicos 2019 (RENEM 2022). 2.7 millones de unidades económicas registradas.</a:t>
            </a:r>
            <a:endParaRPr lang="en-US" sz="950" dirty="0"/>
          </a:p>
        </p:txBody>
      </p:sp>
      <p:sp>
        <p:nvSpPr>
          <p:cNvPr id="11" name="Shape 9"/>
          <p:cNvSpPr/>
          <p:nvPr/>
        </p:nvSpPr>
        <p:spPr>
          <a:xfrm>
            <a:off x="365760" y="2670048"/>
            <a:ext cx="4160520" cy="658368"/>
          </a:xfrm>
          <a:prstGeom prst="roundRect">
            <a:avLst>
              <a:gd name="adj" fmla="val 16667"/>
            </a:avLst>
          </a:prstGeom>
          <a:solidFill>
            <a:srgbClr val="FFFFFF"/>
          </a:solidFill>
          <a:ln/>
        </p:spPr>
      </p:sp>
      <p:sp>
        <p:nvSpPr>
          <p:cNvPr id="12" name="Text 10"/>
          <p:cNvSpPr/>
          <p:nvPr/>
        </p:nvSpPr>
        <p:spPr>
          <a:xfrm>
            <a:off x="475488" y="2724912"/>
            <a:ext cx="3977640" cy="219456"/>
          </a:xfrm>
          <a:prstGeom prst="rect">
            <a:avLst/>
          </a:prstGeom>
          <a:noFill/>
          <a:ln/>
        </p:spPr>
        <p:txBody>
          <a:bodyPr wrap="square" rtlCol="0" anchor="ctr"/>
          <a:lstStyle/>
          <a:p>
            <a:pPr marL="0" indent="0">
              <a:buNone/>
            </a:pPr>
            <a:r>
              <a:rPr lang="en-US" sz="1000" b="1" dirty="0">
                <a:solidFill>
                  <a:srgbClr val="1A2F5A"/>
                </a:solidFill>
              </a:rPr>
              <a:t>Estratificación: </a:t>
            </a:r>
            <a:endParaRPr lang="en-US" sz="1000" dirty="0"/>
          </a:p>
        </p:txBody>
      </p:sp>
      <p:sp>
        <p:nvSpPr>
          <p:cNvPr id="13" name="Text 11"/>
          <p:cNvSpPr/>
          <p:nvPr/>
        </p:nvSpPr>
        <p:spPr>
          <a:xfrm>
            <a:off x="475488" y="2944368"/>
            <a:ext cx="397764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Por área geográfica (55 ciudades) × tipo de mercado (moderno: supermercados, tiendas de cadena; y tradicional: mercados, abarrotes).</a:t>
            </a:r>
            <a:endParaRPr lang="en-US" sz="950" dirty="0"/>
          </a:p>
        </p:txBody>
      </p:sp>
      <p:sp>
        <p:nvSpPr>
          <p:cNvPr id="14" name="Shape 12"/>
          <p:cNvSpPr/>
          <p:nvPr/>
        </p:nvSpPr>
        <p:spPr>
          <a:xfrm>
            <a:off x="365760" y="3419856"/>
            <a:ext cx="4160520" cy="658368"/>
          </a:xfrm>
          <a:prstGeom prst="roundRect">
            <a:avLst>
              <a:gd name="adj" fmla="val 16667"/>
            </a:avLst>
          </a:prstGeom>
          <a:solidFill>
            <a:srgbClr val="FFFFFF"/>
          </a:solidFill>
          <a:ln/>
        </p:spPr>
      </p:sp>
      <p:sp>
        <p:nvSpPr>
          <p:cNvPr id="15" name="Text 13"/>
          <p:cNvSpPr/>
          <p:nvPr/>
        </p:nvSpPr>
        <p:spPr>
          <a:xfrm>
            <a:off x="475488" y="3474720"/>
            <a:ext cx="3977640" cy="219456"/>
          </a:xfrm>
          <a:prstGeom prst="rect">
            <a:avLst/>
          </a:prstGeom>
          <a:noFill/>
          <a:ln/>
        </p:spPr>
        <p:txBody>
          <a:bodyPr wrap="square" rtlCol="0" anchor="ctr"/>
          <a:lstStyle/>
          <a:p>
            <a:pPr marL="0" indent="0">
              <a:buNone/>
            </a:pPr>
            <a:r>
              <a:rPr lang="en-US" sz="1000" b="1" dirty="0">
                <a:solidFill>
                  <a:srgbClr val="1A2F5A"/>
                </a:solidFill>
              </a:rPr>
              <a:t>Selección: </a:t>
            </a:r>
            <a:endParaRPr lang="en-US" sz="1000" dirty="0"/>
          </a:p>
        </p:txBody>
      </p:sp>
      <p:sp>
        <p:nvSpPr>
          <p:cNvPr id="16" name="Text 14"/>
          <p:cNvSpPr/>
          <p:nvPr/>
        </p:nvSpPr>
        <p:spPr>
          <a:xfrm>
            <a:off x="475488" y="3694176"/>
            <a:ext cx="397764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Aleatoria simple dentro de cada estrato. Cada unidad tiene probabilidad conocida y distinta de cero.</a:t>
            </a:r>
            <a:endParaRPr lang="en-US" sz="950" dirty="0"/>
          </a:p>
        </p:txBody>
      </p:sp>
      <p:sp>
        <p:nvSpPr>
          <p:cNvPr id="17" name="Shape 15"/>
          <p:cNvSpPr/>
          <p:nvPr/>
        </p:nvSpPr>
        <p:spPr>
          <a:xfrm>
            <a:off x="365760" y="4169664"/>
            <a:ext cx="4160520" cy="658368"/>
          </a:xfrm>
          <a:prstGeom prst="roundRect">
            <a:avLst>
              <a:gd name="adj" fmla="val 16667"/>
            </a:avLst>
          </a:prstGeom>
          <a:solidFill>
            <a:srgbClr val="FFFFFF"/>
          </a:solidFill>
          <a:ln/>
        </p:spPr>
      </p:sp>
      <p:sp>
        <p:nvSpPr>
          <p:cNvPr id="18" name="Text 16"/>
          <p:cNvSpPr/>
          <p:nvPr/>
        </p:nvSpPr>
        <p:spPr>
          <a:xfrm>
            <a:off x="475488" y="4224528"/>
            <a:ext cx="3977640" cy="219456"/>
          </a:xfrm>
          <a:prstGeom prst="rect">
            <a:avLst/>
          </a:prstGeom>
          <a:noFill/>
          <a:ln/>
        </p:spPr>
        <p:txBody>
          <a:bodyPr wrap="square" rtlCol="0" anchor="ctr"/>
          <a:lstStyle/>
          <a:p>
            <a:pPr marL="0" indent="0">
              <a:buNone/>
            </a:pPr>
            <a:r>
              <a:rPr lang="en-US" sz="1000" b="1" dirty="0">
                <a:solidFill>
                  <a:srgbClr val="1A2F5A"/>
                </a:solidFill>
              </a:rPr>
              <a:t>Tamaño de muestra: </a:t>
            </a:r>
            <a:endParaRPr lang="en-US" sz="1000" dirty="0"/>
          </a:p>
        </p:txBody>
      </p:sp>
      <p:sp>
        <p:nvSpPr>
          <p:cNvPr id="19" name="Text 17"/>
          <p:cNvSpPr/>
          <p:nvPr/>
        </p:nvSpPr>
        <p:spPr>
          <a:xfrm>
            <a:off x="475488" y="4443984"/>
            <a:ext cx="397764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90 578 especificaciones en ~24 000 unidades económicas. Calculado para garantizar representatividad estadística a nivel genérico nacional.</a:t>
            </a:r>
            <a:endParaRPr lang="en-US" sz="950" dirty="0"/>
          </a:p>
        </p:txBody>
      </p:sp>
      <p:sp>
        <p:nvSpPr>
          <p:cNvPr id="20" name="Shape 18"/>
          <p:cNvSpPr/>
          <p:nvPr/>
        </p:nvSpPr>
        <p:spPr>
          <a:xfrm>
            <a:off x="4754880" y="1417320"/>
            <a:ext cx="4133088" cy="3547872"/>
          </a:xfrm>
          <a:prstGeom prst="roundRect">
            <a:avLst>
              <a:gd name="adj" fmla="val 3093"/>
            </a:avLst>
          </a:prstGeom>
          <a:solidFill>
            <a:srgbClr val="FFF1F2"/>
          </a:solidFill>
          <a:ln/>
          <a:effectLst>
            <a:outerShdw blurRad="50800" dist="25400" dir="2700000" algn="bl" rotWithShape="0">
              <a:srgbClr val="000000">
                <a:alpha val="10000"/>
              </a:srgbClr>
            </a:outerShdw>
          </a:effectLst>
        </p:spPr>
      </p:sp>
      <p:sp>
        <p:nvSpPr>
          <p:cNvPr id="21" name="Shape 19"/>
          <p:cNvSpPr/>
          <p:nvPr/>
        </p:nvSpPr>
        <p:spPr>
          <a:xfrm>
            <a:off x="4782312" y="1444752"/>
            <a:ext cx="4078224" cy="411480"/>
          </a:xfrm>
          <a:prstGeom prst="roundRect">
            <a:avLst>
              <a:gd name="adj" fmla="val 17778"/>
            </a:avLst>
          </a:prstGeom>
          <a:solidFill>
            <a:srgbClr val="E11D48"/>
          </a:solidFill>
          <a:ln/>
        </p:spPr>
      </p:sp>
      <p:sp>
        <p:nvSpPr>
          <p:cNvPr id="22" name="Text 20"/>
          <p:cNvSpPr/>
          <p:nvPr/>
        </p:nvSpPr>
        <p:spPr>
          <a:xfrm>
            <a:off x="4809744" y="1444752"/>
            <a:ext cx="4023360" cy="411480"/>
          </a:xfrm>
          <a:prstGeom prst="rect">
            <a:avLst/>
          </a:prstGeom>
          <a:noFill/>
          <a:ln/>
        </p:spPr>
        <p:txBody>
          <a:bodyPr wrap="square" lIns="0" tIns="0" rIns="0" bIns="0" rtlCol="0" anchor="ctr"/>
          <a:lstStyle/>
          <a:p>
            <a:pPr marL="0" indent="0" algn="ctr">
              <a:buNone/>
            </a:pPr>
            <a:r>
              <a:rPr lang="en-US" sz="1100" b="1" dirty="0">
                <a:solidFill>
                  <a:srgbClr val="FFFFFF"/>
                </a:solidFill>
              </a:rPr>
              <a:t>Muestreo NO PROBABILÍSTICO — 57 genéricos</a:t>
            </a:r>
            <a:endParaRPr lang="en-US" sz="1100" dirty="0"/>
          </a:p>
        </p:txBody>
      </p:sp>
      <p:sp>
        <p:nvSpPr>
          <p:cNvPr id="23" name="Shape 21"/>
          <p:cNvSpPr/>
          <p:nvPr/>
        </p:nvSpPr>
        <p:spPr>
          <a:xfrm>
            <a:off x="4828032" y="1920240"/>
            <a:ext cx="3977640" cy="658368"/>
          </a:xfrm>
          <a:prstGeom prst="roundRect">
            <a:avLst>
              <a:gd name="adj" fmla="val 16667"/>
            </a:avLst>
          </a:prstGeom>
          <a:solidFill>
            <a:srgbClr val="FFFFFF"/>
          </a:solidFill>
          <a:ln/>
        </p:spPr>
      </p:sp>
      <p:sp>
        <p:nvSpPr>
          <p:cNvPr id="24" name="Text 22"/>
          <p:cNvSpPr/>
          <p:nvPr/>
        </p:nvSpPr>
        <p:spPr>
          <a:xfrm>
            <a:off x="4937760" y="1975104"/>
            <a:ext cx="3794760" cy="219456"/>
          </a:xfrm>
          <a:prstGeom prst="rect">
            <a:avLst/>
          </a:prstGeom>
          <a:noFill/>
          <a:ln/>
        </p:spPr>
        <p:txBody>
          <a:bodyPr wrap="square" rtlCol="0" anchor="ctr"/>
          <a:lstStyle/>
          <a:p>
            <a:pPr marL="0" indent="0">
              <a:buNone/>
            </a:pPr>
            <a:r>
              <a:rPr lang="en-US" sz="1000" b="1" dirty="0">
                <a:solidFill>
                  <a:srgbClr val="E11D48"/>
                </a:solidFill>
              </a:rPr>
              <a:t>Cuándo se aplica: </a:t>
            </a:r>
            <a:endParaRPr lang="en-US" sz="1000" dirty="0"/>
          </a:p>
        </p:txBody>
      </p:sp>
      <p:sp>
        <p:nvSpPr>
          <p:cNvPr id="25" name="Text 23"/>
          <p:cNvSpPr/>
          <p:nvPr/>
        </p:nvSpPr>
        <p:spPr>
          <a:xfrm>
            <a:off x="4937760" y="2194560"/>
            <a:ext cx="379476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Cuando no existe un marco de muestreo válido, hay un solo oferente o las tarifas son reguladas por el gobierno.</a:t>
            </a:r>
            <a:endParaRPr lang="en-US" sz="950" dirty="0"/>
          </a:p>
        </p:txBody>
      </p:sp>
      <p:sp>
        <p:nvSpPr>
          <p:cNvPr id="26" name="Shape 24"/>
          <p:cNvSpPr/>
          <p:nvPr/>
        </p:nvSpPr>
        <p:spPr>
          <a:xfrm>
            <a:off x="4828032" y="2670048"/>
            <a:ext cx="3977640" cy="658368"/>
          </a:xfrm>
          <a:prstGeom prst="roundRect">
            <a:avLst>
              <a:gd name="adj" fmla="val 16667"/>
            </a:avLst>
          </a:prstGeom>
          <a:solidFill>
            <a:srgbClr val="FFFFFF"/>
          </a:solidFill>
          <a:ln/>
        </p:spPr>
      </p:sp>
      <p:sp>
        <p:nvSpPr>
          <p:cNvPr id="27" name="Text 25"/>
          <p:cNvSpPr/>
          <p:nvPr/>
        </p:nvSpPr>
        <p:spPr>
          <a:xfrm>
            <a:off x="4937760" y="2724912"/>
            <a:ext cx="3794760" cy="219456"/>
          </a:xfrm>
          <a:prstGeom prst="rect">
            <a:avLst/>
          </a:prstGeom>
          <a:noFill/>
          <a:ln/>
        </p:spPr>
        <p:txBody>
          <a:bodyPr wrap="square" rtlCol="0" anchor="ctr"/>
          <a:lstStyle/>
          <a:p>
            <a:pPr marL="0" indent="0">
              <a:buNone/>
            </a:pPr>
            <a:r>
              <a:rPr lang="en-US" sz="1000" b="1" dirty="0">
                <a:solidFill>
                  <a:srgbClr val="E11D48"/>
                </a:solidFill>
              </a:rPr>
              <a:t>Selección dirigida: </a:t>
            </a:r>
            <a:endParaRPr lang="en-US" sz="1000" dirty="0"/>
          </a:p>
        </p:txBody>
      </p:sp>
      <p:sp>
        <p:nvSpPr>
          <p:cNvPr id="28" name="Text 26"/>
          <p:cNvSpPr/>
          <p:nvPr/>
        </p:nvSpPr>
        <p:spPr>
          <a:xfrm>
            <a:off x="4937760" y="2944368"/>
            <a:ext cx="379476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investigadores de precios proponen el establecimiento según criterios técnicos definidos en oficinas centrales.</a:t>
            </a:r>
            <a:endParaRPr lang="en-US" sz="950" dirty="0"/>
          </a:p>
        </p:txBody>
      </p:sp>
      <p:sp>
        <p:nvSpPr>
          <p:cNvPr id="29" name="Shape 27"/>
          <p:cNvSpPr/>
          <p:nvPr/>
        </p:nvSpPr>
        <p:spPr>
          <a:xfrm>
            <a:off x="4828032" y="3419856"/>
            <a:ext cx="3977640" cy="658368"/>
          </a:xfrm>
          <a:prstGeom prst="roundRect">
            <a:avLst>
              <a:gd name="adj" fmla="val 16667"/>
            </a:avLst>
          </a:prstGeom>
          <a:solidFill>
            <a:srgbClr val="FFFFFF"/>
          </a:solidFill>
          <a:ln/>
        </p:spPr>
      </p:sp>
      <p:sp>
        <p:nvSpPr>
          <p:cNvPr id="30" name="Text 28"/>
          <p:cNvSpPr/>
          <p:nvPr/>
        </p:nvSpPr>
        <p:spPr>
          <a:xfrm>
            <a:off x="4937760" y="3474720"/>
            <a:ext cx="3794760" cy="219456"/>
          </a:xfrm>
          <a:prstGeom prst="rect">
            <a:avLst/>
          </a:prstGeom>
          <a:noFill/>
          <a:ln/>
        </p:spPr>
        <p:txBody>
          <a:bodyPr wrap="square" rtlCol="0" anchor="ctr"/>
          <a:lstStyle/>
          <a:p>
            <a:pPr marL="0" indent="0">
              <a:buNone/>
            </a:pPr>
            <a:r>
              <a:rPr lang="en-US" sz="1000" b="1" dirty="0">
                <a:solidFill>
                  <a:srgbClr val="E11D48"/>
                </a:solidFill>
              </a:rPr>
              <a:t>Ejemplos de genéricos: </a:t>
            </a:r>
            <a:endParaRPr lang="en-US" sz="1000" dirty="0"/>
          </a:p>
        </p:txBody>
      </p:sp>
      <p:sp>
        <p:nvSpPr>
          <p:cNvPr id="31" name="Text 29"/>
          <p:cNvSpPr/>
          <p:nvPr/>
        </p:nvSpPr>
        <p:spPr>
          <a:xfrm>
            <a:off x="4937760" y="3694176"/>
            <a:ext cx="379476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Metro y transporte eléctrico, gas doméstico LP, cuotas de autopistas, electricidad (CFE), educación privada, renta de vivienda.</a:t>
            </a:r>
            <a:endParaRPr lang="en-US" sz="950" dirty="0"/>
          </a:p>
        </p:txBody>
      </p:sp>
      <p:sp>
        <p:nvSpPr>
          <p:cNvPr id="32" name="Shape 30"/>
          <p:cNvSpPr/>
          <p:nvPr/>
        </p:nvSpPr>
        <p:spPr>
          <a:xfrm>
            <a:off x="4828032" y="4169664"/>
            <a:ext cx="3977640" cy="658368"/>
          </a:xfrm>
          <a:prstGeom prst="roundRect">
            <a:avLst>
              <a:gd name="adj" fmla="val 16667"/>
            </a:avLst>
          </a:prstGeom>
          <a:solidFill>
            <a:srgbClr val="FFFFFF"/>
          </a:solidFill>
          <a:ln/>
        </p:spPr>
      </p:sp>
      <p:sp>
        <p:nvSpPr>
          <p:cNvPr id="33" name="Text 31"/>
          <p:cNvSpPr/>
          <p:nvPr/>
        </p:nvSpPr>
        <p:spPr>
          <a:xfrm>
            <a:off x="4937760" y="4224528"/>
            <a:ext cx="3794760" cy="219456"/>
          </a:xfrm>
          <a:prstGeom prst="rect">
            <a:avLst/>
          </a:prstGeom>
          <a:noFill/>
          <a:ln/>
        </p:spPr>
        <p:txBody>
          <a:bodyPr wrap="square" rtlCol="0" anchor="ctr"/>
          <a:lstStyle/>
          <a:p>
            <a:pPr marL="0" indent="0">
              <a:buNone/>
            </a:pPr>
            <a:r>
              <a:rPr lang="en-US" sz="1000" b="1" dirty="0">
                <a:solidFill>
                  <a:srgbClr val="E11D48"/>
                </a:solidFill>
              </a:rPr>
              <a:t>Resultado: </a:t>
            </a:r>
            <a:endParaRPr lang="en-US" sz="1000" dirty="0"/>
          </a:p>
        </p:txBody>
      </p:sp>
      <p:sp>
        <p:nvSpPr>
          <p:cNvPr id="34" name="Text 32"/>
          <p:cNvSpPr/>
          <p:nvPr/>
        </p:nvSpPr>
        <p:spPr>
          <a:xfrm>
            <a:off x="4937760" y="4443984"/>
            <a:ext cx="379476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resultados son válidos exclusivamente para la muestra seleccionada. No permite inferencia estadística a la población.</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 Captación de Precios en Campo</a:t>
            </a:r>
            <a:endParaRPr lang="en-US" sz="2200" dirty="0"/>
          </a:p>
        </p:txBody>
      </p:sp>
      <p:sp>
        <p:nvSpPr>
          <p:cNvPr id="4" name="Text 2"/>
          <p:cNvSpPr/>
          <p:nvPr/>
        </p:nvSpPr>
        <p:spPr>
          <a:xfrm>
            <a:off x="320040" y="932688"/>
            <a:ext cx="8503920" cy="4114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Describe cómo se recolectan, registran y validan los precios en los establecimientos seleccionados. La calidad de los índices elementales depende directamente de la calidad de esta captación.</a:t>
            </a:r>
            <a:endParaRPr lang="en-US" sz="1050" dirty="0"/>
          </a:p>
        </p:txBody>
      </p:sp>
      <p:sp>
        <p:nvSpPr>
          <p:cNvPr id="5" name="Shape 3"/>
          <p:cNvSpPr/>
          <p:nvPr/>
        </p:nvSpPr>
        <p:spPr>
          <a:xfrm>
            <a:off x="274320" y="1417320"/>
            <a:ext cx="4261104" cy="1161288"/>
          </a:xfrm>
          <a:prstGeom prst="roundRect">
            <a:avLst>
              <a:gd name="adj" fmla="val 9449"/>
            </a:avLst>
          </a:prstGeom>
          <a:solidFill>
            <a:srgbClr val="EEF2FF"/>
          </a:solidFill>
          <a:ln/>
          <a:effectLst>
            <a:outerShdw blurRad="50800" dist="25400" dir="2700000" algn="bl" rotWithShape="0">
              <a:srgbClr val="000000">
                <a:alpha val="10000"/>
              </a:srgbClr>
            </a:outerShdw>
          </a:effectLst>
        </p:spPr>
      </p:sp>
      <p:sp>
        <p:nvSpPr>
          <p:cNvPr id="6" name="Text 4"/>
          <p:cNvSpPr/>
          <p:nvPr/>
        </p:nvSpPr>
        <p:spPr>
          <a:xfrm>
            <a:off x="411480" y="1481328"/>
            <a:ext cx="4005072" cy="256032"/>
          </a:xfrm>
          <a:prstGeom prst="rect">
            <a:avLst/>
          </a:prstGeom>
          <a:noFill/>
          <a:ln/>
        </p:spPr>
        <p:txBody>
          <a:bodyPr wrap="square" rtlCol="0" anchor="ctr"/>
          <a:lstStyle/>
          <a:p>
            <a:pPr marL="0" indent="0">
              <a:buNone/>
            </a:pPr>
            <a:r>
              <a:rPr lang="en-US" sz="1150" b="1" dirty="0">
                <a:solidFill>
                  <a:srgbClr val="1A2F5A"/>
                </a:solidFill>
                <a:latin typeface="Cambria" pitchFamily="34" charset="0"/>
                <a:ea typeface="Cambria" pitchFamily="34" charset="-122"/>
                <a:cs typeface="Cambria" pitchFamily="34" charset="-120"/>
              </a:rPr>
              <a:t>Frecuencia de cotización</a:t>
            </a:r>
            <a:endParaRPr lang="en-US" sz="1150" dirty="0"/>
          </a:p>
        </p:txBody>
      </p:sp>
      <p:sp>
        <p:nvSpPr>
          <p:cNvPr id="7" name="Text 5"/>
          <p:cNvSpPr/>
          <p:nvPr/>
        </p:nvSpPr>
        <p:spPr>
          <a:xfrm>
            <a:off x="411480" y="1783080"/>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Semanal: alimentos, bebidas, tabaco, gas LP y transporte aéreo.</a:t>
            </a:r>
            <a:endParaRPr lang="en-US" sz="950" dirty="0"/>
          </a:p>
          <a:p>
            <a:pPr marL="0" indent="0">
              <a:buNone/>
            </a:pPr>
            <a:r>
              <a:rPr lang="en-US" sz="950" dirty="0">
                <a:solidFill>
                  <a:srgbClr val="1E293B"/>
                </a:solidFill>
                <a:latin typeface="Calibri" pitchFamily="34" charset="0"/>
                <a:ea typeface="Calibri" pitchFamily="34" charset="-122"/>
                <a:cs typeface="Calibri" pitchFamily="34" charset="-120"/>
              </a:rPr>
              <a:t>Quincenal: el resto (mercancías no alimenticias y servicios).</a:t>
            </a:r>
            <a:endParaRPr lang="en-US" sz="950" dirty="0"/>
          </a:p>
          <a:p>
            <a:pPr marL="0" indent="0">
              <a:buNone/>
            </a:pPr>
            <a:r>
              <a:rPr lang="en-US" sz="950" dirty="0">
                <a:solidFill>
                  <a:srgbClr val="1E293B"/>
                </a:solidFill>
                <a:latin typeface="Calibri" pitchFamily="34" charset="0"/>
                <a:ea typeface="Calibri" pitchFamily="34" charset="-122"/>
                <a:cs typeface="Calibri" pitchFamily="34" charset="-120"/>
              </a:rPr>
              <a:t>Calendario especial: educación y renta de vivienda.</a:t>
            </a:r>
            <a:endParaRPr lang="en-US" sz="950" dirty="0"/>
          </a:p>
        </p:txBody>
      </p:sp>
      <p:sp>
        <p:nvSpPr>
          <p:cNvPr id="8" name="Shape 6"/>
          <p:cNvSpPr/>
          <p:nvPr/>
        </p:nvSpPr>
        <p:spPr>
          <a:xfrm>
            <a:off x="4736592" y="1417320"/>
            <a:ext cx="4261104" cy="1161288"/>
          </a:xfrm>
          <a:prstGeom prst="roundRect">
            <a:avLst>
              <a:gd name="adj" fmla="val 9449"/>
            </a:avLst>
          </a:prstGeom>
          <a:solidFill>
            <a:srgbClr val="E0F7F5"/>
          </a:solidFill>
          <a:ln/>
          <a:effectLst>
            <a:outerShdw blurRad="50800" dist="25400" dir="2700000" algn="bl" rotWithShape="0">
              <a:srgbClr val="000000">
                <a:alpha val="10000"/>
              </a:srgbClr>
            </a:outerShdw>
          </a:effectLst>
        </p:spPr>
      </p:sp>
      <p:sp>
        <p:nvSpPr>
          <p:cNvPr id="9" name="Text 7"/>
          <p:cNvSpPr/>
          <p:nvPr/>
        </p:nvSpPr>
        <p:spPr>
          <a:xfrm>
            <a:off x="4873752" y="1481328"/>
            <a:ext cx="4005072" cy="256032"/>
          </a:xfrm>
          <a:prstGeom prst="rect">
            <a:avLst/>
          </a:prstGeom>
          <a:noFill/>
          <a:ln/>
        </p:spPr>
        <p:txBody>
          <a:bodyPr wrap="square" rtlCol="0" anchor="ctr"/>
          <a:lstStyle/>
          <a:p>
            <a:pPr marL="0" indent="0">
              <a:buNone/>
            </a:pPr>
            <a:r>
              <a:rPr lang="en-US" sz="1150" b="1" dirty="0">
                <a:solidFill>
                  <a:srgbClr val="0B7A75"/>
                </a:solidFill>
                <a:latin typeface="Cambria" pitchFamily="34" charset="0"/>
                <a:ea typeface="Cambria" pitchFamily="34" charset="-122"/>
                <a:cs typeface="Cambria" pitchFamily="34" charset="-120"/>
              </a:rPr>
              <a:t>Precios que se cotizan</a:t>
            </a:r>
            <a:endParaRPr lang="en-US" sz="1150" dirty="0"/>
          </a:p>
        </p:txBody>
      </p:sp>
      <p:sp>
        <p:nvSpPr>
          <p:cNvPr id="10" name="Text 8"/>
          <p:cNvSpPr/>
          <p:nvPr/>
        </p:nvSpPr>
        <p:spPr>
          <a:xfrm>
            <a:off x="4873752" y="1783080"/>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Precio al menudeo, de contado, con todos los impuestos incluidos. Se incluyen descuentos por ofertas no condicionadas (precio rebajado sin requisito de compra mínima o membresía).</a:t>
            </a:r>
            <a:endParaRPr lang="en-US" sz="950" dirty="0"/>
          </a:p>
        </p:txBody>
      </p:sp>
      <p:sp>
        <p:nvSpPr>
          <p:cNvPr id="11" name="Shape 9"/>
          <p:cNvSpPr/>
          <p:nvPr/>
        </p:nvSpPr>
        <p:spPr>
          <a:xfrm>
            <a:off x="274320" y="2679192"/>
            <a:ext cx="4261104" cy="1161288"/>
          </a:xfrm>
          <a:prstGeom prst="roundRect">
            <a:avLst>
              <a:gd name="adj" fmla="val 9449"/>
            </a:avLst>
          </a:prstGeom>
          <a:solidFill>
            <a:srgbClr val="FFF1F2"/>
          </a:solidFill>
          <a:ln/>
          <a:effectLst>
            <a:outerShdw blurRad="50800" dist="25400" dir="2700000" algn="bl" rotWithShape="0">
              <a:srgbClr val="000000">
                <a:alpha val="10000"/>
              </a:srgbClr>
            </a:outerShdw>
          </a:effectLst>
        </p:spPr>
      </p:sp>
      <p:sp>
        <p:nvSpPr>
          <p:cNvPr id="12" name="Text 10"/>
          <p:cNvSpPr/>
          <p:nvPr/>
        </p:nvSpPr>
        <p:spPr>
          <a:xfrm>
            <a:off x="411480" y="2743200"/>
            <a:ext cx="4005072" cy="256032"/>
          </a:xfrm>
          <a:prstGeom prst="rect">
            <a:avLst/>
          </a:prstGeom>
          <a:noFill/>
          <a:ln/>
        </p:spPr>
        <p:txBody>
          <a:bodyPr wrap="square" rtlCol="0" anchor="ctr"/>
          <a:lstStyle/>
          <a:p>
            <a:pPr marL="0" indent="0">
              <a:buNone/>
            </a:pPr>
            <a:r>
              <a:rPr lang="en-US" sz="1150" b="1" dirty="0">
                <a:solidFill>
                  <a:srgbClr val="E11D48"/>
                </a:solidFill>
                <a:latin typeface="Cambria" pitchFamily="34" charset="0"/>
                <a:ea typeface="Cambria" pitchFamily="34" charset="-122"/>
                <a:cs typeface="Cambria" pitchFamily="34" charset="-120"/>
              </a:rPr>
              <a:t>Precios que NO se cotizan</a:t>
            </a:r>
            <a:endParaRPr lang="en-US" sz="1150" dirty="0"/>
          </a:p>
        </p:txBody>
      </p:sp>
      <p:sp>
        <p:nvSpPr>
          <p:cNvPr id="13" name="Text 11"/>
          <p:cNvSpPr/>
          <p:nvPr/>
        </p:nvSpPr>
        <p:spPr>
          <a:xfrm>
            <a:off x="411480" y="3044952"/>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Precios al mayoreo, en liquidación, ofertas condicionadas (3x2, pague 2 lleve 3) o precios para grandes volúmenes del mismo producto. Tampoco precios de establecimientos temporalmente cerrados.</a:t>
            </a:r>
            <a:endParaRPr lang="en-US" sz="950" dirty="0"/>
          </a:p>
        </p:txBody>
      </p:sp>
      <p:sp>
        <p:nvSpPr>
          <p:cNvPr id="14" name="Shape 12"/>
          <p:cNvSpPr/>
          <p:nvPr/>
        </p:nvSpPr>
        <p:spPr>
          <a:xfrm>
            <a:off x="4736592" y="2679192"/>
            <a:ext cx="4261104" cy="1161288"/>
          </a:xfrm>
          <a:prstGeom prst="roundRect">
            <a:avLst>
              <a:gd name="adj" fmla="val 9449"/>
            </a:avLst>
          </a:prstGeom>
          <a:solidFill>
            <a:srgbClr val="F5F3FF"/>
          </a:solidFill>
          <a:ln/>
          <a:effectLst>
            <a:outerShdw blurRad="50800" dist="25400" dir="2700000" algn="bl" rotWithShape="0">
              <a:srgbClr val="000000">
                <a:alpha val="10000"/>
              </a:srgbClr>
            </a:outerShdw>
          </a:effectLst>
        </p:spPr>
      </p:sp>
      <p:sp>
        <p:nvSpPr>
          <p:cNvPr id="15" name="Text 13"/>
          <p:cNvSpPr/>
          <p:nvPr/>
        </p:nvSpPr>
        <p:spPr>
          <a:xfrm>
            <a:off x="4873752" y="2743200"/>
            <a:ext cx="4005072" cy="256032"/>
          </a:xfrm>
          <a:prstGeom prst="rect">
            <a:avLst/>
          </a:prstGeom>
          <a:noFill/>
          <a:ln/>
        </p:spPr>
        <p:txBody>
          <a:bodyPr wrap="square" rtlCol="0" anchor="ctr"/>
          <a:lstStyle/>
          <a:p>
            <a:pPr marL="0" indent="0">
              <a:buNone/>
            </a:pPr>
            <a:r>
              <a:rPr lang="en-US" sz="1150" b="1" dirty="0">
                <a:solidFill>
                  <a:srgbClr val="7C3AED"/>
                </a:solidFill>
                <a:latin typeface="Cambria" pitchFamily="34" charset="0"/>
                <a:ea typeface="Cambria" pitchFamily="34" charset="-122"/>
                <a:cs typeface="Cambria" pitchFamily="34" charset="-120"/>
              </a:rPr>
              <a:t>Tratamiento de precios faltantes</a:t>
            </a:r>
            <a:endParaRPr lang="en-US" sz="1150" dirty="0"/>
          </a:p>
        </p:txBody>
      </p:sp>
      <p:sp>
        <p:nvSpPr>
          <p:cNvPr id="16" name="Text 14"/>
          <p:cNvSpPr/>
          <p:nvPr/>
        </p:nvSpPr>
        <p:spPr>
          <a:xfrm>
            <a:off x="4873752" y="3044952"/>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Si el producto no está disponible, se hacen 3-5 visitas adicionales. De no encontrarse, se imputa la variación de la muestra presente del genérico en esa área ('imputación de la media global').</a:t>
            </a:r>
            <a:endParaRPr lang="en-US" sz="950" dirty="0"/>
          </a:p>
        </p:txBody>
      </p:sp>
      <p:sp>
        <p:nvSpPr>
          <p:cNvPr id="17" name="Shape 15"/>
          <p:cNvSpPr/>
          <p:nvPr/>
        </p:nvSpPr>
        <p:spPr>
          <a:xfrm>
            <a:off x="274320" y="3941064"/>
            <a:ext cx="4261104" cy="1161288"/>
          </a:xfrm>
          <a:prstGeom prst="roundRect">
            <a:avLst>
              <a:gd name="adj" fmla="val 9449"/>
            </a:avLst>
          </a:prstGeom>
          <a:solidFill>
            <a:srgbClr val="FFFBEB"/>
          </a:solidFill>
          <a:ln/>
          <a:effectLst>
            <a:outerShdw blurRad="50800" dist="25400" dir="2700000" algn="bl" rotWithShape="0">
              <a:srgbClr val="000000">
                <a:alpha val="10000"/>
              </a:srgbClr>
            </a:outerShdw>
          </a:effectLst>
        </p:spPr>
      </p:sp>
      <p:sp>
        <p:nvSpPr>
          <p:cNvPr id="18" name="Text 16"/>
          <p:cNvSpPr/>
          <p:nvPr/>
        </p:nvSpPr>
        <p:spPr>
          <a:xfrm>
            <a:off x="411480" y="4005072"/>
            <a:ext cx="4005072" cy="256032"/>
          </a:xfrm>
          <a:prstGeom prst="rect">
            <a:avLst/>
          </a:prstGeom>
          <a:noFill/>
          <a:ln/>
        </p:spPr>
        <p:txBody>
          <a:bodyPr wrap="square" rtlCol="0" anchor="ctr"/>
          <a:lstStyle/>
          <a:p>
            <a:pPr marL="0" indent="0">
              <a:buNone/>
            </a:pPr>
            <a:r>
              <a:rPr lang="en-US" sz="1150" b="1" dirty="0">
                <a:solidFill>
                  <a:srgbClr val="D97706"/>
                </a:solidFill>
                <a:latin typeface="Cambria" pitchFamily="34" charset="0"/>
                <a:ea typeface="Cambria" pitchFamily="34" charset="-122"/>
                <a:cs typeface="Cambria" pitchFamily="34" charset="-120"/>
              </a:rPr>
              <a:t>Ajuste por cambio de calidad</a:t>
            </a:r>
            <a:endParaRPr lang="en-US" sz="1150" dirty="0"/>
          </a:p>
        </p:txBody>
      </p:sp>
      <p:sp>
        <p:nvSpPr>
          <p:cNvPr id="19" name="Text 17"/>
          <p:cNvSpPr/>
          <p:nvPr/>
        </p:nvSpPr>
        <p:spPr>
          <a:xfrm>
            <a:off x="411480" y="4306824"/>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Si el producto cambia de características (tamaño, calidad), se ajusta el precio para aislar el cambio de precio puro. Métodos: costeo directo (ajuste explícito) o imputación de la media.</a:t>
            </a:r>
            <a:endParaRPr lang="en-US" sz="950" dirty="0"/>
          </a:p>
        </p:txBody>
      </p:sp>
      <p:sp>
        <p:nvSpPr>
          <p:cNvPr id="20" name="Shape 18"/>
          <p:cNvSpPr/>
          <p:nvPr/>
        </p:nvSpPr>
        <p:spPr>
          <a:xfrm>
            <a:off x="4736592" y="3941064"/>
            <a:ext cx="4261104" cy="1161288"/>
          </a:xfrm>
          <a:prstGeom prst="roundRect">
            <a:avLst>
              <a:gd name="adj" fmla="val 9449"/>
            </a:avLst>
          </a:prstGeom>
          <a:solidFill>
            <a:srgbClr val="F0FDF4"/>
          </a:solidFill>
          <a:ln/>
          <a:effectLst>
            <a:outerShdw blurRad="50800" dist="25400" dir="2700000" algn="bl" rotWithShape="0">
              <a:srgbClr val="000000">
                <a:alpha val="10000"/>
              </a:srgbClr>
            </a:outerShdw>
          </a:effectLst>
        </p:spPr>
      </p:sp>
      <p:sp>
        <p:nvSpPr>
          <p:cNvPr id="21" name="Text 19"/>
          <p:cNvSpPr/>
          <p:nvPr/>
        </p:nvSpPr>
        <p:spPr>
          <a:xfrm>
            <a:off x="4873752" y="4005072"/>
            <a:ext cx="4005072" cy="256032"/>
          </a:xfrm>
          <a:prstGeom prst="rect">
            <a:avLst/>
          </a:prstGeom>
          <a:noFill/>
          <a:ln/>
        </p:spPr>
        <p:txBody>
          <a:bodyPr wrap="square" rtlCol="0" anchor="ctr"/>
          <a:lstStyle/>
          <a:p>
            <a:pPr marL="0" indent="0">
              <a:buNone/>
            </a:pPr>
            <a:r>
              <a:rPr lang="en-US" sz="1150" b="1" dirty="0">
                <a:solidFill>
                  <a:srgbClr val="16A34A"/>
                </a:solidFill>
                <a:latin typeface="Cambria" pitchFamily="34" charset="0"/>
                <a:ea typeface="Cambria" pitchFamily="34" charset="-122"/>
                <a:cs typeface="Cambria" pitchFamily="34" charset="-120"/>
              </a:rPr>
              <a:t>Registro y validación</a:t>
            </a:r>
            <a:endParaRPr lang="en-US" sz="1150" dirty="0"/>
          </a:p>
        </p:txBody>
      </p:sp>
      <p:sp>
        <p:nvSpPr>
          <p:cNvPr id="22" name="Text 20"/>
          <p:cNvSpPr/>
          <p:nvPr/>
        </p:nvSpPr>
        <p:spPr>
          <a:xfrm>
            <a:off x="4873752" y="4306824"/>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investigadores registran precios en dispositivos móviles y los sincronizan vía internet. Supervisores en oficinas centrales validan la información antes del cálculo del índice.</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Del diseño estadístico a la cotización: el proceso completo</a:t>
            </a:r>
            <a:endParaRPr lang="en-US" sz="2200" dirty="0"/>
          </a:p>
        </p:txBody>
      </p:sp>
      <p:sp>
        <p:nvSpPr>
          <p:cNvPr id="4" name="Shape 2"/>
          <p:cNvSpPr/>
          <p:nvPr/>
        </p:nvSpPr>
        <p:spPr>
          <a:xfrm>
            <a:off x="365760" y="1042416"/>
            <a:ext cx="2670048" cy="1700784"/>
          </a:xfrm>
          <a:prstGeom prst="roundRect">
            <a:avLst>
              <a:gd name="adj" fmla="val 3226"/>
            </a:avLst>
          </a:prstGeom>
          <a:solidFill>
            <a:srgbClr val="EEF2FF"/>
          </a:solidFill>
          <a:ln/>
        </p:spPr>
      </p:sp>
      <p:sp>
        <p:nvSpPr>
          <p:cNvPr id="5" name="Shape 3"/>
          <p:cNvSpPr/>
          <p:nvPr/>
        </p:nvSpPr>
        <p:spPr>
          <a:xfrm>
            <a:off x="493776" y="1170432"/>
            <a:ext cx="292608" cy="292608"/>
          </a:xfrm>
          <a:prstGeom prst="ellipse">
            <a:avLst/>
          </a:prstGeom>
          <a:solidFill>
            <a:srgbClr val="1A2F5A"/>
          </a:solidFill>
          <a:ln/>
        </p:spPr>
      </p:sp>
      <p:sp>
        <p:nvSpPr>
          <p:cNvPr id="6" name="Text 4"/>
          <p:cNvSpPr/>
          <p:nvPr/>
        </p:nvSpPr>
        <p:spPr>
          <a:xfrm>
            <a:off x="493776" y="11704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877824" y="1152144"/>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Muestreo aleatorio</a:t>
            </a:r>
            <a:endParaRPr lang="en-US" sz="1150" dirty="0"/>
          </a:p>
        </p:txBody>
      </p:sp>
      <p:sp>
        <p:nvSpPr>
          <p:cNvPr id="8" name="Text 6"/>
          <p:cNvSpPr/>
          <p:nvPr/>
        </p:nvSpPr>
        <p:spPr>
          <a:xfrm>
            <a:off x="512064" y="1700784"/>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Selección de los puntos de venta: estratificada por ciudad y tipo de mercado para 235 genéricos; dirigida para los 57 sin marco muestral.</a:t>
            </a:r>
            <a:endParaRPr lang="en-US" sz="950" dirty="0"/>
          </a:p>
        </p:txBody>
      </p:sp>
      <p:sp>
        <p:nvSpPr>
          <p:cNvPr id="9" name="Shape 7"/>
          <p:cNvSpPr/>
          <p:nvPr/>
        </p:nvSpPr>
        <p:spPr>
          <a:xfrm>
            <a:off x="3044952" y="1792224"/>
            <a:ext cx="182880" cy="182880"/>
          </a:xfrm>
          <a:prstGeom prst="rightArrow">
            <a:avLst/>
          </a:prstGeom>
          <a:solidFill>
            <a:srgbClr val="64748B"/>
          </a:solidFill>
          <a:ln/>
        </p:spPr>
      </p:sp>
      <p:sp>
        <p:nvSpPr>
          <p:cNvPr id="10" name="Shape 8"/>
          <p:cNvSpPr/>
          <p:nvPr/>
        </p:nvSpPr>
        <p:spPr>
          <a:xfrm>
            <a:off x="3236976" y="1042416"/>
            <a:ext cx="2670048" cy="1700784"/>
          </a:xfrm>
          <a:prstGeom prst="roundRect">
            <a:avLst>
              <a:gd name="adj" fmla="val 3226"/>
            </a:avLst>
          </a:prstGeom>
          <a:solidFill>
            <a:srgbClr val="EEF2FF"/>
          </a:solidFill>
          <a:ln/>
        </p:spPr>
      </p:sp>
      <p:sp>
        <p:nvSpPr>
          <p:cNvPr id="11" name="Shape 9"/>
          <p:cNvSpPr/>
          <p:nvPr/>
        </p:nvSpPr>
        <p:spPr>
          <a:xfrm>
            <a:off x="3364992" y="1170432"/>
            <a:ext cx="292608" cy="292608"/>
          </a:xfrm>
          <a:prstGeom prst="ellipse">
            <a:avLst/>
          </a:prstGeom>
          <a:solidFill>
            <a:srgbClr val="1A2F5A"/>
          </a:solidFill>
          <a:ln/>
        </p:spPr>
      </p:sp>
      <p:sp>
        <p:nvSpPr>
          <p:cNvPr id="12" name="Text 10"/>
          <p:cNvSpPr/>
          <p:nvPr/>
        </p:nvSpPr>
        <p:spPr>
          <a:xfrm>
            <a:off x="3364992" y="11704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3749040" y="1152144"/>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Lista de especificaciones</a:t>
            </a:r>
            <a:endParaRPr lang="en-US" sz="1150" dirty="0"/>
          </a:p>
        </p:txBody>
      </p:sp>
      <p:sp>
        <p:nvSpPr>
          <p:cNvPr id="14" name="Text 12"/>
          <p:cNvSpPr/>
          <p:nvPr/>
        </p:nvSpPr>
        <p:spPr>
          <a:xfrm>
            <a:off x="3383280" y="1700784"/>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Se define qué cotizar siguiendo los patrones de consumo y hábitos de la población (Catálogo de Variedades Representativas).</a:t>
            </a:r>
            <a:endParaRPr lang="en-US" sz="950" dirty="0"/>
          </a:p>
        </p:txBody>
      </p:sp>
      <p:sp>
        <p:nvSpPr>
          <p:cNvPr id="15" name="Shape 13"/>
          <p:cNvSpPr/>
          <p:nvPr/>
        </p:nvSpPr>
        <p:spPr>
          <a:xfrm>
            <a:off x="5916168" y="1792224"/>
            <a:ext cx="182880" cy="182880"/>
          </a:xfrm>
          <a:prstGeom prst="rightArrow">
            <a:avLst/>
          </a:prstGeom>
          <a:solidFill>
            <a:srgbClr val="64748B"/>
          </a:solidFill>
          <a:ln/>
        </p:spPr>
      </p:sp>
      <p:sp>
        <p:nvSpPr>
          <p:cNvPr id="16" name="Shape 14"/>
          <p:cNvSpPr/>
          <p:nvPr/>
        </p:nvSpPr>
        <p:spPr>
          <a:xfrm>
            <a:off x="6108192" y="1042416"/>
            <a:ext cx="2670048" cy="1700784"/>
          </a:xfrm>
          <a:prstGeom prst="roundRect">
            <a:avLst>
              <a:gd name="adj" fmla="val 3226"/>
            </a:avLst>
          </a:prstGeom>
          <a:solidFill>
            <a:srgbClr val="EEF2FF"/>
          </a:solidFill>
          <a:ln/>
        </p:spPr>
      </p:sp>
      <p:sp>
        <p:nvSpPr>
          <p:cNvPr id="17" name="Shape 15"/>
          <p:cNvSpPr/>
          <p:nvPr/>
        </p:nvSpPr>
        <p:spPr>
          <a:xfrm>
            <a:off x="6236208" y="1170432"/>
            <a:ext cx="292608" cy="292608"/>
          </a:xfrm>
          <a:prstGeom prst="ellipse">
            <a:avLst/>
          </a:prstGeom>
          <a:solidFill>
            <a:srgbClr val="1A2F5A"/>
          </a:solidFill>
          <a:ln/>
        </p:spPr>
      </p:sp>
      <p:sp>
        <p:nvSpPr>
          <p:cNvPr id="18" name="Text 16"/>
          <p:cNvSpPr/>
          <p:nvPr/>
        </p:nvSpPr>
        <p:spPr>
          <a:xfrm>
            <a:off x="6236208" y="11704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6620256" y="1152144"/>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Capacitación</a:t>
            </a:r>
            <a:endParaRPr lang="en-US" sz="1150" dirty="0"/>
          </a:p>
        </p:txBody>
      </p:sp>
      <p:sp>
        <p:nvSpPr>
          <p:cNvPr id="20" name="Text 18"/>
          <p:cNvSpPr/>
          <p:nvPr/>
        </p:nvSpPr>
        <p:spPr>
          <a:xfrm>
            <a:off x="6254496" y="1700784"/>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El personal investigador de precios del INEGI se capacita y certifica antes de salir al trabajo de campo.</a:t>
            </a:r>
            <a:endParaRPr lang="en-US" sz="950" dirty="0"/>
          </a:p>
        </p:txBody>
      </p:sp>
      <p:sp>
        <p:nvSpPr>
          <p:cNvPr id="21" name="Shape 19"/>
          <p:cNvSpPr/>
          <p:nvPr/>
        </p:nvSpPr>
        <p:spPr>
          <a:xfrm>
            <a:off x="365760" y="3127248"/>
            <a:ext cx="2670048" cy="1700784"/>
          </a:xfrm>
          <a:prstGeom prst="roundRect">
            <a:avLst>
              <a:gd name="adj" fmla="val 3226"/>
            </a:avLst>
          </a:prstGeom>
          <a:solidFill>
            <a:srgbClr val="E0F7F5"/>
          </a:solidFill>
          <a:ln/>
        </p:spPr>
      </p:sp>
      <p:sp>
        <p:nvSpPr>
          <p:cNvPr id="22" name="Shape 20"/>
          <p:cNvSpPr/>
          <p:nvPr/>
        </p:nvSpPr>
        <p:spPr>
          <a:xfrm>
            <a:off x="493776" y="3255264"/>
            <a:ext cx="292608" cy="292608"/>
          </a:xfrm>
          <a:prstGeom prst="ellipse">
            <a:avLst/>
          </a:prstGeom>
          <a:solidFill>
            <a:srgbClr val="0B7A75"/>
          </a:solidFill>
          <a:ln/>
        </p:spPr>
      </p:sp>
      <p:sp>
        <p:nvSpPr>
          <p:cNvPr id="23" name="Text 21"/>
          <p:cNvSpPr/>
          <p:nvPr/>
        </p:nvSpPr>
        <p:spPr>
          <a:xfrm>
            <a:off x="493776" y="32552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p:nvPr/>
        </p:nvSpPr>
        <p:spPr>
          <a:xfrm>
            <a:off x="859536" y="3153934"/>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Proceso de </a:t>
            </a:r>
            <a:r>
              <a:rPr lang="en-US" sz="1150" b="1" dirty="0" err="1">
                <a:solidFill>
                  <a:srgbClr val="1E293B"/>
                </a:solidFill>
                <a:latin typeface="Calibri" pitchFamily="34" charset="0"/>
                <a:ea typeface="Calibri" pitchFamily="34" charset="-122"/>
                <a:cs typeface="Calibri" pitchFamily="34" charset="-120"/>
              </a:rPr>
              <a:t>investigación</a:t>
            </a:r>
            <a:endParaRPr lang="en-US" sz="1150" dirty="0"/>
          </a:p>
        </p:txBody>
      </p:sp>
      <p:sp>
        <p:nvSpPr>
          <p:cNvPr id="25" name="Text 23"/>
          <p:cNvSpPr/>
          <p:nvPr/>
        </p:nvSpPr>
        <p:spPr>
          <a:xfrm>
            <a:off x="512064" y="3785616"/>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Visita al establecimiento, contacto con el encargado, identificación del artículo más vendido del genérico y registro de sus características en el DCM.</a:t>
            </a:r>
            <a:endParaRPr lang="en-US" sz="950" dirty="0"/>
          </a:p>
        </p:txBody>
      </p:sp>
      <p:sp>
        <p:nvSpPr>
          <p:cNvPr id="26" name="Shape 24"/>
          <p:cNvSpPr/>
          <p:nvPr/>
        </p:nvSpPr>
        <p:spPr>
          <a:xfrm>
            <a:off x="3044952" y="3877056"/>
            <a:ext cx="182880" cy="182880"/>
          </a:xfrm>
          <a:prstGeom prst="rightArrow">
            <a:avLst/>
          </a:prstGeom>
          <a:solidFill>
            <a:srgbClr val="64748B"/>
          </a:solidFill>
          <a:ln/>
        </p:spPr>
      </p:sp>
      <p:sp>
        <p:nvSpPr>
          <p:cNvPr id="27" name="Shape 25"/>
          <p:cNvSpPr/>
          <p:nvPr/>
        </p:nvSpPr>
        <p:spPr>
          <a:xfrm>
            <a:off x="3236976" y="3127248"/>
            <a:ext cx="2670048" cy="1700784"/>
          </a:xfrm>
          <a:prstGeom prst="roundRect">
            <a:avLst>
              <a:gd name="adj" fmla="val 3226"/>
            </a:avLst>
          </a:prstGeom>
          <a:solidFill>
            <a:srgbClr val="E0F7F5"/>
          </a:solidFill>
          <a:ln/>
        </p:spPr>
      </p:sp>
      <p:sp>
        <p:nvSpPr>
          <p:cNvPr id="28" name="Shape 26"/>
          <p:cNvSpPr/>
          <p:nvPr/>
        </p:nvSpPr>
        <p:spPr>
          <a:xfrm>
            <a:off x="3364992" y="3255264"/>
            <a:ext cx="292608" cy="292608"/>
          </a:xfrm>
          <a:prstGeom prst="ellipse">
            <a:avLst/>
          </a:prstGeom>
          <a:solidFill>
            <a:srgbClr val="0B7A75"/>
          </a:solidFill>
          <a:ln/>
        </p:spPr>
      </p:sp>
      <p:sp>
        <p:nvSpPr>
          <p:cNvPr id="29" name="Text 27"/>
          <p:cNvSpPr/>
          <p:nvPr/>
        </p:nvSpPr>
        <p:spPr>
          <a:xfrm>
            <a:off x="3364992" y="32552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3749040" y="3236976"/>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Cotización periódica</a:t>
            </a:r>
            <a:endParaRPr lang="en-US" sz="1150" dirty="0"/>
          </a:p>
        </p:txBody>
      </p:sp>
      <p:sp>
        <p:nvSpPr>
          <p:cNvPr id="31" name="Text 29"/>
          <p:cNvSpPr/>
          <p:nvPr/>
        </p:nvSpPr>
        <p:spPr>
          <a:xfrm>
            <a:off x="3383280" y="3785616"/>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Seguimiento del mismo artículo en el mismo establecimiento: semanal, quincenal o con calendario especial según el genérico.</a:t>
            </a:r>
            <a:endParaRPr lang="en-US" sz="950" dirty="0"/>
          </a:p>
        </p:txBody>
      </p:sp>
      <p:sp>
        <p:nvSpPr>
          <p:cNvPr id="32" name="Shape 30"/>
          <p:cNvSpPr/>
          <p:nvPr/>
        </p:nvSpPr>
        <p:spPr>
          <a:xfrm>
            <a:off x="5916168" y="3877056"/>
            <a:ext cx="182880" cy="182880"/>
          </a:xfrm>
          <a:prstGeom prst="rightArrow">
            <a:avLst/>
          </a:prstGeom>
          <a:solidFill>
            <a:srgbClr val="64748B"/>
          </a:solidFill>
          <a:ln/>
        </p:spPr>
      </p:sp>
      <p:sp>
        <p:nvSpPr>
          <p:cNvPr id="33" name="Shape 31"/>
          <p:cNvSpPr/>
          <p:nvPr/>
        </p:nvSpPr>
        <p:spPr>
          <a:xfrm>
            <a:off x="6108192" y="3127248"/>
            <a:ext cx="2670048" cy="1700784"/>
          </a:xfrm>
          <a:prstGeom prst="roundRect">
            <a:avLst>
              <a:gd name="adj" fmla="val 3226"/>
            </a:avLst>
          </a:prstGeom>
          <a:solidFill>
            <a:srgbClr val="E0F7F5"/>
          </a:solidFill>
          <a:ln/>
        </p:spPr>
      </p:sp>
      <p:sp>
        <p:nvSpPr>
          <p:cNvPr id="34" name="Shape 32"/>
          <p:cNvSpPr/>
          <p:nvPr/>
        </p:nvSpPr>
        <p:spPr>
          <a:xfrm>
            <a:off x="6236208" y="3255264"/>
            <a:ext cx="292608" cy="292608"/>
          </a:xfrm>
          <a:prstGeom prst="ellipse">
            <a:avLst/>
          </a:prstGeom>
          <a:solidFill>
            <a:srgbClr val="0B7A75"/>
          </a:solidFill>
          <a:ln/>
        </p:spPr>
      </p:sp>
      <p:sp>
        <p:nvSpPr>
          <p:cNvPr id="35" name="Text 33"/>
          <p:cNvSpPr/>
          <p:nvPr/>
        </p:nvSpPr>
        <p:spPr>
          <a:xfrm>
            <a:off x="6236208" y="32552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4"/>
          <p:cNvSpPr/>
          <p:nvPr/>
        </p:nvSpPr>
        <p:spPr>
          <a:xfrm>
            <a:off x="6620256" y="3236976"/>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Validación</a:t>
            </a:r>
            <a:endParaRPr lang="en-US" sz="1150" dirty="0"/>
          </a:p>
        </p:txBody>
      </p:sp>
      <p:sp>
        <p:nvSpPr>
          <p:cNvPr id="37" name="Text 35"/>
          <p:cNvSpPr/>
          <p:nvPr/>
        </p:nvSpPr>
        <p:spPr>
          <a:xfrm>
            <a:off x="6254496" y="3785616"/>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Supervisores y Oficinas Centrales sincronizan y validan diariamente la información antes del cálculo de los índices.</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De las especificaciones al índice elemental</a:t>
            </a:r>
            <a:endParaRPr lang="en-US" sz="2200" dirty="0"/>
          </a:p>
        </p:txBody>
      </p:sp>
      <p:sp>
        <p:nvSpPr>
          <p:cNvPr id="4" name="Shape 2"/>
          <p:cNvSpPr/>
          <p:nvPr/>
        </p:nvSpPr>
        <p:spPr>
          <a:xfrm>
            <a:off x="365760" y="987552"/>
            <a:ext cx="8412480" cy="749808"/>
          </a:xfrm>
          <a:prstGeom prst="roundRect">
            <a:avLst>
              <a:gd name="adj" fmla="val 7317"/>
            </a:avLst>
          </a:prstGeom>
          <a:solidFill>
            <a:srgbClr val="EEF2FF"/>
          </a:solidFill>
          <a:ln/>
        </p:spPr>
        <p:txBody>
          <a:bodyPr/>
          <a:lstStyle/>
          <a:p>
            <a:endParaRPr/>
          </a:p>
        </p:txBody>
      </p:sp>
      <p:sp>
        <p:nvSpPr>
          <p:cNvPr id="5" name="Text 3"/>
          <p:cNvSpPr/>
          <p:nvPr/>
        </p:nvSpPr>
        <p:spPr>
          <a:xfrm>
            <a:off x="530352" y="987552"/>
            <a:ext cx="8083296" cy="749808"/>
          </a:xfrm>
          <a:prstGeom prst="rect">
            <a:avLst/>
          </a:prstGeom>
          <a:noFill/>
          <a:ln/>
        </p:spPr>
        <p:txBody>
          <a:bodyPr wrap="square" lIns="0" tIns="0" rIns="0" bIns="0" rtlCol="0" anchor="ctr"/>
          <a:lstStyle/>
          <a:p>
            <a:pPr marL="0" indent="0">
              <a:buNone/>
            </a:pPr>
            <a:r>
              <a:rPr lang="en-US" sz="1100" b="1" dirty="0">
                <a:solidFill>
                  <a:srgbClr val="1A2F5A"/>
                </a:solidFill>
                <a:latin typeface="Calibri" pitchFamily="34" charset="0"/>
                <a:ea typeface="Calibri" pitchFamily="34" charset="-122"/>
                <a:cs typeface="Calibri" pitchFamily="34" charset="-120"/>
              </a:rPr>
              <a:t>Índice elemental: </a:t>
            </a:r>
            <a:r>
              <a:rPr lang="en-US" sz="1100" dirty="0">
                <a:solidFill>
                  <a:srgbClr val="1E293B"/>
                </a:solidFill>
                <a:latin typeface="Calibri" pitchFamily="34" charset="0"/>
                <a:ea typeface="Calibri" pitchFamily="34" charset="-122"/>
                <a:cs typeface="Calibri" pitchFamily="34" charset="-120"/>
              </a:rPr>
              <a:t>índice de precios de un agregado elemental (genérico × área geográfica × tipo de mercado). Es la materia prima del INPC: su calidad determina la calidad de todo el índice.</a:t>
            </a:r>
            <a:endParaRPr lang="en-US" sz="1100" dirty="0"/>
          </a:p>
        </p:txBody>
      </p:sp>
      <p:sp>
        <p:nvSpPr>
          <p:cNvPr id="6" name="Text 4"/>
          <p:cNvSpPr/>
          <p:nvPr/>
        </p:nvSpPr>
        <p:spPr>
          <a:xfrm>
            <a:off x="365760" y="1901952"/>
            <a:ext cx="8412480" cy="292608"/>
          </a:xfrm>
          <a:prstGeom prst="rect">
            <a:avLst/>
          </a:prstGeom>
          <a:noFill/>
          <a:ln/>
        </p:spPr>
        <p:txBody>
          <a:bodyPr wrap="square" lIns="0" tIns="0" rIns="0" bIns="0" rtlCol="0" anchor="ctr"/>
          <a:lstStyle/>
          <a:p>
            <a:pPr marL="0" indent="0">
              <a:buNone/>
            </a:pPr>
            <a:r>
              <a:rPr lang="en-US" sz="1300" b="1" dirty="0">
                <a:solidFill>
                  <a:srgbClr val="1A2F5A"/>
                </a:solidFill>
                <a:latin typeface="Calibri" pitchFamily="34" charset="0"/>
                <a:ea typeface="Calibri" pitchFamily="34" charset="-122"/>
                <a:cs typeface="Calibri" pitchFamily="34" charset="-120"/>
              </a:rPr>
              <a:t>Índice de Jevons (índice elemental probabilístico)</a:t>
            </a:r>
            <a:endParaRPr lang="en-US" sz="1300" dirty="0"/>
          </a:p>
        </p:txBody>
      </p:sp>
      <p:sp>
        <p:nvSpPr>
          <p:cNvPr id="7" name="Shape 5"/>
          <p:cNvSpPr/>
          <p:nvPr/>
        </p:nvSpPr>
        <p:spPr>
          <a:xfrm>
            <a:off x="365760" y="2231136"/>
            <a:ext cx="8412480" cy="603504"/>
          </a:xfrm>
          <a:prstGeom prst="roundRect">
            <a:avLst>
              <a:gd name="adj" fmla="val 9091"/>
            </a:avLst>
          </a:prstGeom>
          <a:solidFill>
            <a:srgbClr val="F8FAFC"/>
          </a:solidFill>
          <a:ln w="9525">
            <a:solidFill>
              <a:srgbClr val="CBD5E1"/>
            </a:solidFill>
            <a:prstDash val="solid"/>
          </a:ln>
        </p:spPr>
        <p:txBody>
          <a:bodyPr/>
          <a:lstStyle/>
          <a:p>
            <a:endParaRPr/>
          </a:p>
        </p:txBody>
      </p:sp>
      <p:sp>
        <p:nvSpPr>
          <p:cNvPr id="8" name="Text 6"/>
          <p:cNvSpPr/>
          <p:nvPr/>
        </p:nvSpPr>
        <p:spPr>
          <a:xfrm>
            <a:off x="365760" y="2231136"/>
            <a:ext cx="8412480" cy="603504"/>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65760" y="2999232"/>
            <a:ext cx="40233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Componentes:</a:t>
            </a:r>
            <a:endParaRPr lang="en-US" sz="1200" dirty="0"/>
          </a:p>
        </p:txBody>
      </p:sp>
      <p:sp>
        <p:nvSpPr>
          <p:cNvPr id="11" name="Shape 9"/>
          <p:cNvSpPr/>
          <p:nvPr/>
        </p:nvSpPr>
        <p:spPr>
          <a:xfrm>
            <a:off x="4901184" y="2999232"/>
            <a:ext cx="3877056" cy="1883664"/>
          </a:xfrm>
          <a:prstGeom prst="roundRect">
            <a:avLst>
              <a:gd name="adj" fmla="val 2913"/>
            </a:avLst>
          </a:prstGeom>
          <a:solidFill>
            <a:srgbClr val="E0F7F5"/>
          </a:solidFill>
          <a:ln/>
        </p:spPr>
      </p:sp>
      <p:sp>
        <p:nvSpPr>
          <p:cNvPr id="12" name="Text 10"/>
          <p:cNvSpPr/>
          <p:nvPr/>
        </p:nvSpPr>
        <p:spPr>
          <a:xfrm>
            <a:off x="5065776" y="3108960"/>
            <a:ext cx="3566160" cy="274320"/>
          </a:xfrm>
          <a:prstGeom prst="rect">
            <a:avLst/>
          </a:prstGeom>
          <a:noFill/>
          <a:ln/>
        </p:spPr>
        <p:txBody>
          <a:bodyPr wrap="square" lIns="0" tIns="0" rIns="0" bIns="0" rtlCol="0" anchor="ctr"/>
          <a:lstStyle/>
          <a:p>
            <a:pPr marL="0" indent="0">
              <a:buNone/>
            </a:pPr>
            <a:r>
              <a:rPr lang="en-US" sz="1200" b="1" dirty="0">
                <a:solidFill>
                  <a:srgbClr val="0B7A75"/>
                </a:solidFill>
                <a:latin typeface="Calibri" pitchFamily="34" charset="0"/>
                <a:ea typeface="Calibri" pitchFamily="34" charset="-122"/>
                <a:cs typeface="Calibri" pitchFamily="34" charset="-120"/>
              </a:rPr>
              <a:t>Dos casos de agregación</a:t>
            </a:r>
            <a:endParaRPr lang="en-US" sz="1200" dirty="0"/>
          </a:p>
        </p:txBody>
      </p:sp>
      <p:sp>
        <p:nvSpPr>
          <p:cNvPr id="13" name="Text 11"/>
          <p:cNvSpPr/>
          <p:nvPr/>
        </p:nvSpPr>
        <p:spPr>
          <a:xfrm>
            <a:off x="5047488" y="3479572"/>
            <a:ext cx="3566160" cy="1371600"/>
          </a:xfrm>
          <a:prstGeom prst="rect">
            <a:avLst/>
          </a:prstGeom>
          <a:noFill/>
          <a:ln/>
        </p:spPr>
        <p:txBody>
          <a:bodyPr wrap="square" lIns="0" tIns="0" rIns="0" bIns="0" rtlCol="0" anchor="t"/>
          <a:lstStyle/>
          <a:p>
            <a:pPr marL="0" indent="0">
              <a:spcAft>
                <a:spcPts val="600"/>
              </a:spcAft>
              <a:buNone/>
            </a:pPr>
            <a:r>
              <a:rPr lang="en-US" sz="1000" b="1" dirty="0">
                <a:solidFill>
                  <a:srgbClr val="1E293B"/>
                </a:solidFill>
                <a:latin typeface="Calibri" pitchFamily="34" charset="0"/>
                <a:ea typeface="Calibri" pitchFamily="34" charset="-122"/>
                <a:cs typeface="Calibri" pitchFamily="34" charset="-120"/>
              </a:rPr>
              <a:t>Caso 1 — con ponderadores por tipo de mercado: </a:t>
            </a:r>
            <a:r>
              <a:rPr lang="en-US" sz="1000" dirty="0">
                <a:solidFill>
                  <a:srgbClr val="1E293B"/>
                </a:solidFill>
                <a:latin typeface="Calibri" pitchFamily="34" charset="0"/>
                <a:ea typeface="Calibri" pitchFamily="34" charset="-122"/>
                <a:cs typeface="Calibri" pitchFamily="34" charset="-120"/>
              </a:rPr>
              <a:t>se calcula un Jevons por estrato (mercado moderno y tradicional) y se agregan con ponderaciones.
</a:t>
            </a:r>
            <a:r>
              <a:rPr lang="en-US" sz="1000" b="1" dirty="0">
                <a:solidFill>
                  <a:srgbClr val="1E293B"/>
                </a:solidFill>
                <a:latin typeface="Calibri" pitchFamily="34" charset="0"/>
                <a:ea typeface="Calibri" pitchFamily="34" charset="-122"/>
                <a:cs typeface="Calibri" pitchFamily="34" charset="-120"/>
              </a:rPr>
              <a:t>Caso 2 — sin ponderadores: </a:t>
            </a:r>
            <a:r>
              <a:rPr lang="en-US" sz="1000" dirty="0">
                <a:solidFill>
                  <a:srgbClr val="1E293B"/>
                </a:solidFill>
                <a:latin typeface="Calibri" pitchFamily="34" charset="0"/>
                <a:ea typeface="Calibri" pitchFamily="34" charset="-122"/>
                <a:cs typeface="Calibri" pitchFamily="34" charset="-120"/>
              </a:rPr>
              <a:t>el genérico-área completo es el agregado elemental, sin desagregación por tipo de mercado.</a:t>
            </a:r>
            <a:endParaRPr lang="en-US" sz="1000" dirty="0"/>
          </a:p>
        </p:txBody>
      </p:sp>
      <p:pic>
        <p:nvPicPr>
          <p:cNvPr id="14" name="Picture 13" descr="v28_jevons.png"/>
          <p:cNvPicPr>
            <a:picLocks noChangeAspect="1"/>
          </p:cNvPicPr>
          <p:nvPr/>
        </p:nvPicPr>
        <p:blipFill>
          <a:blip r:embed="rId2"/>
          <a:stretch>
            <a:fillRect/>
          </a:stretch>
        </p:blipFill>
        <p:spPr>
          <a:xfrm>
            <a:off x="2194800" y="2240280"/>
            <a:ext cx="4754402" cy="585216"/>
          </a:xfrm>
          <a:prstGeom prst="rect">
            <a:avLst/>
          </a:prstGeom>
        </p:spPr>
      </p:pic>
      <p:pic>
        <p:nvPicPr>
          <p:cNvPr id="15" name="Picture 14" descr="c29_pe0.png"/>
          <p:cNvPicPr>
            <a:picLocks noChangeAspect="1"/>
          </p:cNvPicPr>
          <p:nvPr/>
        </p:nvPicPr>
        <p:blipFill>
          <a:blip r:embed="rId3"/>
          <a:stretch>
            <a:fillRect/>
          </a:stretch>
        </p:blipFill>
        <p:spPr>
          <a:xfrm>
            <a:off x="384048" y="3328416"/>
            <a:ext cx="165387" cy="182880"/>
          </a:xfrm>
          <a:prstGeom prst="rect">
            <a:avLst/>
          </a:prstGeom>
        </p:spPr>
      </p:pic>
      <p:sp>
        <p:nvSpPr>
          <p:cNvPr id="16" name="TextBox 15"/>
          <p:cNvSpPr txBox="1"/>
          <p:nvPr/>
        </p:nvSpPr>
        <p:spPr>
          <a:xfrm>
            <a:off x="932688" y="3291840"/>
            <a:ext cx="3730752" cy="310896"/>
          </a:xfrm>
          <a:prstGeom prst="rect">
            <a:avLst/>
          </a:prstGeom>
          <a:noFill/>
        </p:spPr>
        <p:txBody>
          <a:bodyPr wrap="square" lIns="0" tIns="0" bIns="0">
            <a:spAutoFit/>
          </a:bodyPr>
          <a:lstStyle/>
          <a:p>
            <a:r>
              <a:rPr sz="900">
                <a:solidFill>
                  <a:srgbClr val="1E293B"/>
                </a:solidFill>
                <a:latin typeface="Calibri"/>
              </a:rPr>
              <a:t>precio de la especificación e en el periodo base</a:t>
            </a:r>
          </a:p>
        </p:txBody>
      </p:sp>
      <p:pic>
        <p:nvPicPr>
          <p:cNvPr id="17" name="Picture 16" descr="c29_pet.png"/>
          <p:cNvPicPr>
            <a:picLocks noChangeAspect="1"/>
          </p:cNvPicPr>
          <p:nvPr/>
        </p:nvPicPr>
        <p:blipFill>
          <a:blip r:embed="rId4"/>
          <a:stretch>
            <a:fillRect/>
          </a:stretch>
        </p:blipFill>
        <p:spPr>
          <a:xfrm>
            <a:off x="384048" y="3657600"/>
            <a:ext cx="154004" cy="182880"/>
          </a:xfrm>
          <a:prstGeom prst="rect">
            <a:avLst/>
          </a:prstGeom>
        </p:spPr>
      </p:pic>
      <p:sp>
        <p:nvSpPr>
          <p:cNvPr id="18" name="TextBox 17"/>
          <p:cNvSpPr txBox="1"/>
          <p:nvPr/>
        </p:nvSpPr>
        <p:spPr>
          <a:xfrm>
            <a:off x="932688" y="3621024"/>
            <a:ext cx="3730752" cy="310896"/>
          </a:xfrm>
          <a:prstGeom prst="rect">
            <a:avLst/>
          </a:prstGeom>
          <a:noFill/>
        </p:spPr>
        <p:txBody>
          <a:bodyPr wrap="square" lIns="0" tIns="0" bIns="0">
            <a:spAutoFit/>
          </a:bodyPr>
          <a:lstStyle/>
          <a:p>
            <a:r>
              <a:rPr sz="900">
                <a:solidFill>
                  <a:srgbClr val="1E293B"/>
                </a:solidFill>
                <a:latin typeface="Calibri"/>
              </a:rPr>
              <a:t>precio de la especificación e en el periodo corriente t</a:t>
            </a:r>
          </a:p>
        </p:txBody>
      </p:sp>
      <p:pic>
        <p:nvPicPr>
          <p:cNvPr id="19" name="Picture 18" descr="c29_n.png"/>
          <p:cNvPicPr>
            <a:picLocks noChangeAspect="1"/>
          </p:cNvPicPr>
          <p:nvPr/>
        </p:nvPicPr>
        <p:blipFill>
          <a:blip r:embed="rId5"/>
          <a:stretch>
            <a:fillRect/>
          </a:stretch>
        </p:blipFill>
        <p:spPr>
          <a:xfrm>
            <a:off x="384048" y="3986784"/>
            <a:ext cx="120073" cy="182880"/>
          </a:xfrm>
          <a:prstGeom prst="rect">
            <a:avLst/>
          </a:prstGeom>
        </p:spPr>
      </p:pic>
      <p:sp>
        <p:nvSpPr>
          <p:cNvPr id="20" name="TextBox 19"/>
          <p:cNvSpPr txBox="1"/>
          <p:nvPr/>
        </p:nvSpPr>
        <p:spPr>
          <a:xfrm>
            <a:off x="932688" y="3950208"/>
            <a:ext cx="3730752" cy="310896"/>
          </a:xfrm>
          <a:prstGeom prst="rect">
            <a:avLst/>
          </a:prstGeom>
          <a:noFill/>
        </p:spPr>
        <p:txBody>
          <a:bodyPr wrap="square" lIns="0" tIns="0" bIns="0">
            <a:spAutoFit/>
          </a:bodyPr>
          <a:lstStyle/>
          <a:p>
            <a:r>
              <a:rPr sz="900">
                <a:solidFill>
                  <a:srgbClr val="1E293B"/>
                </a:solidFill>
                <a:latin typeface="Calibri"/>
              </a:rPr>
              <a:t>número de especificaciones en el agregado elemental</a:t>
            </a:r>
          </a:p>
        </p:txBody>
      </p:sp>
      <p:pic>
        <p:nvPicPr>
          <p:cNvPr id="21" name="Picture 20" descr="c29_lkj.png"/>
          <p:cNvPicPr>
            <a:picLocks noChangeAspect="1"/>
          </p:cNvPicPr>
          <p:nvPr/>
        </p:nvPicPr>
        <p:blipFill>
          <a:blip r:embed="rId6"/>
          <a:stretch>
            <a:fillRect/>
          </a:stretch>
        </p:blipFill>
        <p:spPr>
          <a:xfrm>
            <a:off x="384048" y="4315968"/>
            <a:ext cx="227268" cy="182880"/>
          </a:xfrm>
          <a:prstGeom prst="rect">
            <a:avLst/>
          </a:prstGeom>
        </p:spPr>
      </p:pic>
      <p:sp>
        <p:nvSpPr>
          <p:cNvPr id="22" name="TextBox 21"/>
          <p:cNvSpPr txBox="1"/>
          <p:nvPr/>
        </p:nvSpPr>
        <p:spPr>
          <a:xfrm>
            <a:off x="932688" y="4279392"/>
            <a:ext cx="3730752" cy="310896"/>
          </a:xfrm>
          <a:prstGeom prst="rect">
            <a:avLst/>
          </a:prstGeom>
          <a:noFill/>
        </p:spPr>
        <p:txBody>
          <a:bodyPr wrap="square" lIns="0" tIns="0" bIns="0">
            <a:spAutoFit/>
          </a:bodyPr>
          <a:lstStyle/>
          <a:p>
            <a:r>
              <a:rPr sz="900">
                <a:solidFill>
                  <a:srgbClr val="1E293B"/>
                </a:solidFill>
                <a:latin typeface="Calibri"/>
              </a:rPr>
              <a:t>índice del genérico k, área l, tipo de mercado j (si hay ponderadores por mercado)</a:t>
            </a:r>
          </a:p>
        </p:txBody>
      </p:sp>
      <p:pic>
        <p:nvPicPr>
          <p:cNvPr id="23" name="Picture 22" descr="c29_lk.png"/>
          <p:cNvPicPr>
            <a:picLocks noChangeAspect="1"/>
          </p:cNvPicPr>
          <p:nvPr/>
        </p:nvPicPr>
        <p:blipFill>
          <a:blip r:embed="rId7"/>
          <a:stretch>
            <a:fillRect/>
          </a:stretch>
        </p:blipFill>
        <p:spPr>
          <a:xfrm>
            <a:off x="384048" y="4645152"/>
            <a:ext cx="188422" cy="182880"/>
          </a:xfrm>
          <a:prstGeom prst="rect">
            <a:avLst/>
          </a:prstGeom>
        </p:spPr>
      </p:pic>
      <p:sp>
        <p:nvSpPr>
          <p:cNvPr id="24" name="TextBox 23"/>
          <p:cNvSpPr txBox="1"/>
          <p:nvPr/>
        </p:nvSpPr>
        <p:spPr>
          <a:xfrm>
            <a:off x="932688" y="4608576"/>
            <a:ext cx="3730752" cy="310896"/>
          </a:xfrm>
          <a:prstGeom prst="rect">
            <a:avLst/>
          </a:prstGeom>
          <a:noFill/>
        </p:spPr>
        <p:txBody>
          <a:bodyPr wrap="square" lIns="0" tIns="0" bIns="0">
            <a:spAutoFit/>
          </a:bodyPr>
          <a:lstStyle/>
          <a:p>
            <a:r>
              <a:rPr sz="900">
                <a:solidFill>
                  <a:srgbClr val="1E293B"/>
                </a:solidFill>
                <a:latin typeface="Calibri"/>
              </a:rPr>
              <a:t>índice del genérico k, área l (sin desagregación por tipo de mercado)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Índice elemental vs. genérico nacional</a:t>
            </a:r>
            <a:endParaRPr lang="en-US" sz="2200" dirty="0"/>
          </a:p>
        </p:txBody>
      </p:sp>
      <p:sp>
        <p:nvSpPr>
          <p:cNvPr id="4" name="Shape 2"/>
          <p:cNvSpPr/>
          <p:nvPr/>
        </p:nvSpPr>
        <p:spPr>
          <a:xfrm>
            <a:off x="365760" y="1005840"/>
            <a:ext cx="4114800" cy="2139696"/>
          </a:xfrm>
          <a:prstGeom prst="roundRect">
            <a:avLst>
              <a:gd name="adj" fmla="val 2564"/>
            </a:avLst>
          </a:prstGeom>
          <a:solidFill>
            <a:srgbClr val="F5F3FF"/>
          </a:solidFill>
          <a:ln/>
        </p:spPr>
      </p:sp>
      <p:sp>
        <p:nvSpPr>
          <p:cNvPr id="5" name="Text 3"/>
          <p:cNvSpPr/>
          <p:nvPr/>
        </p:nvSpPr>
        <p:spPr>
          <a:xfrm>
            <a:off x="530352" y="1046148"/>
            <a:ext cx="3785616" cy="292608"/>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Índice elemental </a:t>
            </a:r>
            <a:endParaRPr lang="en-US" sz="1300" dirty="0"/>
          </a:p>
        </p:txBody>
      </p:sp>
      <p:sp>
        <p:nvSpPr>
          <p:cNvPr id="6" name="Text 4"/>
          <p:cNvSpPr/>
          <p:nvPr/>
        </p:nvSpPr>
        <p:spPr>
          <a:xfrm>
            <a:off x="530352" y="1379064"/>
            <a:ext cx="3785616" cy="1591056"/>
          </a:xfrm>
          <a:prstGeom prst="rect">
            <a:avLst/>
          </a:prstGeom>
          <a:noFill/>
          <a:ln/>
        </p:spPr>
        <p:txBody>
          <a:bodyPr wrap="square" lIns="0" tIns="0" rIns="0" bIns="0" rtlCol="0" anchor="t"/>
          <a:lstStyle/>
          <a:p>
            <a:pPr marL="0" indent="0">
              <a:spcAft>
                <a:spcPts val="500"/>
              </a:spcAft>
              <a:buNone/>
            </a:pPr>
            <a:r>
              <a:rPr lang="en-US" sz="1050" b="1" dirty="0">
                <a:solidFill>
                  <a:srgbClr val="1E293B"/>
                </a:solidFill>
                <a:latin typeface="Calibri" pitchFamily="34" charset="0"/>
                <a:ea typeface="Calibri" pitchFamily="34" charset="-122"/>
                <a:cs typeface="Calibri" pitchFamily="34" charset="-120"/>
              </a:rPr>
              <a:t>Un genérico </a:t>
            </a:r>
            <a:r>
              <a:rPr lang="en-US" sz="1050" b="1" dirty="0" err="1">
                <a:solidFill>
                  <a:srgbClr val="1E293B"/>
                </a:solidFill>
                <a:latin typeface="Calibri" pitchFamily="34" charset="0"/>
                <a:ea typeface="Calibri" pitchFamily="34" charset="-122"/>
                <a:cs typeface="Calibri" pitchFamily="34" charset="-120"/>
              </a:rPr>
              <a:t>en</a:t>
            </a:r>
            <a:r>
              <a:rPr lang="en-US" sz="1050" b="1" dirty="0">
                <a:solidFill>
                  <a:srgbClr val="1E293B"/>
                </a:solidFill>
                <a:latin typeface="Calibri" pitchFamily="34" charset="0"/>
                <a:ea typeface="Calibri" pitchFamily="34" charset="-122"/>
                <a:cs typeface="Calibri" pitchFamily="34" charset="-120"/>
              </a:rPr>
              <a:t> </a:t>
            </a:r>
            <a:r>
              <a:rPr lang="en-US" sz="1050" b="1" dirty="0" err="1">
                <a:solidFill>
                  <a:srgbClr val="1E293B"/>
                </a:solidFill>
                <a:latin typeface="Calibri" pitchFamily="34" charset="0"/>
                <a:ea typeface="Calibri" pitchFamily="34" charset="-122"/>
                <a:cs typeface="Calibri" pitchFamily="34" charset="-120"/>
              </a:rPr>
              <a:t>una</a:t>
            </a:r>
            <a:r>
              <a:rPr lang="en-US" sz="1050" b="1" dirty="0">
                <a:solidFill>
                  <a:srgbClr val="1E293B"/>
                </a:solidFill>
                <a:latin typeface="Calibri" pitchFamily="34" charset="0"/>
                <a:ea typeface="Calibri" pitchFamily="34" charset="-122"/>
                <a:cs typeface="Calibri" pitchFamily="34" charset="-120"/>
              </a:rPr>
              <a:t> área </a:t>
            </a:r>
            <a:r>
              <a:rPr lang="en-US" sz="1050" b="1" dirty="0" err="1">
                <a:solidFill>
                  <a:srgbClr val="1E293B"/>
                </a:solidFill>
                <a:latin typeface="Calibri" pitchFamily="34" charset="0"/>
                <a:ea typeface="Calibri" pitchFamily="34" charset="-122"/>
                <a:cs typeface="Calibri" pitchFamily="34" charset="-120"/>
              </a:rPr>
              <a:t>geográfica</a:t>
            </a:r>
            <a:r>
              <a:rPr lang="en-US" sz="1050" b="1" dirty="0">
                <a:solidFill>
                  <a:srgbClr val="1E293B"/>
                </a:solidFill>
                <a:latin typeface="Calibri" pitchFamily="34" charset="0"/>
                <a:ea typeface="Calibri" pitchFamily="34" charset="-122"/>
                <a:cs typeface="Calibri" pitchFamily="34" charset="-120"/>
              </a:rPr>
              <a:t>.</a:t>
            </a:r>
          </a:p>
          <a:p>
            <a:pPr marL="0" indent="0">
              <a:spcAft>
                <a:spcPts val="500"/>
              </a:spcAft>
              <a:buNone/>
            </a:pPr>
            <a:r>
              <a:rPr lang="en-US" sz="1050" b="1" dirty="0">
                <a:solidFill>
                  <a:srgbClr val="1E293B"/>
                </a:solidFill>
                <a:latin typeface="Calibri" pitchFamily="34" charset="0"/>
                <a:ea typeface="Calibri" pitchFamily="34" charset="-122"/>
                <a:cs typeface="Calibri" pitchFamily="34" charset="-120"/>
              </a:rPr>
              <a:t>
</a:t>
            </a:r>
            <a:r>
              <a:rPr lang="en-US" sz="1050" dirty="0">
                <a:solidFill>
                  <a:srgbClr val="1E293B"/>
                </a:solidFill>
                <a:latin typeface="Calibri" pitchFamily="34" charset="0"/>
                <a:ea typeface="Calibri" pitchFamily="34" charset="-122"/>
                <a:cs typeface="Calibri" pitchFamily="34" charset="-120"/>
              </a:rPr>
              <a:t>Ej: carne de res en Puebla.</a:t>
            </a:r>
          </a:p>
          <a:p>
            <a:pPr marL="0" indent="0">
              <a:spcAft>
                <a:spcPts val="500"/>
              </a:spcAft>
              <a:buNone/>
            </a:pPr>
            <a:r>
              <a:rPr lang="en-US" sz="1050" dirty="0">
                <a:solidFill>
                  <a:srgbClr val="1E293B"/>
                </a:solidFill>
                <a:latin typeface="Calibri" pitchFamily="34" charset="0"/>
                <a:ea typeface="Calibri" pitchFamily="34" charset="-122"/>
                <a:cs typeface="Calibri" pitchFamily="34" charset="-120"/>
              </a:rPr>
              <a:t>
Se calcula con Jevons a partir de los precios de las especificaciones cotizadas en esa </a:t>
            </a:r>
            <a:r>
              <a:rPr lang="en-US" sz="1050" dirty="0" err="1">
                <a:solidFill>
                  <a:srgbClr val="1E293B"/>
                </a:solidFill>
                <a:latin typeface="Calibri" pitchFamily="34" charset="0"/>
                <a:ea typeface="Calibri" pitchFamily="34" charset="-122"/>
                <a:cs typeface="Calibri" pitchFamily="34" charset="-120"/>
              </a:rPr>
              <a:t>área</a:t>
            </a:r>
            <a:r>
              <a:rPr lang="en-US" sz="1050" dirty="0">
                <a:solidFill>
                  <a:srgbClr val="1E293B"/>
                </a:solidFill>
                <a:latin typeface="Calibri" pitchFamily="34" charset="0"/>
                <a:ea typeface="Calibri" pitchFamily="34" charset="-122"/>
                <a:cs typeface="Calibri" pitchFamily="34" charset="-120"/>
              </a:rPr>
              <a:t>.</a:t>
            </a:r>
          </a:p>
          <a:p>
            <a:pPr marL="0" indent="0">
              <a:spcAft>
                <a:spcPts val="500"/>
              </a:spcAft>
              <a:buNone/>
            </a:pPr>
            <a:r>
              <a:rPr lang="en-US" sz="1050" dirty="0">
                <a:solidFill>
                  <a:srgbClr val="1E293B"/>
                </a:solidFill>
                <a:latin typeface="Calibri" pitchFamily="34" charset="0"/>
                <a:ea typeface="Calibri" pitchFamily="34" charset="-122"/>
                <a:cs typeface="Calibri" pitchFamily="34" charset="-120"/>
              </a:rPr>
              <a:t>
Existen hasta 292 × 55 índices elementales.</a:t>
            </a:r>
            <a:endParaRPr lang="en-US" sz="1050" dirty="0"/>
          </a:p>
        </p:txBody>
      </p:sp>
      <p:sp>
        <p:nvSpPr>
          <p:cNvPr id="7" name="Shape 5"/>
          <p:cNvSpPr/>
          <p:nvPr/>
        </p:nvSpPr>
        <p:spPr>
          <a:xfrm>
            <a:off x="4663440" y="1005840"/>
            <a:ext cx="4114800" cy="2139696"/>
          </a:xfrm>
          <a:prstGeom prst="roundRect">
            <a:avLst>
              <a:gd name="adj" fmla="val 2564"/>
            </a:avLst>
          </a:prstGeom>
          <a:solidFill>
            <a:srgbClr val="EEF2FF"/>
          </a:solidFill>
          <a:ln/>
        </p:spPr>
      </p:sp>
      <p:sp>
        <p:nvSpPr>
          <p:cNvPr id="8" name="Text 6"/>
          <p:cNvSpPr/>
          <p:nvPr/>
        </p:nvSpPr>
        <p:spPr>
          <a:xfrm>
            <a:off x="4828032" y="1078992"/>
            <a:ext cx="3785616" cy="292608"/>
          </a:xfrm>
          <a:prstGeom prst="rect">
            <a:avLst/>
          </a:prstGeom>
          <a:noFill/>
          <a:ln/>
        </p:spPr>
        <p:txBody>
          <a:bodyPr wrap="square" lIns="0" tIns="0" rIns="0" bIns="0" rtlCol="0" anchor="ctr"/>
          <a:lstStyle/>
          <a:p>
            <a:pPr marL="0" indent="0">
              <a:buNone/>
            </a:pPr>
            <a:r>
              <a:rPr lang="en-US" sz="1300" b="1" dirty="0">
                <a:solidFill>
                  <a:srgbClr val="1A2F5A"/>
                </a:solidFill>
                <a:latin typeface="Calibri" pitchFamily="34" charset="0"/>
                <a:ea typeface="Calibri" pitchFamily="34" charset="-122"/>
                <a:cs typeface="Calibri" pitchFamily="34" charset="-120"/>
              </a:rPr>
              <a:t>Genérico </a:t>
            </a:r>
            <a:r>
              <a:rPr lang="en-US" sz="1300" b="1" dirty="0" err="1">
                <a:solidFill>
                  <a:srgbClr val="1A2F5A"/>
                </a:solidFill>
                <a:latin typeface="Calibri" pitchFamily="34" charset="0"/>
                <a:ea typeface="Calibri" pitchFamily="34" charset="-122"/>
                <a:cs typeface="Calibri" pitchFamily="34" charset="-120"/>
              </a:rPr>
              <a:t>nacional</a:t>
            </a:r>
            <a:r>
              <a:rPr lang="en-US" sz="1300" b="1" dirty="0">
                <a:solidFill>
                  <a:srgbClr val="1A2F5A"/>
                </a:solidFill>
                <a:latin typeface="Calibri" pitchFamily="34" charset="0"/>
                <a:ea typeface="Calibri" pitchFamily="34" charset="-122"/>
                <a:cs typeface="Calibri" pitchFamily="34" charset="-120"/>
              </a:rPr>
              <a:t>  </a:t>
            </a:r>
            <a:endParaRPr lang="en-US" sz="1300" dirty="0"/>
          </a:p>
        </p:txBody>
      </p:sp>
      <p:sp>
        <p:nvSpPr>
          <p:cNvPr id="9" name="Text 7"/>
          <p:cNvSpPr/>
          <p:nvPr/>
        </p:nvSpPr>
        <p:spPr>
          <a:xfrm>
            <a:off x="4828032" y="1463040"/>
            <a:ext cx="3785616" cy="1591056"/>
          </a:xfrm>
          <a:prstGeom prst="rect">
            <a:avLst/>
          </a:prstGeom>
          <a:noFill/>
          <a:ln/>
        </p:spPr>
        <p:txBody>
          <a:bodyPr wrap="square" lIns="0" tIns="0" rIns="0" bIns="0" rtlCol="0" anchor="t"/>
          <a:lstStyle/>
          <a:p>
            <a:pPr marL="0" indent="0">
              <a:spcAft>
                <a:spcPts val="500"/>
              </a:spcAft>
              <a:buNone/>
            </a:pPr>
            <a:r>
              <a:rPr lang="en-US" sz="1050" b="1" dirty="0">
                <a:solidFill>
                  <a:srgbClr val="1E293B"/>
                </a:solidFill>
                <a:latin typeface="Calibri" pitchFamily="34" charset="0"/>
                <a:ea typeface="Calibri" pitchFamily="34" charset="-122"/>
                <a:cs typeface="Calibri" pitchFamily="34" charset="-120"/>
              </a:rPr>
              <a:t>El </a:t>
            </a:r>
            <a:r>
              <a:rPr lang="en-US" sz="1050" b="1" dirty="0" err="1">
                <a:solidFill>
                  <a:srgbClr val="1E293B"/>
                </a:solidFill>
                <a:latin typeface="Calibri" pitchFamily="34" charset="0"/>
                <a:ea typeface="Calibri" pitchFamily="34" charset="-122"/>
                <a:cs typeface="Calibri" pitchFamily="34" charset="-120"/>
              </a:rPr>
              <a:t>mismo</a:t>
            </a:r>
            <a:r>
              <a:rPr lang="en-US" sz="1050" b="1" dirty="0">
                <a:solidFill>
                  <a:srgbClr val="1E293B"/>
                </a:solidFill>
                <a:latin typeface="Calibri" pitchFamily="34" charset="0"/>
                <a:ea typeface="Calibri" pitchFamily="34" charset="-122"/>
                <a:cs typeface="Calibri" pitchFamily="34" charset="-120"/>
              </a:rPr>
              <a:t> genérico agregado en las 55 </a:t>
            </a:r>
            <a:r>
              <a:rPr lang="en-US" sz="1050" b="1" dirty="0" err="1">
                <a:solidFill>
                  <a:srgbClr val="1E293B"/>
                </a:solidFill>
                <a:latin typeface="Calibri" pitchFamily="34" charset="0"/>
                <a:ea typeface="Calibri" pitchFamily="34" charset="-122"/>
                <a:cs typeface="Calibri" pitchFamily="34" charset="-120"/>
              </a:rPr>
              <a:t>áreas</a:t>
            </a:r>
            <a:r>
              <a:rPr lang="en-US" sz="1050" b="1" dirty="0">
                <a:solidFill>
                  <a:srgbClr val="1E293B"/>
                </a:solidFill>
                <a:latin typeface="Calibri" pitchFamily="34" charset="0"/>
                <a:ea typeface="Calibri" pitchFamily="34" charset="-122"/>
                <a:cs typeface="Calibri" pitchFamily="34" charset="-120"/>
              </a:rPr>
              <a:t>.</a:t>
            </a:r>
          </a:p>
          <a:p>
            <a:pPr marL="0" indent="0">
              <a:spcAft>
                <a:spcPts val="500"/>
              </a:spcAft>
              <a:buNone/>
            </a:pPr>
            <a:r>
              <a:rPr lang="en-US" sz="1050" b="1" dirty="0">
                <a:solidFill>
                  <a:srgbClr val="1E293B"/>
                </a:solidFill>
                <a:latin typeface="Calibri" pitchFamily="34" charset="0"/>
                <a:ea typeface="Calibri" pitchFamily="34" charset="-122"/>
                <a:cs typeface="Calibri" pitchFamily="34" charset="-120"/>
              </a:rPr>
              <a:t>
</a:t>
            </a:r>
            <a:r>
              <a:rPr lang="en-US" sz="1050" dirty="0">
                <a:solidFill>
                  <a:srgbClr val="1E293B"/>
                </a:solidFill>
                <a:latin typeface="Calibri" pitchFamily="34" charset="0"/>
                <a:ea typeface="Calibri" pitchFamily="34" charset="-122"/>
                <a:cs typeface="Calibri" pitchFamily="34" charset="-120"/>
              </a:rPr>
              <a:t>Ej: carne de res a nivel </a:t>
            </a:r>
            <a:r>
              <a:rPr lang="en-US" sz="1050" dirty="0" err="1">
                <a:solidFill>
                  <a:srgbClr val="1E293B"/>
                </a:solidFill>
                <a:latin typeface="Calibri" pitchFamily="34" charset="0"/>
                <a:ea typeface="Calibri" pitchFamily="34" charset="-122"/>
                <a:cs typeface="Calibri" pitchFamily="34" charset="-120"/>
              </a:rPr>
              <a:t>nacional</a:t>
            </a:r>
            <a:r>
              <a:rPr lang="en-US" sz="1050" dirty="0">
                <a:solidFill>
                  <a:srgbClr val="1E293B"/>
                </a:solidFill>
                <a:latin typeface="Calibri" pitchFamily="34" charset="0"/>
                <a:ea typeface="Calibri" pitchFamily="34" charset="-122"/>
                <a:cs typeface="Calibri" pitchFamily="34" charset="-120"/>
              </a:rPr>
              <a:t>.</a:t>
            </a:r>
          </a:p>
          <a:p>
            <a:pPr marL="0" indent="0">
              <a:spcAft>
                <a:spcPts val="500"/>
              </a:spcAft>
              <a:buNone/>
            </a:pPr>
            <a:r>
              <a:rPr lang="en-US" sz="1050" dirty="0">
                <a:solidFill>
                  <a:srgbClr val="1E293B"/>
                </a:solidFill>
                <a:latin typeface="Calibri" pitchFamily="34" charset="0"/>
                <a:ea typeface="Calibri" pitchFamily="34" charset="-122"/>
                <a:cs typeface="Calibri" pitchFamily="34" charset="-120"/>
              </a:rPr>
              <a:t>
Media ponderada (Laspeyres) de los 55 índices elementales, con el peso del gasto de cada área (ω_lk).
</a:t>
            </a:r>
            <a:endParaRPr lang="en-US" sz="1050" dirty="0"/>
          </a:p>
        </p:txBody>
      </p:sp>
      <p:sp>
        <p:nvSpPr>
          <p:cNvPr id="10" name="Shape 8"/>
          <p:cNvSpPr/>
          <p:nvPr/>
        </p:nvSpPr>
        <p:spPr>
          <a:xfrm>
            <a:off x="365760" y="3310128"/>
            <a:ext cx="8412480" cy="1572768"/>
          </a:xfrm>
          <a:prstGeom prst="roundRect">
            <a:avLst>
              <a:gd name="adj" fmla="val 3488"/>
            </a:avLst>
          </a:prstGeom>
          <a:solidFill>
            <a:srgbClr val="FFFBEB"/>
          </a:solidFill>
          <a:ln/>
        </p:spPr>
      </p:sp>
      <p:sp>
        <p:nvSpPr>
          <p:cNvPr id="11" name="Text 9"/>
          <p:cNvSpPr/>
          <p:nvPr/>
        </p:nvSpPr>
        <p:spPr>
          <a:xfrm>
            <a:off x="530352" y="3438144"/>
            <a:ext cx="8083296" cy="274320"/>
          </a:xfrm>
          <a:prstGeom prst="rect">
            <a:avLst/>
          </a:prstGeom>
          <a:noFill/>
          <a:ln/>
        </p:spPr>
        <p:txBody>
          <a:bodyPr wrap="square" lIns="0" tIns="0" rIns="0" bIns="0" rtlCol="0" anchor="ctr"/>
          <a:lstStyle/>
          <a:p>
            <a:pPr marL="0" indent="0">
              <a:buNone/>
            </a:pPr>
            <a:r>
              <a:rPr lang="en-US" sz="1250" b="1" dirty="0">
                <a:solidFill>
                  <a:srgbClr val="D97706"/>
                </a:solidFill>
                <a:latin typeface="Calibri" pitchFamily="34" charset="0"/>
                <a:ea typeface="Calibri" pitchFamily="34" charset="-122"/>
                <a:cs typeface="Calibri" pitchFamily="34" charset="-120"/>
              </a:rPr>
              <a:t>¿Por qué Jevons y no la media aritmética en el nivel elemental?</a:t>
            </a:r>
            <a:endParaRPr lang="en-US" sz="1250" dirty="0"/>
          </a:p>
        </p:txBody>
      </p:sp>
      <p:sp>
        <p:nvSpPr>
          <p:cNvPr id="12" name="Text 10"/>
          <p:cNvSpPr/>
          <p:nvPr/>
        </p:nvSpPr>
        <p:spPr>
          <a:xfrm>
            <a:off x="530352" y="3807636"/>
            <a:ext cx="8083296" cy="1060704"/>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Dentro de un genérico los productos son sustitutos cercanos (distintos cortes de carne de res): la elasticidad </a:t>
            </a:r>
            <a:r>
              <a:rPr lang="en-US" sz="1050" dirty="0" err="1">
                <a:solidFill>
                  <a:srgbClr val="1E293B"/>
                </a:solidFill>
                <a:latin typeface="Calibri" pitchFamily="34" charset="0"/>
                <a:ea typeface="Calibri" pitchFamily="34" charset="-122"/>
                <a:cs typeface="Calibri" pitchFamily="34" charset="-120"/>
              </a:rPr>
              <a:t>cruzada</a:t>
            </a:r>
            <a:r>
              <a:rPr lang="en-US" sz="1050" dirty="0">
                <a:solidFill>
                  <a:srgbClr val="1E293B"/>
                </a:solidFill>
                <a:latin typeface="Calibri" pitchFamily="34" charset="0"/>
                <a:ea typeface="Calibri" pitchFamily="34" charset="-122"/>
                <a:cs typeface="Calibri" pitchFamily="34" charset="-120"/>
              </a:rPr>
              <a:t> de la </a:t>
            </a:r>
            <a:r>
              <a:rPr lang="en-US" sz="1050" dirty="0" err="1">
                <a:solidFill>
                  <a:srgbClr val="1E293B"/>
                </a:solidFill>
                <a:latin typeface="Calibri" pitchFamily="34" charset="0"/>
                <a:ea typeface="Calibri" pitchFamily="34" charset="-122"/>
                <a:cs typeface="Calibri" pitchFamily="34" charset="-120"/>
              </a:rPr>
              <a:t>demanda</a:t>
            </a:r>
            <a:r>
              <a:rPr lang="en-US" sz="1050" dirty="0">
                <a:solidFill>
                  <a:srgbClr val="1E293B"/>
                </a:solidFill>
                <a:latin typeface="Calibri" pitchFamily="34" charset="0"/>
                <a:ea typeface="Calibri" pitchFamily="34" charset="-122"/>
                <a:cs typeface="Calibri" pitchFamily="34" charset="-120"/>
              </a:rPr>
              <a:t> no </a:t>
            </a:r>
            <a:r>
              <a:rPr lang="en-US" sz="1050" dirty="0" err="1">
                <a:solidFill>
                  <a:srgbClr val="1E293B"/>
                </a:solidFill>
                <a:latin typeface="Calibri" pitchFamily="34" charset="0"/>
                <a:ea typeface="Calibri" pitchFamily="34" charset="-122"/>
                <a:cs typeface="Calibri" pitchFamily="34" charset="-120"/>
              </a:rPr>
              <a:t>es</a:t>
            </a:r>
            <a:r>
              <a:rPr lang="en-US" sz="1050" dirty="0">
                <a:solidFill>
                  <a:srgbClr val="1E293B"/>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igual</a:t>
            </a:r>
            <a:r>
              <a:rPr lang="en-US" sz="1050" dirty="0">
                <a:solidFill>
                  <a:srgbClr val="1E293B"/>
                </a:solidFill>
                <a:latin typeface="Calibri" pitchFamily="34" charset="0"/>
                <a:ea typeface="Calibri" pitchFamily="34" charset="-122"/>
                <a:cs typeface="Calibri" pitchFamily="34" charset="-120"/>
              </a:rPr>
              <a:t> a cero (preferencias Cobb-Douglas). El Jevons (media geométrica) es el mejor estimador del índice teórico bajo esas preferencias; la media aritmética sobreestima la inflación en presencia de sustitución</a:t>
            </a:r>
            <a:r>
              <a:rPr lang="en-US" sz="1050" b="1" dirty="0">
                <a:solidFill>
                  <a:srgbClr val="1E293B"/>
                </a:solidFill>
                <a:latin typeface="Calibri" pitchFamily="34" charset="0"/>
                <a:ea typeface="Calibri" pitchFamily="34" charset="-122"/>
                <a:cs typeface="Calibri" pitchFamily="34" charset="-120"/>
              </a:rPr>
              <a:t>. </a:t>
            </a:r>
            <a:r>
              <a:rPr lang="en-US" sz="1050" dirty="0">
                <a:solidFill>
                  <a:srgbClr val="1E293B"/>
                </a:solidFill>
                <a:latin typeface="Calibri" pitchFamily="34" charset="0"/>
                <a:ea typeface="Calibri" pitchFamily="34" charset="-122"/>
                <a:cs typeface="Calibri" pitchFamily="34" charset="-120"/>
              </a:rPr>
              <a:t>Entre genéricos, en cambio, se supone que no hay sustitución (Leontief) y por eso ahí se usa Laspeyres con cantidades fijas.</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De los elementales al INPC</a:t>
            </a:r>
            <a:endParaRPr lang="en-US" sz="2200" dirty="0"/>
          </a:p>
        </p:txBody>
      </p:sp>
      <p:sp>
        <p:nvSpPr>
          <p:cNvPr id="4" name="Shape 2"/>
          <p:cNvSpPr/>
          <p:nvPr/>
        </p:nvSpPr>
        <p:spPr>
          <a:xfrm>
            <a:off x="365760" y="1005840"/>
            <a:ext cx="8412480" cy="1207008"/>
          </a:xfrm>
          <a:prstGeom prst="roundRect">
            <a:avLst>
              <a:gd name="adj" fmla="val 4545"/>
            </a:avLst>
          </a:prstGeom>
          <a:solidFill>
            <a:srgbClr val="EEF2FF"/>
          </a:solidFill>
          <a:ln/>
        </p:spPr>
        <p:txBody>
          <a:bodyPr/>
          <a:lstStyle/>
          <a:p>
            <a:endParaRPr/>
          </a:p>
        </p:txBody>
      </p:sp>
      <p:sp>
        <p:nvSpPr>
          <p:cNvPr id="5" name="Text 3"/>
          <p:cNvSpPr/>
          <p:nvPr/>
        </p:nvSpPr>
        <p:spPr>
          <a:xfrm>
            <a:off x="548640" y="1088136"/>
            <a:ext cx="4937760" cy="274320"/>
          </a:xfrm>
          <a:prstGeom prst="rect">
            <a:avLst/>
          </a:prstGeom>
          <a:noFill/>
          <a:ln/>
        </p:spPr>
        <p:txBody>
          <a:bodyPr wrap="square" lIns="0" tIns="0" rIns="0" bIns="0" rtlCol="0" anchor="ctr"/>
          <a:lstStyle/>
          <a:p>
            <a:pPr marL="0" indent="0">
              <a:buNone/>
            </a:pPr>
            <a:r>
              <a:rPr lang="en-US" sz="1250" b="1" dirty="0">
                <a:solidFill>
                  <a:srgbClr val="1A2F5A"/>
                </a:solidFill>
                <a:latin typeface="Calibri" pitchFamily="34" charset="0"/>
                <a:ea typeface="Calibri" pitchFamily="34" charset="-122"/>
                <a:cs typeface="Calibri" pitchFamily="34" charset="-120"/>
              </a:rPr>
              <a:t>Índices superiores — Laspeyres</a:t>
            </a:r>
            <a:endParaRPr lang="en-US" sz="1250" dirty="0"/>
          </a:p>
        </p:txBody>
      </p:sp>
      <p:sp>
        <p:nvSpPr>
          <p:cNvPr id="6" name="Text 4"/>
          <p:cNvSpPr/>
          <p:nvPr/>
        </p:nvSpPr>
        <p:spPr>
          <a:xfrm>
            <a:off x="548640" y="1371600"/>
            <a:ext cx="8046720" cy="292608"/>
          </a:xfrm>
          <a:prstGeom prst="rect">
            <a:avLst/>
          </a:prstGeom>
          <a:noFill/>
          <a:ln/>
        </p:spPr>
        <p:txBody>
          <a:bodyPr wrap="square" lIns="0" tIns="0" rIns="0" bIns="0" rtlCol="0" anchor="ctr"/>
          <a:lstStyle/>
          <a:p>
            <a:pPr marL="0" indent="0">
              <a:buNone/>
            </a:pPr>
            <a:endParaRPr lang="en-US" sz="1200" dirty="0"/>
          </a:p>
        </p:txBody>
      </p:sp>
      <p:sp>
        <p:nvSpPr>
          <p:cNvPr id="7" name="Text 5"/>
          <p:cNvSpPr/>
          <p:nvPr/>
        </p:nvSpPr>
        <p:spPr>
          <a:xfrm>
            <a:off x="548640" y="1819656"/>
            <a:ext cx="8046720" cy="41148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índices elementales de cada área geográfica se agregan al índice nacional del genérico mediante media aritmética ponderada (Laspeyres). ω_lk = participación del gasto del genérico k en el área l (ENIGH 2022).</a:t>
            </a:r>
            <a:endParaRPr lang="en-US" sz="950" dirty="0"/>
          </a:p>
        </p:txBody>
      </p:sp>
      <p:sp>
        <p:nvSpPr>
          <p:cNvPr id="8" name="Shape 6"/>
          <p:cNvSpPr/>
          <p:nvPr/>
        </p:nvSpPr>
        <p:spPr>
          <a:xfrm>
            <a:off x="4489704" y="2221992"/>
            <a:ext cx="164592" cy="118872"/>
          </a:xfrm>
          <a:prstGeom prst="downArrow">
            <a:avLst/>
          </a:prstGeom>
          <a:solidFill>
            <a:srgbClr val="64748B"/>
          </a:solidFill>
          <a:ln/>
        </p:spPr>
        <p:txBody>
          <a:bodyPr/>
          <a:lstStyle/>
          <a:p>
            <a:endParaRPr/>
          </a:p>
        </p:txBody>
      </p:sp>
      <p:sp>
        <p:nvSpPr>
          <p:cNvPr id="9" name="Shape 7"/>
          <p:cNvSpPr/>
          <p:nvPr/>
        </p:nvSpPr>
        <p:spPr>
          <a:xfrm>
            <a:off x="365760" y="2340864"/>
            <a:ext cx="8412480" cy="1207008"/>
          </a:xfrm>
          <a:prstGeom prst="roundRect">
            <a:avLst>
              <a:gd name="adj" fmla="val 4545"/>
            </a:avLst>
          </a:prstGeom>
          <a:solidFill>
            <a:srgbClr val="E0F7F5"/>
          </a:solidFill>
          <a:ln/>
        </p:spPr>
        <p:txBody>
          <a:bodyPr/>
          <a:lstStyle/>
          <a:p>
            <a:endParaRPr/>
          </a:p>
        </p:txBody>
      </p:sp>
      <p:sp>
        <p:nvSpPr>
          <p:cNvPr id="10" name="Text 8"/>
          <p:cNvSpPr/>
          <p:nvPr/>
        </p:nvSpPr>
        <p:spPr>
          <a:xfrm>
            <a:off x="548640" y="2423160"/>
            <a:ext cx="4937760" cy="274320"/>
          </a:xfrm>
          <a:prstGeom prst="rect">
            <a:avLst/>
          </a:prstGeom>
          <a:noFill/>
          <a:ln/>
        </p:spPr>
        <p:txBody>
          <a:bodyPr wrap="square" lIns="0" tIns="0" rIns="0" bIns="0" rtlCol="0" anchor="ctr"/>
          <a:lstStyle/>
          <a:p>
            <a:pPr marL="0" indent="0">
              <a:buNone/>
            </a:pPr>
            <a:r>
              <a:rPr lang="en-US" sz="1250" b="1" dirty="0">
                <a:solidFill>
                  <a:srgbClr val="0B7A75"/>
                </a:solidFill>
                <a:latin typeface="Calibri" pitchFamily="34" charset="0"/>
                <a:ea typeface="Calibri" pitchFamily="34" charset="-122"/>
                <a:cs typeface="Calibri" pitchFamily="34" charset="-120"/>
              </a:rPr>
              <a:t>Generación del INPC nacional</a:t>
            </a:r>
            <a:endParaRPr lang="en-US" sz="1250" dirty="0"/>
          </a:p>
        </p:txBody>
      </p:sp>
      <p:sp>
        <p:nvSpPr>
          <p:cNvPr id="11" name="Text 9"/>
          <p:cNvSpPr/>
          <p:nvPr/>
        </p:nvSpPr>
        <p:spPr>
          <a:xfrm>
            <a:off x="548640" y="2706624"/>
            <a:ext cx="8046720" cy="292608"/>
          </a:xfrm>
          <a:prstGeom prst="rect">
            <a:avLst/>
          </a:prstGeom>
          <a:noFill/>
          <a:ln/>
        </p:spPr>
        <p:txBody>
          <a:bodyPr wrap="square" lIns="0" tIns="0" rIns="0" bIns="0" rtlCol="0" anchor="ctr"/>
          <a:lstStyle/>
          <a:p>
            <a:pPr marL="0" indent="0">
              <a:buNone/>
            </a:pPr>
            <a:endParaRPr lang="en-US" sz="1200" dirty="0"/>
          </a:p>
        </p:txBody>
      </p:sp>
      <p:sp>
        <p:nvSpPr>
          <p:cNvPr id="12" name="Text 10"/>
          <p:cNvSpPr/>
          <p:nvPr/>
        </p:nvSpPr>
        <p:spPr>
          <a:xfrm>
            <a:off x="548640" y="3191256"/>
            <a:ext cx="8046720" cy="41148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Media aritmética ponderada de los 235 índices probabilísticos + 57 no probabilísticos. ω_k = participación del gasto del genérico k a nivel nacional. Todos los ponderadores son fijos (periodo base: 2Q julio 2024).</a:t>
            </a:r>
            <a:endParaRPr lang="en-US" sz="950" dirty="0"/>
          </a:p>
        </p:txBody>
      </p:sp>
      <p:sp>
        <p:nvSpPr>
          <p:cNvPr id="13" name="Shape 11"/>
          <p:cNvSpPr/>
          <p:nvPr/>
        </p:nvSpPr>
        <p:spPr>
          <a:xfrm>
            <a:off x="4489704" y="3557016"/>
            <a:ext cx="164592" cy="118872"/>
          </a:xfrm>
          <a:prstGeom prst="downArrow">
            <a:avLst/>
          </a:prstGeom>
          <a:solidFill>
            <a:srgbClr val="64748B"/>
          </a:solidFill>
          <a:ln/>
        </p:spPr>
        <p:txBody>
          <a:bodyPr/>
          <a:lstStyle/>
          <a:p>
            <a:endParaRPr/>
          </a:p>
        </p:txBody>
      </p:sp>
      <p:sp>
        <p:nvSpPr>
          <p:cNvPr id="14" name="Shape 12"/>
          <p:cNvSpPr/>
          <p:nvPr/>
        </p:nvSpPr>
        <p:spPr>
          <a:xfrm>
            <a:off x="365760" y="3675888"/>
            <a:ext cx="8412480" cy="1207008"/>
          </a:xfrm>
          <a:prstGeom prst="roundRect">
            <a:avLst>
              <a:gd name="adj" fmla="val 4545"/>
            </a:avLst>
          </a:prstGeom>
          <a:solidFill>
            <a:srgbClr val="FFFBEB"/>
          </a:solidFill>
          <a:ln/>
        </p:spPr>
        <p:txBody>
          <a:bodyPr/>
          <a:lstStyle/>
          <a:p>
            <a:endParaRPr/>
          </a:p>
        </p:txBody>
      </p:sp>
      <p:sp>
        <p:nvSpPr>
          <p:cNvPr id="15" name="Text 13"/>
          <p:cNvSpPr/>
          <p:nvPr/>
        </p:nvSpPr>
        <p:spPr>
          <a:xfrm>
            <a:off x="548640" y="3714797"/>
            <a:ext cx="4937760" cy="274320"/>
          </a:xfrm>
          <a:prstGeom prst="rect">
            <a:avLst/>
          </a:prstGeom>
          <a:noFill/>
          <a:ln/>
        </p:spPr>
        <p:txBody>
          <a:bodyPr wrap="square" lIns="0" tIns="0" rIns="0" bIns="0" rtlCol="0" anchor="ctr"/>
          <a:lstStyle/>
          <a:p>
            <a:pPr marL="0" indent="0">
              <a:buNone/>
            </a:pPr>
            <a:r>
              <a:rPr lang="en-US" sz="1250" b="1" dirty="0">
                <a:solidFill>
                  <a:srgbClr val="D97706"/>
                </a:solidFill>
                <a:latin typeface="Calibri" pitchFamily="34" charset="0"/>
                <a:ea typeface="Calibri" pitchFamily="34" charset="-122"/>
                <a:cs typeface="Calibri" pitchFamily="34" charset="-120"/>
              </a:rPr>
              <a:t>Encadenamiento — continuidad histórica de la serie</a:t>
            </a:r>
            <a:endParaRPr lang="en-US" sz="1250" dirty="0"/>
          </a:p>
        </p:txBody>
      </p:sp>
      <p:sp>
        <p:nvSpPr>
          <p:cNvPr id="16" name="Text 14"/>
          <p:cNvSpPr/>
          <p:nvPr/>
        </p:nvSpPr>
        <p:spPr>
          <a:xfrm>
            <a:off x="548640" y="4041648"/>
            <a:ext cx="8046720" cy="292608"/>
          </a:xfrm>
          <a:prstGeom prst="rect">
            <a:avLst/>
          </a:prstGeom>
          <a:noFill/>
          <a:ln/>
        </p:spPr>
        <p:txBody>
          <a:bodyPr wrap="square" lIns="0" tIns="0" rIns="0" bIns="0" rtlCol="0" anchor="ctr"/>
          <a:lstStyle/>
          <a:p>
            <a:pPr marL="0" indent="0">
              <a:buNone/>
            </a:pPr>
            <a:endParaRPr lang="en-US" sz="1200" dirty="0"/>
          </a:p>
        </p:txBody>
      </p:sp>
      <p:sp>
        <p:nvSpPr>
          <p:cNvPr id="17" name="Text 15"/>
          <p:cNvSpPr/>
          <p:nvPr/>
        </p:nvSpPr>
        <p:spPr>
          <a:xfrm>
            <a:off x="548640" y="4494276"/>
            <a:ext cx="8046720" cy="41148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El factor f_h se calculó una sola vez en julio 2024 y se mantiene fijo. Garantiza la continuidad con la base julio 2018 = 100. Consecuencia: se pierde aditividad (los componentes ya no suman exactamente el general).</a:t>
            </a:r>
            <a:endParaRPr lang="en-US" sz="950" dirty="0"/>
          </a:p>
        </p:txBody>
      </p:sp>
      <p:pic>
        <p:nvPicPr>
          <p:cNvPr id="18" name="Picture 17" descr="v30_superiores.png"/>
          <p:cNvPicPr>
            <a:picLocks noChangeAspect="1"/>
          </p:cNvPicPr>
          <p:nvPr/>
        </p:nvPicPr>
        <p:blipFill>
          <a:blip r:embed="rId2"/>
          <a:stretch>
            <a:fillRect/>
          </a:stretch>
        </p:blipFill>
        <p:spPr>
          <a:xfrm>
            <a:off x="548640" y="1335024"/>
            <a:ext cx="2016407" cy="420624"/>
          </a:xfrm>
          <a:prstGeom prst="rect">
            <a:avLst/>
          </a:prstGeom>
        </p:spPr>
      </p:pic>
      <p:pic>
        <p:nvPicPr>
          <p:cNvPr id="19" name="Picture 18" descr="v30_inpc.png"/>
          <p:cNvPicPr>
            <a:picLocks noChangeAspect="1"/>
          </p:cNvPicPr>
          <p:nvPr/>
        </p:nvPicPr>
        <p:blipFill>
          <a:blip r:embed="rId3"/>
          <a:stretch>
            <a:fillRect/>
          </a:stretch>
        </p:blipFill>
        <p:spPr>
          <a:xfrm>
            <a:off x="548640" y="2670048"/>
            <a:ext cx="2192148" cy="420624"/>
          </a:xfrm>
          <a:prstGeom prst="rect">
            <a:avLst/>
          </a:prstGeom>
        </p:spPr>
      </p:pic>
      <p:pic>
        <p:nvPicPr>
          <p:cNvPr id="20" name="Picture 19" descr="v30_encadenamiento.png"/>
          <p:cNvPicPr>
            <a:picLocks noChangeAspect="1"/>
          </p:cNvPicPr>
          <p:nvPr/>
        </p:nvPicPr>
        <p:blipFill>
          <a:blip r:embed="rId4"/>
          <a:stretch>
            <a:fillRect/>
          </a:stretch>
        </p:blipFill>
        <p:spPr>
          <a:xfrm>
            <a:off x="548640" y="4041648"/>
            <a:ext cx="3860081" cy="42062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70408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Del precio en pesos al genérico y del genérico a la inflación</a:t>
            </a:r>
            <a:endParaRPr lang="en-US" sz="2200" dirty="0"/>
          </a:p>
        </p:txBody>
      </p:sp>
      <p:sp>
        <p:nvSpPr>
          <p:cNvPr id="4" name="Shape 2"/>
          <p:cNvSpPr/>
          <p:nvPr/>
        </p:nvSpPr>
        <p:spPr>
          <a:xfrm>
            <a:off x="7498080" y="256032"/>
            <a:ext cx="1280160" cy="338328"/>
          </a:xfrm>
          <a:prstGeom prst="roundRect">
            <a:avLst>
              <a:gd name="adj" fmla="val 48649"/>
            </a:avLst>
          </a:prstGeom>
          <a:solidFill>
            <a:srgbClr val="D97706"/>
          </a:solidFill>
          <a:ln/>
        </p:spPr>
      </p:sp>
      <p:sp>
        <p:nvSpPr>
          <p:cNvPr id="5" name="Text 3"/>
          <p:cNvSpPr/>
          <p:nvPr/>
        </p:nvSpPr>
        <p:spPr>
          <a:xfrm>
            <a:off x="7498080" y="256032"/>
            <a:ext cx="1280160" cy="33832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TAREA INFLACIÓN</a:t>
            </a:r>
            <a:endParaRPr lang="en-US" sz="1050" dirty="0"/>
          </a:p>
        </p:txBody>
      </p:sp>
      <p:sp>
        <p:nvSpPr>
          <p:cNvPr id="6" name="Shape 4"/>
          <p:cNvSpPr/>
          <p:nvPr/>
        </p:nvSpPr>
        <p:spPr>
          <a:xfrm>
            <a:off x="365760" y="969264"/>
            <a:ext cx="5577840" cy="548640"/>
          </a:xfrm>
          <a:prstGeom prst="roundRect">
            <a:avLst>
              <a:gd name="adj" fmla="val 10000"/>
            </a:avLst>
          </a:prstGeom>
          <a:solidFill>
            <a:srgbClr val="E0F7F5"/>
          </a:solidFill>
          <a:ln/>
        </p:spPr>
      </p:sp>
      <p:sp>
        <p:nvSpPr>
          <p:cNvPr id="7" name="Text 5"/>
          <p:cNvSpPr/>
          <p:nvPr/>
        </p:nvSpPr>
        <p:spPr>
          <a:xfrm>
            <a:off x="502920" y="969264"/>
            <a:ext cx="5349240" cy="548640"/>
          </a:xfrm>
          <a:prstGeom prst="rect">
            <a:avLst/>
          </a:prstGeom>
          <a:noFill/>
          <a:ln/>
        </p:spPr>
        <p:txBody>
          <a:bodyPr wrap="square" lIns="0" tIns="0" rIns="0" bIns="0" rtlCol="0" anchor="ctr"/>
          <a:lstStyle/>
          <a:p>
            <a:pPr marL="0" indent="0">
              <a:buNone/>
            </a:pPr>
            <a:r>
              <a:rPr lang="en-US" sz="1000" b="1" dirty="0">
                <a:solidFill>
                  <a:srgbClr val="0B7A75"/>
                </a:solidFill>
                <a:latin typeface="Calibri" pitchFamily="34" charset="0"/>
                <a:ea typeface="Calibri" pitchFamily="34" charset="-122"/>
                <a:cs typeface="Calibri" pitchFamily="34" charset="-120"/>
              </a:rPr>
              <a:t>Objetivo: </a:t>
            </a:r>
            <a:r>
              <a:rPr lang="en-US" sz="1000" dirty="0">
                <a:solidFill>
                  <a:srgbClr val="1E293B"/>
                </a:solidFill>
                <a:latin typeface="Calibri" pitchFamily="34" charset="0"/>
                <a:ea typeface="Calibri" pitchFamily="34" charset="-122"/>
                <a:cs typeface="Calibri" pitchFamily="34" charset="-120"/>
              </a:rPr>
              <a:t>recorrer completa la cadena de producción del INPC: construir las medidas de inflación desde los 292 </a:t>
            </a:r>
            <a:r>
              <a:rPr lang="en-US" sz="1000" dirty="0" err="1">
                <a:solidFill>
                  <a:srgbClr val="1E293B"/>
                </a:solidFill>
                <a:latin typeface="Calibri" pitchFamily="34" charset="0"/>
                <a:ea typeface="Calibri" pitchFamily="34" charset="-122"/>
                <a:cs typeface="Calibri" pitchFamily="34" charset="-120"/>
              </a:rPr>
              <a:t>genéricos</a:t>
            </a:r>
            <a:r>
              <a:rPr lang="en-US" sz="1000" dirty="0">
                <a:solidFill>
                  <a:srgbClr val="1E293B"/>
                </a:solidFill>
                <a:latin typeface="Calibri" pitchFamily="34" charset="0"/>
                <a:ea typeface="Calibri" pitchFamily="34" charset="-122"/>
                <a:cs typeface="Calibri" pitchFamily="34" charset="-120"/>
              </a:rPr>
              <a:t> y reconstruir el índice de un genérico desde los precios promedio de sus especificaciones.</a:t>
            </a:r>
            <a:endParaRPr lang="en-US" sz="1000" dirty="0"/>
          </a:p>
        </p:txBody>
      </p:sp>
      <p:sp>
        <p:nvSpPr>
          <p:cNvPr id="8" name="Shape 6"/>
          <p:cNvSpPr/>
          <p:nvPr/>
        </p:nvSpPr>
        <p:spPr>
          <a:xfrm>
            <a:off x="365760" y="1627632"/>
            <a:ext cx="5577840" cy="731520"/>
          </a:xfrm>
          <a:prstGeom prst="roundRect">
            <a:avLst>
              <a:gd name="adj" fmla="val 7500"/>
            </a:avLst>
          </a:prstGeom>
          <a:solidFill>
            <a:srgbClr val="EEF2FF"/>
          </a:solidFill>
          <a:ln/>
        </p:spPr>
      </p:sp>
      <p:sp>
        <p:nvSpPr>
          <p:cNvPr id="9" name="Shape 7"/>
          <p:cNvSpPr/>
          <p:nvPr/>
        </p:nvSpPr>
        <p:spPr>
          <a:xfrm>
            <a:off x="493776" y="1719072"/>
            <a:ext cx="256032" cy="256032"/>
          </a:xfrm>
          <a:prstGeom prst="ellipse">
            <a:avLst/>
          </a:prstGeom>
          <a:solidFill>
            <a:srgbClr val="1A2F5A"/>
          </a:solidFill>
          <a:ln/>
        </p:spPr>
      </p:sp>
      <p:sp>
        <p:nvSpPr>
          <p:cNvPr id="10" name="Text 8"/>
          <p:cNvSpPr/>
          <p:nvPr/>
        </p:nvSpPr>
        <p:spPr>
          <a:xfrm>
            <a:off x="493776" y="171907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841248" y="1682496"/>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Prepara las bases y entiende el encadenamiento</a:t>
            </a:r>
            <a:endParaRPr lang="en-US" sz="1150" dirty="0"/>
          </a:p>
        </p:txBody>
      </p:sp>
      <p:sp>
        <p:nvSpPr>
          <p:cNvPr id="12" name="Text 10"/>
          <p:cNvSpPr/>
          <p:nvPr/>
        </p:nvSpPr>
        <p:spPr>
          <a:xfrm>
            <a:off x="841248" y="1956816"/>
            <a:ext cx="4974336" cy="329184"/>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Une los índices de los 292 genéricos con sus ponderadores y con los ocho objetos del gasto. Explica qué es el factor de encadenamiento y por qué omitirlo produce una desviación sistemática.</a:t>
            </a:r>
            <a:r>
              <a:rPr lang="en-US" sz="900" dirty="0" err="1">
                <a:solidFill>
                  <a:srgbClr val="1E293B"/>
                </a:solidFill>
                <a:latin typeface="Calibri" pitchFamily="34" charset="0"/>
                <a:ea typeface="Calibri" pitchFamily="34" charset="-122"/>
                <a:cs typeface="Calibri" pitchFamily="34" charset="-120"/>
              </a:rPr>
              <a:t/>
            </a:r>
            <a:r>
              <a:rPr lang="en-US" sz="900" dirty="0">
                <a:solidFill>
                  <a:srgbClr val="1E293B"/>
                </a:solidFill>
                <a:latin typeface="Calibri" pitchFamily="34" charset="0"/>
                <a:ea typeface="Calibri" pitchFamily="34" charset="-122"/>
                <a:cs typeface="Calibri" pitchFamily="34" charset="-120"/>
              </a:rPr>
              <a:t/>
            </a:r>
            <a:r>
              <a:rPr lang="en-US" sz="900" dirty="0" err="1">
                <a:solidFill>
                  <a:srgbClr val="1E293B"/>
                </a:solidFill>
                <a:latin typeface="Calibri" pitchFamily="34" charset="0"/>
                <a:ea typeface="Calibri" pitchFamily="34" charset="-122"/>
                <a:cs typeface="Calibri" pitchFamily="34" charset="-120"/>
              </a:rPr>
              <a:t/>
            </a:r>
            <a:r>
              <a:rPr lang="en-US" sz="900" dirty="0">
                <a:solidFill>
                  <a:srgbClr val="1E293B"/>
                </a:solidFill>
                <a:latin typeface="Calibri" pitchFamily="34" charset="0"/>
                <a:ea typeface="Calibri" pitchFamily="34" charset="-122"/>
                <a:cs typeface="Calibri" pitchFamily="34" charset="-120"/>
              </a:rPr>
              <a:t/>
            </a:r>
            <a:r>
              <a:rPr lang="en-US" sz="900" dirty="0" err="1">
                <a:solidFill>
                  <a:srgbClr val="1E293B"/>
                </a:solidFill>
                <a:latin typeface="Calibri" pitchFamily="34" charset="0"/>
                <a:ea typeface="Calibri" pitchFamily="34" charset="-122"/>
                <a:cs typeface="Calibri" pitchFamily="34" charset="-120"/>
              </a:rPr>
              <a:t/>
            </a:r>
            <a:r>
              <a:rPr lang="en-US" sz="900" dirty="0">
                <a:solidFill>
                  <a:srgbClr val="1E293B"/>
                </a:solidFill>
                <a:latin typeface="Calibri" pitchFamily="34" charset="0"/>
                <a:ea typeface="Calibri" pitchFamily="34" charset="-122"/>
                <a:cs typeface="Calibri" pitchFamily="34" charset="-120"/>
              </a:rPr>
              <a:t/>
            </a:r>
            <a:r>
              <a:rPr lang="en-US" sz="900" dirty="0" err="1">
                <a:solidFill>
                  <a:srgbClr val="1E293B"/>
                </a:solidFill>
                <a:latin typeface="Calibri" pitchFamily="34" charset="0"/>
                <a:ea typeface="Calibri" pitchFamily="34" charset="-122"/>
                <a:cs typeface="Calibri" pitchFamily="34" charset="-120"/>
              </a:rPr>
              <a:t/>
            </a:r>
            <a:r>
              <a:rPr lang="en-US" sz="900" dirty="0">
                <a:solidFill>
                  <a:srgbClr val="1E293B"/>
                </a:solidFill>
                <a:latin typeface="Calibri" pitchFamily="34" charset="0"/>
                <a:ea typeface="Calibri" pitchFamily="34" charset="-122"/>
                <a:cs typeface="Calibri" pitchFamily="34" charset="-120"/>
              </a:rPr>
              <a:t/>
            </a:r>
            <a:endParaRPr lang="en-US" sz="900" dirty="0"/>
          </a:p>
        </p:txBody>
      </p:sp>
      <p:sp>
        <p:nvSpPr>
          <p:cNvPr id="13" name="Shape 11"/>
          <p:cNvSpPr/>
          <p:nvPr/>
        </p:nvSpPr>
        <p:spPr>
          <a:xfrm>
            <a:off x="365760" y="2432304"/>
            <a:ext cx="5577840" cy="896112"/>
          </a:xfrm>
          <a:prstGeom prst="roundRect">
            <a:avLst>
              <a:gd name="adj" fmla="val 6122"/>
            </a:avLst>
          </a:prstGeom>
          <a:solidFill>
            <a:srgbClr val="EEF2FF"/>
          </a:solidFill>
          <a:ln/>
        </p:spPr>
      </p:sp>
      <p:sp>
        <p:nvSpPr>
          <p:cNvPr id="14" name="Shape 12"/>
          <p:cNvSpPr/>
          <p:nvPr/>
        </p:nvSpPr>
        <p:spPr>
          <a:xfrm>
            <a:off x="493776" y="2523744"/>
            <a:ext cx="256032" cy="256032"/>
          </a:xfrm>
          <a:prstGeom prst="ellipse">
            <a:avLst/>
          </a:prstGeom>
          <a:solidFill>
            <a:srgbClr val="1A2F5A"/>
          </a:solidFill>
          <a:ln/>
        </p:spPr>
      </p:sp>
      <p:sp>
        <p:nvSpPr>
          <p:cNvPr id="15" name="Text 13"/>
          <p:cNvSpPr/>
          <p:nvPr/>
        </p:nvSpPr>
        <p:spPr>
          <a:xfrm>
            <a:off x="493776" y="2523744"/>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p:nvPr/>
        </p:nvSpPr>
        <p:spPr>
          <a:xfrm>
            <a:off x="841248" y="2487168"/>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Construye la inflación general y por objeto del gasto</a:t>
            </a:r>
            <a:endParaRPr lang="en-US" sz="1150" dirty="0"/>
          </a:p>
        </p:txBody>
      </p:sp>
      <p:sp>
        <p:nvSpPr>
          <p:cNvPr id="17" name="Text 15"/>
          <p:cNvSpPr/>
          <p:nvPr/>
        </p:nvSpPr>
        <p:spPr>
          <a:xfrm>
            <a:off x="841248" y="2761488"/>
            <a:ext cx="4974336" cy="493776"/>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Divide cada índice entre su factor, agrega con Laspeyres y reescala con el factor del agregado. Compara tu serie general contra la publicada por el INEGI y diagnostica la brecha.</a:t>
            </a:r>
            <a:endParaRPr lang="en-US" sz="900" dirty="0"/>
          </a:p>
        </p:txBody>
      </p:sp>
      <p:sp>
        <p:nvSpPr>
          <p:cNvPr id="18" name="Shape 16"/>
          <p:cNvSpPr/>
          <p:nvPr/>
        </p:nvSpPr>
        <p:spPr>
          <a:xfrm>
            <a:off x="365760" y="3401568"/>
            <a:ext cx="5577840" cy="786384"/>
          </a:xfrm>
          <a:prstGeom prst="roundRect">
            <a:avLst>
              <a:gd name="adj" fmla="val 6977"/>
            </a:avLst>
          </a:prstGeom>
          <a:solidFill>
            <a:srgbClr val="EEF2FF"/>
          </a:solidFill>
          <a:ln/>
        </p:spPr>
      </p:sp>
      <p:sp>
        <p:nvSpPr>
          <p:cNvPr id="19" name="Shape 17"/>
          <p:cNvSpPr/>
          <p:nvPr/>
        </p:nvSpPr>
        <p:spPr>
          <a:xfrm>
            <a:off x="493776" y="3611880"/>
            <a:ext cx="256032" cy="256032"/>
          </a:xfrm>
          <a:prstGeom prst="ellipse">
            <a:avLst/>
          </a:prstGeom>
          <a:solidFill>
            <a:srgbClr val="1A2F5A"/>
          </a:solidFill>
          <a:ln/>
        </p:spPr>
      </p:sp>
      <p:sp>
        <p:nvSpPr>
          <p:cNvPr id="20" name="Text 18"/>
          <p:cNvSpPr/>
          <p:nvPr/>
        </p:nvSpPr>
        <p:spPr>
          <a:xfrm>
            <a:off x="493776" y="361188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841248" y="3433572"/>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Calcula las medidas complementarias</a:t>
            </a:r>
            <a:endParaRPr lang="en-US" sz="1150" dirty="0"/>
          </a:p>
        </p:txBody>
      </p:sp>
      <p:sp>
        <p:nvSpPr>
          <p:cNvPr id="22" name="Text 20"/>
          <p:cNvSpPr/>
          <p:nvPr/>
        </p:nvSpPr>
        <p:spPr>
          <a:xfrm>
            <a:off x="841248" y="3739896"/>
            <a:ext cx="4974336" cy="384048"/>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Subyacente, no subyacente, mediana ponderada y media recortada al 8% y al 5.5%. Grafica las seis series e identifica sus picos con los informes trimestrales de Banxico.</a:t>
            </a:r>
            <a:endParaRPr lang="en-US" sz="900" dirty="0"/>
          </a:p>
        </p:txBody>
      </p:sp>
      <p:sp>
        <p:nvSpPr>
          <p:cNvPr id="23" name="Shape 21"/>
          <p:cNvSpPr/>
          <p:nvPr/>
        </p:nvSpPr>
        <p:spPr>
          <a:xfrm>
            <a:off x="365760" y="4279392"/>
            <a:ext cx="5577840" cy="658368"/>
          </a:xfrm>
          <a:prstGeom prst="roundRect">
            <a:avLst>
              <a:gd name="adj" fmla="val 8333"/>
            </a:avLst>
          </a:prstGeom>
          <a:solidFill>
            <a:srgbClr val="EEF2FF"/>
          </a:solidFill>
          <a:ln/>
        </p:spPr>
      </p:sp>
      <p:sp>
        <p:nvSpPr>
          <p:cNvPr id="24" name="Shape 22"/>
          <p:cNvSpPr/>
          <p:nvPr/>
        </p:nvSpPr>
        <p:spPr>
          <a:xfrm>
            <a:off x="493776" y="4352544"/>
            <a:ext cx="256032" cy="256032"/>
          </a:xfrm>
          <a:prstGeom prst="ellipse">
            <a:avLst/>
          </a:prstGeom>
          <a:solidFill>
            <a:srgbClr val="1A2F5A"/>
          </a:solidFill>
          <a:ln/>
        </p:spPr>
      </p:sp>
      <p:sp>
        <p:nvSpPr>
          <p:cNvPr id="25" name="Text 23"/>
          <p:cNvSpPr/>
          <p:nvPr/>
        </p:nvSpPr>
        <p:spPr>
          <a:xfrm>
            <a:off x="493776" y="4357769"/>
            <a:ext cx="256032" cy="256032"/>
          </a:xfrm>
          <a:prstGeom prst="rect">
            <a:avLst/>
          </a:prstGeom>
          <a:noFill/>
          <a:ln/>
        </p:spPr>
        <p:txBody>
          <a:bodyPr wrap="square" lIns="0" tIns="0" rIns="0" bIns="0" rtlCol="0" anchor="ctr"/>
          <a:lstStyle/>
          <a:p>
            <a:pPr algn="ct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841248" y="4315968"/>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Baja al nivel elemental: del precio al genérico</a:t>
            </a:r>
            <a:endParaRPr lang="en-US" sz="1150" dirty="0"/>
          </a:p>
        </p:txBody>
      </p:sp>
      <p:sp>
        <p:nvSpPr>
          <p:cNvPr id="27" name="Text 25"/>
          <p:cNvSpPr/>
          <p:nvPr/>
        </p:nvSpPr>
        <p:spPr>
          <a:xfrm>
            <a:off x="841248" y="4590288"/>
            <a:ext cx="4974336" cy="256032"/>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Con los precios promedio, forma los relativos por especificación (descarta los desencadenados), agrégalos con Jevons y encadena. Grafica las 55 áreas del Pollo con base enero 2025 = 100.</a:t>
            </a:r>
            <a:endParaRPr lang="en-US" sz="900" dirty="0"/>
          </a:p>
        </p:txBody>
      </p:sp>
      <p:sp>
        <p:nvSpPr>
          <p:cNvPr id="28" name="Shape 26"/>
          <p:cNvSpPr/>
          <p:nvPr/>
        </p:nvSpPr>
        <p:spPr>
          <a:xfrm>
            <a:off x="6144768" y="969264"/>
            <a:ext cx="2633472" cy="2395728"/>
          </a:xfrm>
          <a:prstGeom prst="roundRect">
            <a:avLst>
              <a:gd name="adj" fmla="val 2290"/>
            </a:avLst>
          </a:prstGeom>
          <a:solidFill>
            <a:srgbClr val="FFFBEB"/>
          </a:solidFill>
          <a:ln/>
        </p:spPr>
      </p:sp>
      <p:sp>
        <p:nvSpPr>
          <p:cNvPr id="29" name="Text 27"/>
          <p:cNvSpPr/>
          <p:nvPr/>
        </p:nvSpPr>
        <p:spPr>
          <a:xfrm>
            <a:off x="6309360" y="1078992"/>
            <a:ext cx="2331720" cy="274320"/>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Detalles</a:t>
            </a:r>
            <a:endParaRPr lang="en-US" sz="1200" dirty="0"/>
          </a:p>
        </p:txBody>
      </p:sp>
      <p:sp>
        <p:nvSpPr>
          <p:cNvPr id="30" name="Text 28"/>
          <p:cNvSpPr/>
          <p:nvPr/>
        </p:nvSpPr>
        <p:spPr>
          <a:xfrm>
            <a:off x="6309360" y="1371600"/>
            <a:ext cx="2331720" cy="1920240"/>
          </a:xfrm>
          <a:prstGeom prst="rect">
            <a:avLst/>
          </a:prstGeom>
          <a:noFill/>
          <a:ln/>
        </p:spPr>
        <p:txBody>
          <a:bodyPr wrap="square" lIns="0" tIns="0" rIns="0" bIns="0" rtlCol="0" anchor="t"/>
          <a:lstStyle/>
          <a:p>
            <a:pPr marL="0" indent="0">
              <a:spcAft>
                <a:spcPts val="500"/>
              </a:spcAft>
              <a:buNone/>
            </a:pPr>
            <a:r>
              <a:rPr lang="en-US" sz="950" b="1" dirty="0">
                <a:solidFill>
                  <a:srgbClr val="1E293B"/>
                </a:solidFill>
                <a:latin typeface="Calibri" pitchFamily="34" charset="0"/>
                <a:ea typeface="Calibri" pitchFamily="34" charset="-122"/>
                <a:cs typeface="Calibri" pitchFamily="34" charset="-120"/>
              </a:rPr>
              <a:t>Periodo: </a:t>
            </a:r>
            <a:r>
              <a:rPr lang="en-US" sz="950" dirty="0">
                <a:solidFill>
                  <a:srgbClr val="1E293B"/>
                </a:solidFill>
                <a:latin typeface="Calibri" pitchFamily="34" charset="0"/>
                <a:ea typeface="Calibri" pitchFamily="34" charset="-122"/>
                <a:cs typeface="Calibri" pitchFamily="34" charset="-120"/>
              </a:rPr>
              <a:t>agosto 2024 – mayo 2026
</a:t>
            </a:r>
            <a:r>
              <a:rPr lang="en-US" sz="950" b="1" dirty="0">
                <a:solidFill>
                  <a:srgbClr val="1E293B"/>
                </a:solidFill>
                <a:latin typeface="Calibri" pitchFamily="34" charset="0"/>
                <a:ea typeface="Calibri" pitchFamily="34" charset="-122"/>
                <a:cs typeface="Calibri" pitchFamily="34" charset="-120"/>
              </a:rPr>
              <a:t>Bases: </a:t>
            </a:r>
            <a:r>
              <a:rPr lang="en-US" sz="950" dirty="0">
                <a:solidFill>
                  <a:srgbClr val="1E293B"/>
                </a:solidFill>
                <a:latin typeface="Calibri" pitchFamily="34" charset="0"/>
                <a:ea typeface="Calibri" pitchFamily="34" charset="-122"/>
                <a:cs typeface="Calibri" pitchFamily="34" charset="-120"/>
              </a:rPr>
              <a:t>genéricos vinculados, objeto del gasto, ponderadores y precios promedio
</a:t>
            </a:r>
            <a:r>
              <a:rPr lang="en-US" sz="950" b="1" dirty="0">
                <a:solidFill>
                  <a:srgbClr val="1E293B"/>
                </a:solidFill>
                <a:latin typeface="Calibri" pitchFamily="34" charset="0"/>
                <a:ea typeface="Calibri" pitchFamily="34" charset="-122"/>
                <a:cs typeface="Calibri" pitchFamily="34" charset="-120"/>
              </a:rPr>
              <a:t>Herramienta: </a:t>
            </a:r>
            <a:r>
              <a:rPr lang="en-US" sz="950" dirty="0">
                <a:solidFill>
                  <a:srgbClr val="1E293B"/>
                </a:solidFill>
                <a:latin typeface="Calibri" pitchFamily="34" charset="0"/>
                <a:ea typeface="Calibri" pitchFamily="34" charset="-122"/>
                <a:cs typeface="Calibri" pitchFamily="34" charset="-120"/>
              </a:rPr>
              <a:t>R
</a:t>
            </a:r>
            <a:r>
              <a:rPr lang="en-US" sz="950" b="1" dirty="0">
                <a:solidFill>
                  <a:srgbClr val="1E293B"/>
                </a:solidFill>
                <a:latin typeface="Calibri" pitchFamily="34" charset="0"/>
                <a:ea typeface="Calibri" pitchFamily="34" charset="-122"/>
                <a:cs typeface="Calibri" pitchFamily="34" charset="-120"/>
              </a:rPr>
              <a:t>Entregables: </a:t>
            </a:r>
            <a:r>
              <a:rPr lang="en-US" sz="950" dirty="0">
                <a:solidFill>
                  <a:srgbClr val="1E293B"/>
                </a:solidFill>
                <a:latin typeface="Calibri" pitchFamily="34" charset="0"/>
                <a:ea typeface="Calibri" pitchFamily="34" charset="-122"/>
                <a:cs typeface="Calibri" pitchFamily="34" charset="-120"/>
              </a:rPr>
              <a:t>script + pdf con resultados y respuestas
</a:t>
            </a:r>
            <a:r>
              <a:rPr lang="en-US" sz="950" b="1" dirty="0">
                <a:solidFill>
                  <a:srgbClr val="1E293B"/>
                </a:solidFill>
                <a:latin typeface="Calibri" pitchFamily="34" charset="0"/>
                <a:ea typeface="Calibri" pitchFamily="34" charset="-122"/>
                <a:cs typeface="Calibri" pitchFamily="34" charset="-120"/>
              </a:rPr>
              <a:t/>
            </a:r>
            <a:r>
              <a:rPr lang="en-US" sz="950" dirty="0">
                <a:solidFill>
                  <a:srgbClr val="1E293B"/>
                </a:solidFill>
                <a:latin typeface="Calibri" pitchFamily="34" charset="0"/>
                <a:ea typeface="Calibri" pitchFamily="34" charset="-122"/>
                <a:cs typeface="Calibri" pitchFamily="34" charset="-120"/>
              </a:rPr>
              <a:t/>
            </a:r>
            <a:r>
              <a:rPr lang="en-US" sz="950" dirty="0" err="1">
                <a:solidFill>
                  <a:srgbClr val="1E293B"/>
                </a:solidFill>
                <a:latin typeface="Calibri" pitchFamily="34" charset="0"/>
                <a:ea typeface="Calibri" pitchFamily="34" charset="-122"/>
                <a:cs typeface="Calibri" pitchFamily="34" charset="-120"/>
              </a:rPr>
              <a:t/>
            </a:r>
            <a:endParaRPr lang="en-US" sz="950" dirty="0">
              <a:solidFill>
                <a:srgbClr val="1E293B"/>
              </a:solidFill>
              <a:latin typeface="Calibri" pitchFamily="34" charset="0"/>
              <a:ea typeface="Calibri" pitchFamily="34" charset="-122"/>
              <a:cs typeface="Calibri" pitchFamily="34" charset="-120"/>
            </a:endParaRPr>
          </a:p>
          <a:p>
            <a:pPr marL="0" indent="0">
              <a:spcAft>
                <a:spcPts val="500"/>
              </a:spcAft>
              <a:buNone/>
            </a:pPr>
            <a:endParaRPr lang="en-US" sz="950" dirty="0">
              <a:solidFill>
                <a:srgbClr val="1E293B"/>
              </a:solidFill>
              <a:latin typeface="Calibri" pitchFamily="34" charset="0"/>
              <a:ea typeface="Calibri" pitchFamily="34" charset="-122"/>
              <a:cs typeface="Calibri" pitchFamily="34" charset="-120"/>
            </a:endParaRPr>
          </a:p>
          <a:p>
            <a:pPr marL="0" indent="0">
              <a:spcAft>
                <a:spcPts val="500"/>
              </a:spcAft>
              <a:buNone/>
            </a:pPr>
            <a:r>
              <a:rPr lang="en-US" sz="950" dirty="0" err="1">
                <a:solidFill>
                  <a:srgbClr val="1E293B"/>
                </a:solidFill>
                <a:latin typeface="Calibri" pitchFamily="34" charset="0"/>
                <a:ea typeface="Calibri" pitchFamily="34" charset="-122"/>
                <a:cs typeface="Calibri" pitchFamily="34" charset="-120"/>
              </a:rPr>
              <a:t>Especificaciones</a:t>
            </a:r>
            <a:r>
              <a:rPr lang="en-US" sz="950" dirty="0">
                <a:solidFill>
                  <a:srgbClr val="1E293B"/>
                </a:solidFill>
                <a:latin typeface="Calibri" pitchFamily="34" charset="0"/>
                <a:ea typeface="Calibri" pitchFamily="34" charset="-122"/>
                <a:cs typeface="Calibri" pitchFamily="34" charset="-120"/>
              </a:rPr>
              <a:t> </a:t>
            </a:r>
            <a:r>
              <a:rPr lang="en-US" sz="950" dirty="0" err="1">
                <a:solidFill>
                  <a:srgbClr val="1E293B"/>
                </a:solidFill>
                <a:latin typeface="Calibri" pitchFamily="34" charset="0"/>
                <a:ea typeface="Calibri" pitchFamily="34" charset="-122"/>
                <a:cs typeface="Calibri" pitchFamily="34" charset="-120"/>
              </a:rPr>
              <a:t>en</a:t>
            </a:r>
            <a:r>
              <a:rPr lang="en-US" sz="950" dirty="0">
                <a:solidFill>
                  <a:srgbClr val="1E293B"/>
                </a:solidFill>
                <a:latin typeface="Calibri" pitchFamily="34" charset="0"/>
                <a:ea typeface="Calibri" pitchFamily="34" charset="-122"/>
                <a:cs typeface="Calibri" pitchFamily="34" charset="-120"/>
              </a:rPr>
              <a:t> el </a:t>
            </a:r>
            <a:r>
              <a:rPr lang="en-US" sz="950" dirty="0" err="1">
                <a:solidFill>
                  <a:srgbClr val="1E293B"/>
                </a:solidFill>
                <a:latin typeface="Calibri" pitchFamily="34" charset="0"/>
                <a:ea typeface="Calibri" pitchFamily="34" charset="-122"/>
                <a:cs typeface="Calibri" pitchFamily="34" charset="-120"/>
              </a:rPr>
              <a:t>archivo</a:t>
            </a:r>
            <a:r>
              <a:rPr lang="en-US" sz="950" dirty="0">
                <a:solidFill>
                  <a:srgbClr val="1E293B"/>
                </a:solidFill>
                <a:latin typeface="Calibri" pitchFamily="34" charset="0"/>
                <a:ea typeface="Calibri" pitchFamily="34" charset="-122"/>
                <a:cs typeface="Calibri" pitchFamily="34" charset="-120"/>
              </a:rPr>
              <a:t> de canvas:</a:t>
            </a:r>
          </a:p>
          <a:p>
            <a:pPr marL="0" indent="0" algn="ctr">
              <a:spcAft>
                <a:spcPts val="500"/>
              </a:spcAft>
              <a:buNone/>
            </a:pPr>
            <a:r>
              <a:rPr lang="en-US" sz="950" b="1" dirty="0" err="1">
                <a:solidFill>
                  <a:srgbClr val="1E293B"/>
                </a:solidFill>
                <a:latin typeface="Calibri" pitchFamily="34" charset="0"/>
                <a:ea typeface="Calibri" pitchFamily="34" charset="-122"/>
                <a:cs typeface="Calibri" pitchFamily="34" charset="-120"/>
              </a:rPr>
              <a:t>Tarea</a:t>
            </a:r>
            <a:r>
              <a:rPr lang="en-US" sz="950" b="1" dirty="0">
                <a:solidFill>
                  <a:srgbClr val="1E293B"/>
                </a:solidFill>
                <a:latin typeface="Calibri" pitchFamily="34" charset="0"/>
                <a:ea typeface="Calibri" pitchFamily="34" charset="-122"/>
                <a:cs typeface="Calibri" pitchFamily="34" charset="-120"/>
              </a:rPr>
              <a:t> </a:t>
            </a:r>
            <a:r>
              <a:rPr lang="en-US" sz="950" b="1" dirty="0" err="1">
                <a:solidFill>
                  <a:srgbClr val="1E293B"/>
                </a:solidFill>
                <a:latin typeface="Calibri" pitchFamily="34" charset="0"/>
                <a:ea typeface="Calibri" pitchFamily="34" charset="-122"/>
                <a:cs typeface="Calibri" pitchFamily="34" charset="-120"/>
              </a:rPr>
              <a:t>inflación</a:t>
            </a:r>
            <a:endParaRPr lang="en-US" sz="950" b="1" dirty="0">
              <a:solidFill>
                <a:srgbClr val="1E293B"/>
              </a:solidFill>
              <a:latin typeface="Calibri" pitchFamily="34" charset="0"/>
              <a:ea typeface="Calibri" pitchFamily="34" charset="-122"/>
              <a:cs typeface="Calibri" pitchFamily="34" charset="-120"/>
            </a:endParaRPr>
          </a:p>
          <a:p>
            <a:pPr marL="0" indent="0">
              <a:spcAft>
                <a:spcPts val="500"/>
              </a:spcAft>
              <a:buNone/>
            </a:pPr>
            <a:endParaRPr lang="en-US" sz="950" dirty="0"/>
          </a:p>
        </p:txBody>
      </p:sp>
      <p:sp>
        <p:nvSpPr>
          <p:cNvPr id="34" name="Shape 21">
            <a:extLst>
              <a:ext uri="{FF2B5EF4-FFF2-40B4-BE49-F238E27FC236}">
                <a16:creationId xmlns:a16="http://schemas.microsoft.com/office/drawing/2014/main" id="{BA0B589C-10A3-7E41-A499-89F027D9533F}"/>
              </a:ext>
            </a:extLst>
          </p:cNvPr>
          <p:cNvSpPr/>
          <p:nvPr/>
        </p:nvSpPr>
        <p:spPr>
          <a:xfrm>
            <a:off x="6199569" y="3508310"/>
            <a:ext cx="2597021" cy="1338010"/>
          </a:xfrm>
          <a:prstGeom prst="roundRect">
            <a:avLst>
              <a:gd name="adj" fmla="val 8333"/>
            </a:avLst>
          </a:prstGeom>
          <a:solidFill>
            <a:srgbClr val="EEF2FF"/>
          </a:solidFill>
          <a:ln/>
        </p:spPr>
      </p:sp>
      <p:sp>
        <p:nvSpPr>
          <p:cNvPr id="35" name="Shape 22">
            <a:extLst>
              <a:ext uri="{FF2B5EF4-FFF2-40B4-BE49-F238E27FC236}">
                <a16:creationId xmlns:a16="http://schemas.microsoft.com/office/drawing/2014/main" id="{FAF07F41-2930-9B41-AE78-1A10C4C43182}"/>
              </a:ext>
            </a:extLst>
          </p:cNvPr>
          <p:cNvSpPr/>
          <p:nvPr/>
        </p:nvSpPr>
        <p:spPr>
          <a:xfrm>
            <a:off x="6284323" y="3666744"/>
            <a:ext cx="256032" cy="256032"/>
          </a:xfrm>
          <a:prstGeom prst="ellipse">
            <a:avLst/>
          </a:prstGeom>
          <a:solidFill>
            <a:srgbClr val="1A2F5A"/>
          </a:solidFill>
          <a:ln/>
        </p:spPr>
        <p:txBody>
          <a:bodyPr/>
          <a:lstStyle/>
          <a:p>
            <a:endParaRPr lang="es-MX" dirty="0"/>
          </a:p>
        </p:txBody>
      </p:sp>
      <p:sp>
        <p:nvSpPr>
          <p:cNvPr id="36" name="Text 23">
            <a:extLst>
              <a:ext uri="{FF2B5EF4-FFF2-40B4-BE49-F238E27FC236}">
                <a16:creationId xmlns:a16="http://schemas.microsoft.com/office/drawing/2014/main" id="{F919A889-F18E-BD45-92B0-895277CF1302}"/>
              </a:ext>
            </a:extLst>
          </p:cNvPr>
          <p:cNvSpPr/>
          <p:nvPr/>
        </p:nvSpPr>
        <p:spPr>
          <a:xfrm>
            <a:off x="6291072" y="3671223"/>
            <a:ext cx="256032" cy="256032"/>
          </a:xfrm>
          <a:prstGeom prst="rect">
            <a:avLst/>
          </a:prstGeom>
          <a:noFill/>
          <a:ln/>
        </p:spPr>
        <p:txBody>
          <a:bodyPr wrap="square" lIns="0" tIns="0" rIns="0" bIns="0" rtlCol="0" anchor="ctr"/>
          <a:lstStyle/>
          <a:p>
            <a:pPr algn="ctr"/>
            <a:r>
              <a:rPr lang="en-US" sz="1100" b="1" dirty="0">
                <a:solidFill>
                  <a:srgbClr val="FFFFFF"/>
                </a:solidFill>
                <a:latin typeface="Calibri" pitchFamily="34" charset="0"/>
                <a:cs typeface="Calibri" pitchFamily="34" charset="-120"/>
              </a:rPr>
              <a:t>5</a:t>
            </a:r>
            <a:endParaRPr lang="en-US" sz="1100" dirty="0"/>
          </a:p>
        </p:txBody>
      </p:sp>
      <p:sp>
        <p:nvSpPr>
          <p:cNvPr id="37" name="Text 24">
            <a:extLst>
              <a:ext uri="{FF2B5EF4-FFF2-40B4-BE49-F238E27FC236}">
                <a16:creationId xmlns:a16="http://schemas.microsoft.com/office/drawing/2014/main" id="{464307D1-CF57-B443-9405-35F69E471B93}"/>
              </a:ext>
            </a:extLst>
          </p:cNvPr>
          <p:cNvSpPr/>
          <p:nvPr/>
        </p:nvSpPr>
        <p:spPr>
          <a:xfrm>
            <a:off x="6631858" y="3670383"/>
            <a:ext cx="2146382" cy="274320"/>
          </a:xfrm>
          <a:prstGeom prst="rect">
            <a:avLst/>
          </a:prstGeom>
          <a:noFill/>
          <a:ln/>
        </p:spPr>
        <p:txBody>
          <a:bodyPr wrap="square" lIns="0" tIns="0" rIns="0" bIns="0" rtlCol="0" anchor="ctr"/>
          <a:lstStyle/>
          <a:p>
            <a:pPr marL="0" indent="0">
              <a:buNone/>
            </a:pPr>
            <a:r>
              <a:rPr lang="en-US" sz="1150" b="1" dirty="0">
                <a:latin typeface="Calibri" panose="020F0502020204030204" pitchFamily="34" charset="0"/>
                <a:cs typeface="Calibri" panose="020F0502020204030204" pitchFamily="34" charset="0"/>
              </a:rPr>
              <a:t>La electricidad: </a:t>
            </a:r>
            <a:r>
              <a:rPr lang="en-US" sz="1150" b="1" dirty="0" err="1">
                <a:latin typeface="Calibri" panose="020F0502020204030204" pitchFamily="34" charset="0"/>
                <a:cs typeface="Calibri" panose="020F0502020204030204" pitchFamily="34" charset="0"/>
              </a:rPr>
              <a:t>opcional</a:t>
            </a:r>
            <a:r>
              <a:rPr lang="en-US" sz="1150" b="1" dirty="0">
                <a:latin typeface="Calibri" panose="020F0502020204030204" pitchFamily="34" charset="0"/>
                <a:cs typeface="Calibri" panose="020F0502020204030204" pitchFamily="34" charset="0"/>
              </a:rPr>
              <a:t> por </a:t>
            </a:r>
            <a:r>
              <a:rPr lang="en-US" sz="1150" b="1" dirty="0" err="1">
                <a:latin typeface="Calibri" panose="020F0502020204030204" pitchFamily="34" charset="0"/>
                <a:cs typeface="Calibri" panose="020F0502020204030204" pitchFamily="34" charset="0"/>
              </a:rPr>
              <a:t>ahora</a:t>
            </a:r>
            <a:r>
              <a:rPr lang="en-US" sz="1150" b="1" dirty="0">
                <a:latin typeface="Calibri" panose="020F0502020204030204" pitchFamily="34" charset="0"/>
                <a:cs typeface="Calibri" panose="020F0502020204030204" pitchFamily="34" charset="0"/>
              </a:rPr>
              <a:t/>
            </a:r>
            <a:r>
              <a:rPr lang="en-US" sz="1150" b="1" dirty="0" err="1">
                <a:latin typeface="Calibri" panose="020F0502020204030204" pitchFamily="34" charset="0"/>
                <a:cs typeface="Calibri" panose="020F0502020204030204" pitchFamily="34" charset="0"/>
              </a:rPr>
              <a:t/>
            </a:r>
            <a:endParaRPr lang="en-US" sz="1150" b="1" dirty="0">
              <a:latin typeface="Calibri" panose="020F0502020204030204" pitchFamily="34" charset="0"/>
              <a:cs typeface="Calibri" panose="020F0502020204030204" pitchFamily="34" charset="0"/>
            </a:endParaRPr>
          </a:p>
        </p:txBody>
      </p:sp>
      <p:sp>
        <p:nvSpPr>
          <p:cNvPr id="38" name="Text 25">
            <a:extLst>
              <a:ext uri="{FF2B5EF4-FFF2-40B4-BE49-F238E27FC236}">
                <a16:creationId xmlns:a16="http://schemas.microsoft.com/office/drawing/2014/main" id="{C53B1088-59B3-7E4F-B96C-4A3BA003BF57}"/>
              </a:ext>
            </a:extLst>
          </p:cNvPr>
          <p:cNvSpPr/>
          <p:nvPr/>
        </p:nvSpPr>
        <p:spPr>
          <a:xfrm>
            <a:off x="6348796" y="4117552"/>
            <a:ext cx="2447794" cy="256032"/>
          </a:xfrm>
          <a:prstGeom prst="rect">
            <a:avLst/>
          </a:prstGeom>
          <a:noFill/>
          <a:ln/>
        </p:spPr>
        <p:txBody>
          <a:bodyPr wrap="square" lIns="0" tIns="0" rIns="0" bIns="0" rtlCol="0" anchor="t"/>
          <a:lstStyle/>
          <a:p>
            <a:pPr marL="0" indent="0">
              <a:buNone/>
            </a:pPr>
            <a:r>
              <a:rPr lang="en-US" sz="900" dirty="0"/>
              <a:t>Las </a:t>
            </a:r>
            <a:r>
              <a:rPr lang="en-US" sz="900" dirty="0" err="1"/>
              <a:t>preguntas</a:t>
            </a:r>
            <a:r>
              <a:rPr lang="en-US" sz="900" dirty="0"/>
              <a:t> teóricas del anexo N son obligatorias; el cálculo del índice por tarifas, zonas y regiones queda opcional en esta entrega.</a:t>
            </a:r>
            <a:r>
              <a:rPr lang="en-US" sz="900" dirty="0" err="1"/>
              <a:t/>
            </a:r>
            <a:r>
              <a:rPr lang="en-US" sz="900" dirty="0"/>
              <a:t/>
            </a:r>
            <a:r>
              <a:rPr lang="en-US" sz="900" dirty="0" err="1"/>
              <a:t/>
            </a:r>
            <a:r>
              <a:rPr lang="en-US" sz="900" dirty="0"/>
              <a:t/>
            </a:r>
            <a:r>
              <a:rPr lang="en-US" sz="900" dirty="0" err="1"/>
              <a:t/>
            </a:r>
            <a:r>
              <a:rPr lang="en-US" sz="900" dirty="0"/>
              <a:t/>
            </a:r>
            <a:r>
              <a:rPr lang="en-US" sz="900" dirty="0" err="1"/>
              <a:t/>
            </a:r>
            <a:r>
              <a:rPr lang="en-US" sz="900" dirty="0"/>
              <a:t/>
            </a:r>
            <a:r>
              <a:rPr lang="en-US" sz="900" dirty="0" err="1"/>
              <a:t/>
            </a:r>
            <a:r>
              <a:rPr lang="en-US" sz="900" dirty="0"/>
              <a:t/>
            </a:r>
            <a:r>
              <a:rPr lang="en-US" sz="900" dirty="0" err="1"/>
              <a:t/>
            </a:r>
            <a:r>
              <a:rPr lang="en-US" sz="900" dirty="0"/>
              <a:t/>
            </a:r>
            <a:r>
              <a:rPr lang="en-US" sz="900" dirty="0" err="1"/>
              <a:t/>
            </a:r>
            <a:r>
              <a:rPr lang="en-US" sz="900" dirty="0"/>
              <a:t/>
            </a:r>
            <a:r>
              <a:rPr lang="en-US" sz="900" dirty="0" err="1"/>
              <a:t/>
            </a:r>
            <a:r>
              <a:rPr lang="en-US" sz="900" dirty="0"/>
              <a:t/>
            </a:r>
            <a:r>
              <a:rPr lang="en-US" sz="900" dirty="0" err="1"/>
              <a:t/>
            </a:r>
            <a:r>
              <a:rPr lang="en-US" sz="900" dirty="0"/>
              <a:t/>
            </a:r>
            <a:r>
              <a:rPr lang="en-US" sz="900" dirty="0" err="1"/>
              <a:t/>
            </a:r>
            <a:r>
              <a:rPr lang="en-US" sz="900" dirty="0"/>
              <a:t/>
            </a:r>
            <a:r>
              <a:rPr lang="en-US" sz="900" dirty="0" err="1"/>
              <a:t/>
            </a:r>
            <a:r>
              <a:rPr lang="en-US" sz="900" dirty="0"/>
              <a:t/>
            </a:r>
            <a:r>
              <a:rPr lang="en-US" sz="900" dirty="0" err="1"/>
              <a:t/>
            </a:r>
            <a:r>
              <a:rPr lang="en-US" sz="900" dirty="0"/>
              <a:t/>
            </a:r>
            <a:r>
              <a:rPr lang="en-US" sz="900" dirty="0" err="1"/>
              <a:t/>
            </a:r>
            <a:r>
              <a:rPr lang="en-US" sz="900" dirty="0"/>
              <a:t/>
            </a:r>
            <a:r>
              <a:rPr lang="en-US" sz="900" dirty="0" err="1"/>
              <a:t/>
            </a:r>
            <a:r>
              <a:rPr lang="en-US" sz="900" dirty="0"/>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Referencias</a:t>
            </a:r>
            <a:endParaRPr lang="en-US" sz="2200" dirty="0"/>
          </a:p>
        </p:txBody>
      </p:sp>
      <p:sp>
        <p:nvSpPr>
          <p:cNvPr id="4" name="Shape 2"/>
          <p:cNvSpPr/>
          <p:nvPr/>
        </p:nvSpPr>
        <p:spPr>
          <a:xfrm>
            <a:off x="292608" y="932688"/>
            <a:ext cx="8558784" cy="1920240"/>
          </a:xfrm>
          <a:prstGeom prst="roundRect">
            <a:avLst>
              <a:gd name="adj" fmla="val 5714"/>
            </a:avLst>
          </a:prstGeom>
          <a:solidFill>
            <a:srgbClr val="EEF2FF"/>
          </a:solidFill>
          <a:ln/>
          <a:effectLst>
            <a:outerShdw blurRad="50800" dist="25400" dir="2700000" algn="bl" rotWithShape="0">
              <a:srgbClr val="000000">
                <a:alpha val="10000"/>
              </a:srgbClr>
            </a:outerShdw>
          </a:effectLst>
        </p:spPr>
      </p:sp>
      <p:sp>
        <p:nvSpPr>
          <p:cNvPr id="5" name="Text 3"/>
          <p:cNvSpPr/>
          <p:nvPr/>
        </p:nvSpPr>
        <p:spPr>
          <a:xfrm>
            <a:off x="438912" y="987552"/>
            <a:ext cx="8229600" cy="256032"/>
          </a:xfrm>
          <a:prstGeom prst="rect">
            <a:avLst/>
          </a:prstGeom>
          <a:noFill/>
          <a:ln/>
        </p:spPr>
        <p:txBody>
          <a:bodyPr wrap="square" rtlCol="0" anchor="ctr"/>
          <a:lstStyle/>
          <a:p>
            <a:pPr marL="0" indent="0">
              <a:buNone/>
            </a:pPr>
            <a:r>
              <a:rPr lang="en-US" sz="1100" b="1" dirty="0">
                <a:solidFill>
                  <a:srgbClr val="1A2F5A"/>
                </a:solidFill>
                <a:latin typeface="Cambria" pitchFamily="34" charset="0"/>
                <a:ea typeface="Cambria" pitchFamily="34" charset="-122"/>
                <a:cs typeface="Cambria" pitchFamily="34" charset="-120"/>
              </a:rPr>
              <a:t>Documentos metodológicos y oficiales</a:t>
            </a:r>
            <a:endParaRPr lang="en-US" sz="1100" dirty="0"/>
          </a:p>
        </p:txBody>
      </p:sp>
      <p:sp>
        <p:nvSpPr>
          <p:cNvPr id="6" name="Text 4"/>
          <p:cNvSpPr/>
          <p:nvPr/>
        </p:nvSpPr>
        <p:spPr>
          <a:xfrm>
            <a:off x="475488" y="1280160"/>
            <a:ext cx="8183880" cy="393192"/>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INEGI (2024). Índice Nacional de Precios al Consumidor 2024. Documento metodológico. Base segunda quincena de julio de 2018. Instituto Nacional de Estadística y Geografía.</a:t>
            </a:r>
            <a:endParaRPr lang="en-US" sz="900" dirty="0"/>
          </a:p>
        </p:txBody>
      </p:sp>
      <p:sp>
        <p:nvSpPr>
          <p:cNvPr id="7" name="Text 5"/>
          <p:cNvSpPr/>
          <p:nvPr/>
        </p:nvSpPr>
        <p:spPr>
          <a:xfrm>
            <a:off x="475488" y="1673352"/>
            <a:ext cx="8183880" cy="393192"/>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Cámara de Diputados (2021). Código Fiscal de la Federación. Última Reforma DOF 12-11-2021. Art. 20-Bis.</a:t>
            </a:r>
            <a:endParaRPr lang="en-US" sz="900" dirty="0"/>
          </a:p>
        </p:txBody>
      </p:sp>
      <p:sp>
        <p:nvSpPr>
          <p:cNvPr id="8" name="Text 6"/>
          <p:cNvSpPr/>
          <p:nvPr/>
        </p:nvSpPr>
        <p:spPr>
          <a:xfrm>
            <a:off x="475488" y="2066544"/>
            <a:ext cx="8183880" cy="393192"/>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Cámara de Diputados (2023). Ley del Sistema Nacional de Información Estadística y Geográfica (LSNIEG). Última reforma DOF 01-12-2023.</a:t>
            </a:r>
            <a:endParaRPr lang="en-US" sz="900" dirty="0"/>
          </a:p>
        </p:txBody>
      </p:sp>
      <p:sp>
        <p:nvSpPr>
          <p:cNvPr id="9" name="Text 7"/>
          <p:cNvSpPr/>
          <p:nvPr/>
        </p:nvSpPr>
        <p:spPr>
          <a:xfrm>
            <a:off x="475488" y="2459736"/>
            <a:ext cx="8183880" cy="393192"/>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Banxico Educa. Banco de México. https://www.banxico.org.mx/banco-de-mexico/banxico-educa.html</a:t>
            </a:r>
            <a:endParaRPr lang="en-US" sz="900" dirty="0"/>
          </a:p>
        </p:txBody>
      </p:sp>
      <p:sp>
        <p:nvSpPr>
          <p:cNvPr id="10" name="Shape 8"/>
          <p:cNvSpPr/>
          <p:nvPr/>
        </p:nvSpPr>
        <p:spPr>
          <a:xfrm>
            <a:off x="292608" y="2962656"/>
            <a:ext cx="8558784" cy="658368"/>
          </a:xfrm>
          <a:prstGeom prst="roundRect">
            <a:avLst>
              <a:gd name="adj" fmla="val 16667"/>
            </a:avLst>
          </a:prstGeom>
          <a:solidFill>
            <a:srgbClr val="E0F7F5"/>
          </a:solidFill>
          <a:ln/>
          <a:effectLst>
            <a:outerShdw blurRad="50800" dist="25400" dir="2700000" algn="bl" rotWithShape="0">
              <a:srgbClr val="000000">
                <a:alpha val="10000"/>
              </a:srgbClr>
            </a:outerShdw>
          </a:effectLst>
        </p:spPr>
      </p:sp>
      <p:sp>
        <p:nvSpPr>
          <p:cNvPr id="11" name="Text 9"/>
          <p:cNvSpPr/>
          <p:nvPr/>
        </p:nvSpPr>
        <p:spPr>
          <a:xfrm>
            <a:off x="438912" y="3017520"/>
            <a:ext cx="8229600" cy="256032"/>
          </a:xfrm>
          <a:prstGeom prst="rect">
            <a:avLst/>
          </a:prstGeom>
          <a:noFill/>
          <a:ln/>
        </p:spPr>
        <p:txBody>
          <a:bodyPr wrap="square" rtlCol="0" anchor="ctr"/>
          <a:lstStyle/>
          <a:p>
            <a:pPr marL="0" indent="0">
              <a:buNone/>
            </a:pPr>
            <a:r>
              <a:rPr lang="en-US" sz="1100" b="1" dirty="0">
                <a:solidFill>
                  <a:srgbClr val="0B7A75"/>
                </a:solidFill>
                <a:latin typeface="Cambria" pitchFamily="34" charset="0"/>
                <a:ea typeface="Cambria" pitchFamily="34" charset="-122"/>
                <a:cs typeface="Cambria" pitchFamily="34" charset="-120"/>
              </a:rPr>
              <a:t>Manual internacional</a:t>
            </a:r>
            <a:endParaRPr lang="en-US" sz="1100" dirty="0"/>
          </a:p>
        </p:txBody>
      </p:sp>
      <p:sp>
        <p:nvSpPr>
          <p:cNvPr id="12" name="Text 10"/>
          <p:cNvSpPr/>
          <p:nvPr/>
        </p:nvSpPr>
        <p:spPr>
          <a:xfrm>
            <a:off x="475488" y="3310128"/>
            <a:ext cx="8183880" cy="310896"/>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IMF, ILO, Eurostat, UNECE, OECD, World Bank (2020). Consumer Price Index Manual: Concepts and Methods. Washington: IMF. ISBN 978-1-51354-298-0.</a:t>
            </a:r>
            <a:endParaRPr lang="en-US" sz="900" dirty="0"/>
          </a:p>
        </p:txBody>
      </p:sp>
      <p:sp>
        <p:nvSpPr>
          <p:cNvPr id="13" name="Shape 11"/>
          <p:cNvSpPr/>
          <p:nvPr/>
        </p:nvSpPr>
        <p:spPr>
          <a:xfrm>
            <a:off x="292608" y="3730752"/>
            <a:ext cx="8558784" cy="658368"/>
          </a:xfrm>
          <a:prstGeom prst="roundRect">
            <a:avLst>
              <a:gd name="adj" fmla="val 16667"/>
            </a:avLst>
          </a:prstGeom>
          <a:solidFill>
            <a:srgbClr val="FFF1F2"/>
          </a:solidFill>
          <a:ln/>
          <a:effectLst>
            <a:outerShdw blurRad="50800" dist="25400" dir="2700000" algn="bl" rotWithShape="0">
              <a:srgbClr val="000000">
                <a:alpha val="10000"/>
              </a:srgbClr>
            </a:outerShdw>
          </a:effectLst>
        </p:spPr>
      </p:sp>
      <p:sp>
        <p:nvSpPr>
          <p:cNvPr id="14" name="Text 12"/>
          <p:cNvSpPr/>
          <p:nvPr/>
        </p:nvSpPr>
        <p:spPr>
          <a:xfrm>
            <a:off x="438912" y="3785616"/>
            <a:ext cx="8229600" cy="256032"/>
          </a:xfrm>
          <a:prstGeom prst="rect">
            <a:avLst/>
          </a:prstGeom>
          <a:noFill/>
          <a:ln/>
        </p:spPr>
        <p:txBody>
          <a:bodyPr wrap="square" rtlCol="0" anchor="ctr"/>
          <a:lstStyle/>
          <a:p>
            <a:pPr marL="0" indent="0">
              <a:buNone/>
            </a:pPr>
            <a:r>
              <a:rPr lang="en-US" sz="1100" b="1" dirty="0">
                <a:solidFill>
                  <a:srgbClr val="E11D48"/>
                </a:solidFill>
                <a:latin typeface="Cambria" pitchFamily="34" charset="0"/>
                <a:ea typeface="Cambria" pitchFamily="34" charset="-122"/>
                <a:cs typeface="Cambria" pitchFamily="34" charset="-120"/>
              </a:rPr>
              <a:t>Paper Banco de México</a:t>
            </a:r>
            <a:endParaRPr lang="en-US" sz="1100" dirty="0"/>
          </a:p>
        </p:txBody>
      </p:sp>
      <p:sp>
        <p:nvSpPr>
          <p:cNvPr id="15" name="Text 13"/>
          <p:cNvSpPr/>
          <p:nvPr/>
        </p:nvSpPr>
        <p:spPr>
          <a:xfrm>
            <a:off x="475488" y="4078224"/>
            <a:ext cx="8183880" cy="310896"/>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Mateos, C. y Gaytán, A. (1998). Medidas alternativas de inflación. Documento de Investigación No. 9802. Dirección General de Investigación Económica, Banco de México.</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Referencias — Literatura Académica Citada</a:t>
            </a:r>
            <a:endParaRPr lang="en-US" sz="2200" dirty="0"/>
          </a:p>
        </p:txBody>
      </p:sp>
      <p:sp>
        <p:nvSpPr>
          <p:cNvPr id="4" name="Shape 2"/>
          <p:cNvSpPr/>
          <p:nvPr/>
        </p:nvSpPr>
        <p:spPr>
          <a:xfrm>
            <a:off x="292608" y="932688"/>
            <a:ext cx="8558784" cy="429768"/>
          </a:xfrm>
          <a:prstGeom prst="roundRect">
            <a:avLst>
              <a:gd name="adj" fmla="val 25532"/>
            </a:avLst>
          </a:prstGeom>
          <a:solidFill>
            <a:srgbClr val="F5F3FF"/>
          </a:solidFill>
          <a:ln/>
        </p:spPr>
      </p:sp>
      <p:sp>
        <p:nvSpPr>
          <p:cNvPr id="5" name="Text 3"/>
          <p:cNvSpPr/>
          <p:nvPr/>
        </p:nvSpPr>
        <p:spPr>
          <a:xfrm>
            <a:off x="438912" y="978408"/>
            <a:ext cx="8275320" cy="347472"/>
          </a:xfrm>
          <a:prstGeom prst="rect">
            <a:avLst/>
          </a:prstGeom>
          <a:noFill/>
          <a:ln/>
        </p:spPr>
        <p:txBody>
          <a:bodyPr wrap="square" rtlCol="0" anchor="ctr"/>
          <a:lstStyle/>
          <a:p>
            <a:pPr marL="0" indent="0">
              <a:buNone/>
            </a:pPr>
            <a:r>
              <a:rPr lang="en-US" sz="950" b="1" dirty="0">
                <a:solidFill>
                  <a:srgbClr val="7C3AED"/>
                </a:solidFill>
                <a:latin typeface="Calibri" pitchFamily="34" charset="0"/>
                <a:ea typeface="Calibri" pitchFamily="34" charset="-122"/>
                <a:cs typeface="Calibri" pitchFamily="34" charset="-120"/>
              </a:rPr>
              <a:t>Bryan, M. F. y Cecchetti, S. G. (1993). </a:t>
            </a:r>
            <a:r>
              <a:rPr lang="en-US" sz="950" i="1" dirty="0">
                <a:solidFill>
                  <a:srgbClr val="1E293B"/>
                </a:solidFill>
                <a:latin typeface="Calibri" pitchFamily="34" charset="0"/>
                <a:ea typeface="Calibri" pitchFamily="34" charset="-122"/>
                <a:cs typeface="Calibri" pitchFamily="34" charset="-120"/>
              </a:rPr>
              <a:t>Measuring Core Inflation. </a:t>
            </a:r>
            <a:r>
              <a:rPr lang="en-US" sz="950" dirty="0">
                <a:solidFill>
                  <a:srgbClr val="64748B"/>
                </a:solidFill>
                <a:latin typeface="Calibri" pitchFamily="34" charset="0"/>
                <a:ea typeface="Calibri" pitchFamily="34" charset="-122"/>
                <a:cs typeface="Calibri" pitchFamily="34" charset="-120"/>
              </a:rPr>
              <a:t>NBER Working Paper No. 4303. National Bureau of Economic Research.</a:t>
            </a:r>
            <a:endParaRPr lang="en-US" sz="950" dirty="0"/>
          </a:p>
        </p:txBody>
      </p:sp>
      <p:sp>
        <p:nvSpPr>
          <p:cNvPr id="6" name="Shape 4"/>
          <p:cNvSpPr/>
          <p:nvPr/>
        </p:nvSpPr>
        <p:spPr>
          <a:xfrm>
            <a:off x="292608" y="1408176"/>
            <a:ext cx="8558784" cy="429768"/>
          </a:xfrm>
          <a:prstGeom prst="roundRect">
            <a:avLst>
              <a:gd name="adj" fmla="val 25532"/>
            </a:avLst>
          </a:prstGeom>
          <a:solidFill>
            <a:srgbClr val="F5F3FF"/>
          </a:solidFill>
          <a:ln/>
        </p:spPr>
      </p:sp>
      <p:sp>
        <p:nvSpPr>
          <p:cNvPr id="7" name="Text 5"/>
          <p:cNvSpPr/>
          <p:nvPr/>
        </p:nvSpPr>
        <p:spPr>
          <a:xfrm>
            <a:off x="438912" y="1453896"/>
            <a:ext cx="8275320" cy="347472"/>
          </a:xfrm>
          <a:prstGeom prst="rect">
            <a:avLst/>
          </a:prstGeom>
          <a:noFill/>
          <a:ln/>
        </p:spPr>
        <p:txBody>
          <a:bodyPr wrap="square" rtlCol="0" anchor="ctr"/>
          <a:lstStyle/>
          <a:p>
            <a:pPr marL="0" indent="0">
              <a:buNone/>
            </a:pPr>
            <a:r>
              <a:rPr lang="en-US" sz="950" b="1" dirty="0">
                <a:solidFill>
                  <a:srgbClr val="7C3AED"/>
                </a:solidFill>
                <a:latin typeface="Calibri" pitchFamily="34" charset="0"/>
                <a:ea typeface="Calibri" pitchFamily="34" charset="-122"/>
                <a:cs typeface="Calibri" pitchFamily="34" charset="-120"/>
              </a:rPr>
              <a:t>Bryan, M. F., Cecchetti, S. G. y Wiggins, R. L. (1997). </a:t>
            </a:r>
            <a:r>
              <a:rPr lang="en-US" sz="950" i="1" dirty="0">
                <a:solidFill>
                  <a:srgbClr val="1E293B"/>
                </a:solidFill>
                <a:latin typeface="Calibri" pitchFamily="34" charset="0"/>
                <a:ea typeface="Calibri" pitchFamily="34" charset="-122"/>
                <a:cs typeface="Calibri" pitchFamily="34" charset="-120"/>
              </a:rPr>
              <a:t>Efficient Inflation Estimation. </a:t>
            </a:r>
            <a:r>
              <a:rPr lang="en-US" sz="950" dirty="0">
                <a:solidFill>
                  <a:srgbClr val="64748B"/>
                </a:solidFill>
                <a:latin typeface="Calibri" pitchFamily="34" charset="0"/>
                <a:ea typeface="Calibri" pitchFamily="34" charset="-122"/>
                <a:cs typeface="Calibri" pitchFamily="34" charset="-120"/>
              </a:rPr>
              <a:t>NBER Working Paper No. 6183. National Bureau of Economic Research.</a:t>
            </a:r>
            <a:endParaRPr lang="en-US" sz="950" dirty="0"/>
          </a:p>
        </p:txBody>
      </p:sp>
      <p:sp>
        <p:nvSpPr>
          <p:cNvPr id="8" name="Shape 6"/>
          <p:cNvSpPr/>
          <p:nvPr/>
        </p:nvSpPr>
        <p:spPr>
          <a:xfrm>
            <a:off x="292608" y="1883664"/>
            <a:ext cx="8558784" cy="429768"/>
          </a:xfrm>
          <a:prstGeom prst="roundRect">
            <a:avLst>
              <a:gd name="adj" fmla="val 25532"/>
            </a:avLst>
          </a:prstGeom>
          <a:solidFill>
            <a:srgbClr val="E0F7F5"/>
          </a:solidFill>
          <a:ln/>
        </p:spPr>
      </p:sp>
      <p:sp>
        <p:nvSpPr>
          <p:cNvPr id="9" name="Text 7"/>
          <p:cNvSpPr/>
          <p:nvPr/>
        </p:nvSpPr>
        <p:spPr>
          <a:xfrm>
            <a:off x="438912" y="1929384"/>
            <a:ext cx="8275320" cy="347472"/>
          </a:xfrm>
          <a:prstGeom prst="rect">
            <a:avLst/>
          </a:prstGeom>
          <a:noFill/>
          <a:ln/>
        </p:spPr>
        <p:txBody>
          <a:bodyPr wrap="square" rtlCol="0" anchor="ctr"/>
          <a:lstStyle/>
          <a:p>
            <a:pPr marL="0" indent="0">
              <a:buNone/>
            </a:pPr>
            <a:r>
              <a:rPr lang="en-US" sz="950" b="1" dirty="0">
                <a:solidFill>
                  <a:srgbClr val="0B7A75"/>
                </a:solidFill>
                <a:latin typeface="Calibri" pitchFamily="34" charset="0"/>
                <a:ea typeface="Calibri" pitchFamily="34" charset="-122"/>
                <a:cs typeface="Calibri" pitchFamily="34" charset="-120"/>
              </a:rPr>
              <a:t>Quah, D. y Vahey, S. P. (1995). </a:t>
            </a:r>
            <a:r>
              <a:rPr lang="en-US" sz="950" i="1" dirty="0">
                <a:solidFill>
                  <a:srgbClr val="1E293B"/>
                </a:solidFill>
                <a:latin typeface="Calibri" pitchFamily="34" charset="0"/>
                <a:ea typeface="Calibri" pitchFamily="34" charset="-122"/>
                <a:cs typeface="Calibri" pitchFamily="34" charset="-120"/>
              </a:rPr>
              <a:t>Measuring Core Inflation. </a:t>
            </a:r>
            <a:r>
              <a:rPr lang="en-US" sz="950" dirty="0">
                <a:solidFill>
                  <a:srgbClr val="64748B"/>
                </a:solidFill>
                <a:latin typeface="Calibri" pitchFamily="34" charset="0"/>
                <a:ea typeface="Calibri" pitchFamily="34" charset="-122"/>
                <a:cs typeface="Calibri" pitchFamily="34" charset="-120"/>
              </a:rPr>
              <a:t>The Economic Journal, 105(432), 1130–1143.</a:t>
            </a:r>
            <a:endParaRPr lang="en-US" sz="950" dirty="0"/>
          </a:p>
        </p:txBody>
      </p:sp>
      <p:sp>
        <p:nvSpPr>
          <p:cNvPr id="10" name="Shape 8"/>
          <p:cNvSpPr/>
          <p:nvPr/>
        </p:nvSpPr>
        <p:spPr>
          <a:xfrm>
            <a:off x="292608" y="2359152"/>
            <a:ext cx="8558784" cy="429768"/>
          </a:xfrm>
          <a:prstGeom prst="roundRect">
            <a:avLst>
              <a:gd name="adj" fmla="val 25532"/>
            </a:avLst>
          </a:prstGeom>
          <a:solidFill>
            <a:srgbClr val="E0F7F5"/>
          </a:solidFill>
          <a:ln/>
        </p:spPr>
      </p:sp>
      <p:sp>
        <p:nvSpPr>
          <p:cNvPr id="11" name="Text 9"/>
          <p:cNvSpPr/>
          <p:nvPr/>
        </p:nvSpPr>
        <p:spPr>
          <a:xfrm>
            <a:off x="438912" y="2404872"/>
            <a:ext cx="8275320" cy="347472"/>
          </a:xfrm>
          <a:prstGeom prst="rect">
            <a:avLst/>
          </a:prstGeom>
          <a:noFill/>
          <a:ln/>
        </p:spPr>
        <p:txBody>
          <a:bodyPr wrap="square" rtlCol="0" anchor="ctr"/>
          <a:lstStyle/>
          <a:p>
            <a:pPr marL="0" indent="0">
              <a:buNone/>
            </a:pPr>
            <a:r>
              <a:rPr lang="en-US" sz="950" b="1" dirty="0">
                <a:solidFill>
                  <a:srgbClr val="0B7A75"/>
                </a:solidFill>
                <a:latin typeface="Calibri" pitchFamily="34" charset="0"/>
                <a:ea typeface="Calibri" pitchFamily="34" charset="-122"/>
                <a:cs typeface="Calibri" pitchFamily="34" charset="-120"/>
              </a:rPr>
              <a:t>Álvarez, L. J. y Sebastián, M. (1995). </a:t>
            </a:r>
            <a:r>
              <a:rPr lang="en-US" sz="950" i="1" dirty="0">
                <a:solidFill>
                  <a:srgbClr val="1E293B"/>
                </a:solidFill>
                <a:latin typeface="Calibri" pitchFamily="34" charset="0"/>
                <a:ea typeface="Calibri" pitchFamily="34" charset="-122"/>
                <a:cs typeface="Calibri" pitchFamily="34" charset="-120"/>
              </a:rPr>
              <a:t>La Inflación Latente en España: Una perspectiva Macroeconómica. </a:t>
            </a:r>
            <a:r>
              <a:rPr lang="en-US" sz="950" dirty="0">
                <a:solidFill>
                  <a:srgbClr val="64748B"/>
                </a:solidFill>
                <a:latin typeface="Calibri" pitchFamily="34" charset="0"/>
                <a:ea typeface="Calibri" pitchFamily="34" charset="-122"/>
                <a:cs typeface="Calibri" pitchFamily="34" charset="-120"/>
              </a:rPr>
              <a:t>Documento de Trabajo 9521. Servicio de Estudios, Banco de España.</a:t>
            </a:r>
            <a:endParaRPr lang="en-US" sz="950" dirty="0"/>
          </a:p>
        </p:txBody>
      </p:sp>
      <p:sp>
        <p:nvSpPr>
          <p:cNvPr id="12" name="Shape 10"/>
          <p:cNvSpPr/>
          <p:nvPr/>
        </p:nvSpPr>
        <p:spPr>
          <a:xfrm>
            <a:off x="292608" y="2834640"/>
            <a:ext cx="8558784" cy="429768"/>
          </a:xfrm>
          <a:prstGeom prst="roundRect">
            <a:avLst>
              <a:gd name="adj" fmla="val 25532"/>
            </a:avLst>
          </a:prstGeom>
          <a:solidFill>
            <a:srgbClr val="EEF2FF"/>
          </a:solidFill>
          <a:ln/>
        </p:spPr>
      </p:sp>
      <p:sp>
        <p:nvSpPr>
          <p:cNvPr id="13" name="Text 11"/>
          <p:cNvSpPr/>
          <p:nvPr/>
        </p:nvSpPr>
        <p:spPr>
          <a:xfrm>
            <a:off x="438912" y="2880360"/>
            <a:ext cx="8275320" cy="347472"/>
          </a:xfrm>
          <a:prstGeom prst="rect">
            <a:avLst/>
          </a:prstGeom>
          <a:noFill/>
          <a:ln/>
        </p:spPr>
        <p:txBody>
          <a:bodyPr wrap="square" rtlCol="0" anchor="ctr"/>
          <a:lstStyle/>
          <a:p>
            <a:pPr marL="0" indent="0">
              <a:buNone/>
            </a:pPr>
            <a:r>
              <a:rPr lang="en-US" sz="950" b="1" dirty="0">
                <a:solidFill>
                  <a:srgbClr val="1A2F5A"/>
                </a:solidFill>
                <a:latin typeface="Calibri" pitchFamily="34" charset="0"/>
                <a:ea typeface="Calibri" pitchFamily="34" charset="-122"/>
                <a:cs typeface="Calibri" pitchFamily="34" charset="-120"/>
              </a:rPr>
              <a:t>Álvarez, L. J. y Matea, M. de los Llanos (1997). </a:t>
            </a:r>
            <a:r>
              <a:rPr lang="en-US" sz="950" i="1" dirty="0">
                <a:solidFill>
                  <a:srgbClr val="1E293B"/>
                </a:solidFill>
                <a:latin typeface="Calibri" pitchFamily="34" charset="0"/>
                <a:ea typeface="Calibri" pitchFamily="34" charset="-122"/>
                <a:cs typeface="Calibri" pitchFamily="34" charset="-120"/>
              </a:rPr>
              <a:t>Medidas del Proceso Inflacionista. </a:t>
            </a:r>
            <a:r>
              <a:rPr lang="en-US" sz="950" dirty="0">
                <a:solidFill>
                  <a:srgbClr val="64748B"/>
                </a:solidFill>
                <a:latin typeface="Calibri" pitchFamily="34" charset="0"/>
                <a:ea typeface="Calibri" pitchFamily="34" charset="-122"/>
                <a:cs typeface="Calibri" pitchFamily="34" charset="-120"/>
              </a:rPr>
              <a:t>En: La Política Monetaria y la Inflación en España. Banco de España, pp. 341-376.</a:t>
            </a:r>
            <a:endParaRPr lang="en-US" sz="950" dirty="0"/>
          </a:p>
        </p:txBody>
      </p:sp>
      <p:sp>
        <p:nvSpPr>
          <p:cNvPr id="14" name="Shape 12"/>
          <p:cNvSpPr/>
          <p:nvPr/>
        </p:nvSpPr>
        <p:spPr>
          <a:xfrm>
            <a:off x="292608" y="3310128"/>
            <a:ext cx="8558784" cy="429768"/>
          </a:xfrm>
          <a:prstGeom prst="roundRect">
            <a:avLst>
              <a:gd name="adj" fmla="val 25532"/>
            </a:avLst>
          </a:prstGeom>
          <a:solidFill>
            <a:srgbClr val="EEF2FF"/>
          </a:solidFill>
          <a:ln/>
        </p:spPr>
      </p:sp>
      <p:sp>
        <p:nvSpPr>
          <p:cNvPr id="15" name="Text 13"/>
          <p:cNvSpPr/>
          <p:nvPr/>
        </p:nvSpPr>
        <p:spPr>
          <a:xfrm>
            <a:off x="438912" y="3355848"/>
            <a:ext cx="8275320" cy="347472"/>
          </a:xfrm>
          <a:prstGeom prst="rect">
            <a:avLst/>
          </a:prstGeom>
          <a:noFill/>
          <a:ln/>
        </p:spPr>
        <p:txBody>
          <a:bodyPr wrap="square" rtlCol="0" anchor="ctr"/>
          <a:lstStyle/>
          <a:p>
            <a:pPr marL="0" indent="0">
              <a:buNone/>
            </a:pPr>
            <a:r>
              <a:rPr lang="en-US" sz="950" b="1" dirty="0">
                <a:solidFill>
                  <a:srgbClr val="1A2F5A"/>
                </a:solidFill>
                <a:latin typeface="Calibri" pitchFamily="34" charset="0"/>
                <a:ea typeface="Calibri" pitchFamily="34" charset="-122"/>
                <a:cs typeface="Calibri" pitchFamily="34" charset="-120"/>
              </a:rPr>
              <a:t>De Gregorio, J. (1992). </a:t>
            </a:r>
            <a:r>
              <a:rPr lang="en-US" sz="950" i="1" dirty="0">
                <a:solidFill>
                  <a:srgbClr val="1E293B"/>
                </a:solidFill>
                <a:latin typeface="Calibri" pitchFamily="34" charset="0"/>
                <a:ea typeface="Calibri" pitchFamily="34" charset="-122"/>
                <a:cs typeface="Calibri" pitchFamily="34" charset="-120"/>
              </a:rPr>
              <a:t>The Effects of Inflation on Economic Growth — Lessons from Latin America. </a:t>
            </a:r>
            <a:r>
              <a:rPr lang="en-US" sz="950" dirty="0">
                <a:solidFill>
                  <a:srgbClr val="64748B"/>
                </a:solidFill>
                <a:latin typeface="Calibri" pitchFamily="34" charset="0"/>
                <a:ea typeface="Calibri" pitchFamily="34" charset="-122"/>
                <a:cs typeface="Calibri" pitchFamily="34" charset="-120"/>
              </a:rPr>
              <a:t>European Economic Review, 36(April), 417-425.</a:t>
            </a:r>
            <a:endParaRPr lang="en-US" sz="950" dirty="0"/>
          </a:p>
        </p:txBody>
      </p:sp>
      <p:sp>
        <p:nvSpPr>
          <p:cNvPr id="16" name="Shape 14"/>
          <p:cNvSpPr/>
          <p:nvPr/>
        </p:nvSpPr>
        <p:spPr>
          <a:xfrm>
            <a:off x="292608" y="3785616"/>
            <a:ext cx="8558784" cy="429768"/>
          </a:xfrm>
          <a:prstGeom prst="roundRect">
            <a:avLst>
              <a:gd name="adj" fmla="val 25532"/>
            </a:avLst>
          </a:prstGeom>
          <a:solidFill>
            <a:srgbClr val="EEF2FF"/>
          </a:solidFill>
          <a:ln/>
        </p:spPr>
      </p:sp>
      <p:sp>
        <p:nvSpPr>
          <p:cNvPr id="17" name="Text 15"/>
          <p:cNvSpPr/>
          <p:nvPr/>
        </p:nvSpPr>
        <p:spPr>
          <a:xfrm>
            <a:off x="438912" y="3831336"/>
            <a:ext cx="8275320" cy="347472"/>
          </a:xfrm>
          <a:prstGeom prst="rect">
            <a:avLst/>
          </a:prstGeom>
          <a:noFill/>
          <a:ln/>
        </p:spPr>
        <p:txBody>
          <a:bodyPr wrap="square" rtlCol="0" anchor="ctr"/>
          <a:lstStyle/>
          <a:p>
            <a:pPr marL="0" indent="0">
              <a:buNone/>
            </a:pPr>
            <a:r>
              <a:rPr lang="en-US" sz="950" b="1" dirty="0">
                <a:solidFill>
                  <a:srgbClr val="1A2F5A"/>
                </a:solidFill>
                <a:latin typeface="Calibri" pitchFamily="34" charset="0"/>
                <a:ea typeface="Calibri" pitchFamily="34" charset="-122"/>
                <a:cs typeface="Calibri" pitchFamily="34" charset="-120"/>
              </a:rPr>
              <a:t>De Gregorio, J. (1993). </a:t>
            </a:r>
            <a:r>
              <a:rPr lang="en-US" sz="950" i="1" dirty="0">
                <a:solidFill>
                  <a:srgbClr val="1E293B"/>
                </a:solidFill>
                <a:latin typeface="Calibri" pitchFamily="34" charset="0"/>
                <a:ea typeface="Calibri" pitchFamily="34" charset="-122"/>
                <a:cs typeface="Calibri" pitchFamily="34" charset="-120"/>
              </a:rPr>
              <a:t>Inflation, Taxation and Long-Run Growth. </a:t>
            </a:r>
            <a:r>
              <a:rPr lang="en-US" sz="950" dirty="0">
                <a:solidFill>
                  <a:srgbClr val="64748B"/>
                </a:solidFill>
                <a:latin typeface="Calibri" pitchFamily="34" charset="0"/>
                <a:ea typeface="Calibri" pitchFamily="34" charset="-122"/>
                <a:cs typeface="Calibri" pitchFamily="34" charset="-120"/>
              </a:rPr>
              <a:t>Journal of Monetary Economics, 31(June), 271-298.</a:t>
            </a:r>
            <a:endParaRPr lang="en-US" sz="950" dirty="0"/>
          </a:p>
        </p:txBody>
      </p:sp>
      <p:sp>
        <p:nvSpPr>
          <p:cNvPr id="18" name="Shape 16"/>
          <p:cNvSpPr/>
          <p:nvPr/>
        </p:nvSpPr>
        <p:spPr>
          <a:xfrm>
            <a:off x="292608" y="4261104"/>
            <a:ext cx="8558784" cy="429768"/>
          </a:xfrm>
          <a:prstGeom prst="roundRect">
            <a:avLst>
              <a:gd name="adj" fmla="val 25532"/>
            </a:avLst>
          </a:prstGeom>
          <a:solidFill>
            <a:srgbClr val="FFFBEB"/>
          </a:solidFill>
          <a:ln/>
        </p:spPr>
      </p:sp>
      <p:sp>
        <p:nvSpPr>
          <p:cNvPr id="19" name="Text 17"/>
          <p:cNvSpPr/>
          <p:nvPr/>
        </p:nvSpPr>
        <p:spPr>
          <a:xfrm>
            <a:off x="438912" y="4306824"/>
            <a:ext cx="8275320" cy="347472"/>
          </a:xfrm>
          <a:prstGeom prst="rect">
            <a:avLst/>
          </a:prstGeom>
          <a:noFill/>
          <a:ln/>
        </p:spPr>
        <p:txBody>
          <a:bodyPr wrap="square"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Fischer, S. (1993). </a:t>
            </a:r>
            <a:r>
              <a:rPr lang="en-US" sz="950" i="1" dirty="0">
                <a:solidFill>
                  <a:srgbClr val="1E293B"/>
                </a:solidFill>
                <a:latin typeface="Calibri" pitchFamily="34" charset="0"/>
                <a:ea typeface="Calibri" pitchFamily="34" charset="-122"/>
                <a:cs typeface="Calibri" pitchFamily="34" charset="-120"/>
              </a:rPr>
              <a:t>The Role of Macroeconomic Factors in Growth. </a:t>
            </a:r>
            <a:r>
              <a:rPr lang="en-US" sz="950" dirty="0">
                <a:solidFill>
                  <a:srgbClr val="64748B"/>
                </a:solidFill>
                <a:latin typeface="Calibri" pitchFamily="34" charset="0"/>
                <a:ea typeface="Calibri" pitchFamily="34" charset="-122"/>
                <a:cs typeface="Calibri" pitchFamily="34" charset="-120"/>
              </a:rPr>
              <a:t>Journal of Monetary Economics, 32(December), 485-512.</a:t>
            </a:r>
            <a:endParaRPr lang="en-US" sz="950" dirty="0"/>
          </a:p>
        </p:txBody>
      </p:sp>
      <p:sp>
        <p:nvSpPr>
          <p:cNvPr id="20" name="Shape 18"/>
          <p:cNvSpPr/>
          <p:nvPr/>
        </p:nvSpPr>
        <p:spPr>
          <a:xfrm>
            <a:off x="292608" y="4736592"/>
            <a:ext cx="8558784" cy="429768"/>
          </a:xfrm>
          <a:prstGeom prst="roundRect">
            <a:avLst>
              <a:gd name="adj" fmla="val 25532"/>
            </a:avLst>
          </a:prstGeom>
          <a:solidFill>
            <a:srgbClr val="FFFBEB"/>
          </a:solidFill>
          <a:ln/>
        </p:spPr>
      </p:sp>
      <p:sp>
        <p:nvSpPr>
          <p:cNvPr id="21" name="Text 19"/>
          <p:cNvSpPr/>
          <p:nvPr/>
        </p:nvSpPr>
        <p:spPr>
          <a:xfrm>
            <a:off x="438912" y="4782312"/>
            <a:ext cx="8275320" cy="347472"/>
          </a:xfrm>
          <a:prstGeom prst="rect">
            <a:avLst/>
          </a:prstGeom>
          <a:noFill/>
          <a:ln/>
        </p:spPr>
        <p:txBody>
          <a:bodyPr wrap="square"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Blanchard, O. J. y Quah, D. (1989). </a:t>
            </a:r>
            <a:r>
              <a:rPr lang="en-US" sz="950" i="1" dirty="0">
                <a:solidFill>
                  <a:srgbClr val="1E293B"/>
                </a:solidFill>
                <a:latin typeface="Calibri" pitchFamily="34" charset="0"/>
                <a:ea typeface="Calibri" pitchFamily="34" charset="-122"/>
                <a:cs typeface="Calibri" pitchFamily="34" charset="-120"/>
              </a:rPr>
              <a:t>The Dynamic Effects of Aggregate Demand and Supply Disturbances. </a:t>
            </a:r>
            <a:r>
              <a:rPr lang="en-US" sz="950" dirty="0">
                <a:solidFill>
                  <a:srgbClr val="64748B"/>
                </a:solidFill>
                <a:latin typeface="Calibri" pitchFamily="34" charset="0"/>
                <a:ea typeface="Calibri" pitchFamily="34" charset="-122"/>
                <a:cs typeface="Calibri" pitchFamily="34" charset="-120"/>
              </a:rPr>
              <a:t>American Economic Review, 79, 655-673.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6264</Words>
  <Application>Microsoft Macintosh PowerPoint</Application>
  <PresentationFormat>Presentación en pantalla (16:9)</PresentationFormat>
  <Paragraphs>640</Paragraphs>
  <Slides>35</Slides>
  <Notes>23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35</vt:i4>
      </vt:variant>
    </vt:vector>
  </HeadingPairs>
  <TitlesOfParts>
    <vt:vector size="39"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Inflación en México – INPC 2024</dc:title>
  <dc:subject>PptxGenJS Presentation</dc:subject>
  <dc:creator>PptxGenJS</dc:creator>
  <cp:lastModifiedBy>Microsoft Office User</cp:lastModifiedBy>
  <cp:revision>12</cp:revision>
  <dcterms:created xsi:type="dcterms:W3CDTF">2026-06-30T23:19:44Z</dcterms:created>
  <dcterms:modified xsi:type="dcterms:W3CDTF">2026-08-10T19:50:27Z</dcterms:modified>
</cp:coreProperties>
</file>